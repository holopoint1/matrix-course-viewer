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342" r:id="rId3"/>
    <p:sldId id="323" r:id="rId4"/>
    <p:sldId id="324" r:id="rId5"/>
    <p:sldId id="326" r:id="rId6"/>
    <p:sldId id="325" r:id="rId7"/>
    <p:sldId id="327" r:id="rId8"/>
    <p:sldId id="328" r:id="rId9"/>
    <p:sldId id="332" r:id="rId10"/>
    <p:sldId id="331" r:id="rId11"/>
    <p:sldId id="330" r:id="rId12"/>
    <p:sldId id="335" r:id="rId13"/>
    <p:sldId id="333" r:id="rId14"/>
    <p:sldId id="329" r:id="rId15"/>
    <p:sldId id="337" r:id="rId16"/>
    <p:sldId id="339" r:id="rId17"/>
    <p:sldId id="340" r:id="rId18"/>
    <p:sldId id="336" r:id="rId19"/>
    <p:sldId id="338" r:id="rId20"/>
    <p:sldId id="334" r:id="rId21"/>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A1953"/>
    <a:srgbClr val="4A20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6247" autoAdjust="0"/>
  </p:normalViewPr>
  <p:slideViewPr>
    <p:cSldViewPr snapToGrid="0">
      <p:cViewPr varScale="1">
        <p:scale>
          <a:sx n="103" d="100"/>
          <a:sy n="103" d="100"/>
        </p:scale>
        <p:origin x="774" y="102"/>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GB"/>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B51EA73D-59EA-4038-8D8D-FFDC81E35B42}" type="datetimeFigureOut">
              <a:rPr lang="en-GB" smtClean="0"/>
              <a:t>24/02/2026</a:t>
            </a:fld>
            <a:endParaRPr lang="en-GB"/>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GB"/>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GB"/>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E196C0D3-D58E-4130-B62D-A05C3AE4F680}" type="slidenum">
              <a:rPr lang="en-GB" smtClean="0"/>
              <a:t>‹#›</a:t>
            </a:fld>
            <a:endParaRPr lang="en-GB"/>
          </a:p>
        </p:txBody>
      </p:sp>
    </p:spTree>
    <p:extLst>
      <p:ext uri="{BB962C8B-B14F-4D97-AF65-F5344CB8AC3E}">
        <p14:creationId xmlns:p14="http://schemas.microsoft.com/office/powerpoint/2010/main" val="3876637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F4833-C0BC-7B1F-2853-0B8F12E5EE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EA914E6-31DB-46F5-ADB6-221B43F24B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7539840-D33E-B9CA-5BC1-9E83F80E0BCB}"/>
              </a:ext>
            </a:extLst>
          </p:cNvPr>
          <p:cNvSpPr>
            <a:spLocks noGrp="1"/>
          </p:cNvSpPr>
          <p:nvPr>
            <p:ph type="dt" sz="half" idx="10"/>
          </p:nvPr>
        </p:nvSpPr>
        <p:spPr/>
        <p:txBody>
          <a:bodyPr/>
          <a:lstStyle/>
          <a:p>
            <a:fld id="{DAC24D88-B82C-4E4D-9F7A-871A22650F02}" type="datetimeFigureOut">
              <a:rPr lang="en-GB" smtClean="0"/>
              <a:t>24/02/2026</a:t>
            </a:fld>
            <a:endParaRPr lang="en-GB"/>
          </a:p>
        </p:txBody>
      </p:sp>
      <p:sp>
        <p:nvSpPr>
          <p:cNvPr id="5" name="Footer Placeholder 4">
            <a:extLst>
              <a:ext uri="{FF2B5EF4-FFF2-40B4-BE49-F238E27FC236}">
                <a16:creationId xmlns:a16="http://schemas.microsoft.com/office/drawing/2014/main" id="{F70A4EE2-719A-E8C0-3ADB-C6D37239275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AB15959-4F4B-5022-81E7-C0006DF79A43}"/>
              </a:ext>
            </a:extLst>
          </p:cNvPr>
          <p:cNvSpPr>
            <a:spLocks noGrp="1"/>
          </p:cNvSpPr>
          <p:nvPr>
            <p:ph type="sldNum" sz="quarter" idx="12"/>
          </p:nvPr>
        </p:nvSpPr>
        <p:spPr/>
        <p:txBody>
          <a:bodyPr/>
          <a:lstStyle/>
          <a:p>
            <a:fld id="{4E6BBDBB-1B77-4967-A1E1-1CF99F873AD8}" type="slidenum">
              <a:rPr lang="en-GB" smtClean="0"/>
              <a:t>‹#›</a:t>
            </a:fld>
            <a:endParaRPr lang="en-GB"/>
          </a:p>
        </p:txBody>
      </p:sp>
    </p:spTree>
    <p:extLst>
      <p:ext uri="{BB962C8B-B14F-4D97-AF65-F5344CB8AC3E}">
        <p14:creationId xmlns:p14="http://schemas.microsoft.com/office/powerpoint/2010/main" val="2943293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FC0B8-8110-4118-CDC0-3B795ACC6D4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E16E6EC-D079-6F5C-94D8-8629E3C3EEA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0D47AAF-9781-7C59-3B7D-E0BBB5C1C2EA}"/>
              </a:ext>
            </a:extLst>
          </p:cNvPr>
          <p:cNvSpPr>
            <a:spLocks noGrp="1"/>
          </p:cNvSpPr>
          <p:nvPr>
            <p:ph type="dt" sz="half" idx="10"/>
          </p:nvPr>
        </p:nvSpPr>
        <p:spPr/>
        <p:txBody>
          <a:bodyPr/>
          <a:lstStyle/>
          <a:p>
            <a:fld id="{DAC24D88-B82C-4E4D-9F7A-871A22650F02}" type="datetimeFigureOut">
              <a:rPr lang="en-GB" smtClean="0"/>
              <a:t>24/02/2026</a:t>
            </a:fld>
            <a:endParaRPr lang="en-GB"/>
          </a:p>
        </p:txBody>
      </p:sp>
      <p:sp>
        <p:nvSpPr>
          <p:cNvPr id="5" name="Footer Placeholder 4">
            <a:extLst>
              <a:ext uri="{FF2B5EF4-FFF2-40B4-BE49-F238E27FC236}">
                <a16:creationId xmlns:a16="http://schemas.microsoft.com/office/drawing/2014/main" id="{801167CF-06BC-10A7-4261-E45F3D5ABD3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A9BEFCA-C76B-4BE5-5680-C4C87AE23F0D}"/>
              </a:ext>
            </a:extLst>
          </p:cNvPr>
          <p:cNvSpPr>
            <a:spLocks noGrp="1"/>
          </p:cNvSpPr>
          <p:nvPr>
            <p:ph type="sldNum" sz="quarter" idx="12"/>
          </p:nvPr>
        </p:nvSpPr>
        <p:spPr/>
        <p:txBody>
          <a:bodyPr/>
          <a:lstStyle/>
          <a:p>
            <a:fld id="{4E6BBDBB-1B77-4967-A1E1-1CF99F873AD8}" type="slidenum">
              <a:rPr lang="en-GB" smtClean="0"/>
              <a:t>‹#›</a:t>
            </a:fld>
            <a:endParaRPr lang="en-GB"/>
          </a:p>
        </p:txBody>
      </p:sp>
    </p:spTree>
    <p:extLst>
      <p:ext uri="{BB962C8B-B14F-4D97-AF65-F5344CB8AC3E}">
        <p14:creationId xmlns:p14="http://schemas.microsoft.com/office/powerpoint/2010/main" val="19528510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2F2D0-4655-62BD-8E16-F642AE7A48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435507A-E440-259B-807F-158940F1DA4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2DDD3A-0D57-41D2-1CE6-1089B720C898}"/>
              </a:ext>
            </a:extLst>
          </p:cNvPr>
          <p:cNvSpPr>
            <a:spLocks noGrp="1"/>
          </p:cNvSpPr>
          <p:nvPr>
            <p:ph type="dt" sz="half" idx="10"/>
          </p:nvPr>
        </p:nvSpPr>
        <p:spPr/>
        <p:txBody>
          <a:bodyPr/>
          <a:lstStyle/>
          <a:p>
            <a:fld id="{DAC24D88-B82C-4E4D-9F7A-871A22650F02}" type="datetimeFigureOut">
              <a:rPr lang="en-GB" smtClean="0"/>
              <a:t>24/02/2026</a:t>
            </a:fld>
            <a:endParaRPr lang="en-GB"/>
          </a:p>
        </p:txBody>
      </p:sp>
      <p:sp>
        <p:nvSpPr>
          <p:cNvPr id="5" name="Footer Placeholder 4">
            <a:extLst>
              <a:ext uri="{FF2B5EF4-FFF2-40B4-BE49-F238E27FC236}">
                <a16:creationId xmlns:a16="http://schemas.microsoft.com/office/drawing/2014/main" id="{2ECFC1C6-76A8-7537-B397-96446CD6F68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0DDA474-1E29-196A-7A20-EE723A716D7A}"/>
              </a:ext>
            </a:extLst>
          </p:cNvPr>
          <p:cNvSpPr>
            <a:spLocks noGrp="1"/>
          </p:cNvSpPr>
          <p:nvPr>
            <p:ph type="sldNum" sz="quarter" idx="12"/>
          </p:nvPr>
        </p:nvSpPr>
        <p:spPr/>
        <p:txBody>
          <a:bodyPr/>
          <a:lstStyle/>
          <a:p>
            <a:fld id="{4E6BBDBB-1B77-4967-A1E1-1CF99F873AD8}" type="slidenum">
              <a:rPr lang="en-GB" smtClean="0"/>
              <a:t>‹#›</a:t>
            </a:fld>
            <a:endParaRPr lang="en-GB"/>
          </a:p>
        </p:txBody>
      </p:sp>
    </p:spTree>
    <p:extLst>
      <p:ext uri="{BB962C8B-B14F-4D97-AF65-F5344CB8AC3E}">
        <p14:creationId xmlns:p14="http://schemas.microsoft.com/office/powerpoint/2010/main" val="18693540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A7E6D-FA95-6AB3-ECF4-A49389FC1A6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AC96C0E-335E-8C94-7419-6107BC1048D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097749D-879D-92A4-1E34-3BED31C008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034FA4CA-D48C-4940-875F-8B40DE9F2370}"/>
              </a:ext>
            </a:extLst>
          </p:cNvPr>
          <p:cNvSpPr>
            <a:spLocks noGrp="1"/>
          </p:cNvSpPr>
          <p:nvPr>
            <p:ph type="dt" sz="half" idx="10"/>
          </p:nvPr>
        </p:nvSpPr>
        <p:spPr/>
        <p:txBody>
          <a:bodyPr/>
          <a:lstStyle/>
          <a:p>
            <a:fld id="{DAC24D88-B82C-4E4D-9F7A-871A22650F02}" type="datetimeFigureOut">
              <a:rPr lang="en-GB" smtClean="0"/>
              <a:t>24/02/2026</a:t>
            </a:fld>
            <a:endParaRPr lang="en-GB"/>
          </a:p>
        </p:txBody>
      </p:sp>
      <p:sp>
        <p:nvSpPr>
          <p:cNvPr id="6" name="Footer Placeholder 5">
            <a:extLst>
              <a:ext uri="{FF2B5EF4-FFF2-40B4-BE49-F238E27FC236}">
                <a16:creationId xmlns:a16="http://schemas.microsoft.com/office/drawing/2014/main" id="{A487F932-56A6-57D2-3A83-5B03709D39B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69B94C6-9897-7C55-7ADC-AA17B34C0788}"/>
              </a:ext>
            </a:extLst>
          </p:cNvPr>
          <p:cNvSpPr>
            <a:spLocks noGrp="1"/>
          </p:cNvSpPr>
          <p:nvPr>
            <p:ph type="sldNum" sz="quarter" idx="12"/>
          </p:nvPr>
        </p:nvSpPr>
        <p:spPr/>
        <p:txBody>
          <a:bodyPr/>
          <a:lstStyle/>
          <a:p>
            <a:fld id="{4E6BBDBB-1B77-4967-A1E1-1CF99F873AD8}" type="slidenum">
              <a:rPr lang="en-GB" smtClean="0"/>
              <a:t>‹#›</a:t>
            </a:fld>
            <a:endParaRPr lang="en-GB"/>
          </a:p>
        </p:txBody>
      </p:sp>
    </p:spTree>
    <p:extLst>
      <p:ext uri="{BB962C8B-B14F-4D97-AF65-F5344CB8AC3E}">
        <p14:creationId xmlns:p14="http://schemas.microsoft.com/office/powerpoint/2010/main" val="38346110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EB47-AB35-9236-4D6F-4A792D32874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EAC0754-18A8-1330-DCB7-2B60064497A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3FF9EB-F501-022A-2D4D-6FC10EEC26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AE41C5CC-82B2-00C9-9971-9F217C724C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91D10D-B3CA-A575-5539-F03E124646D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1E154478-AC0C-8929-574C-F8475D73C56E}"/>
              </a:ext>
            </a:extLst>
          </p:cNvPr>
          <p:cNvSpPr>
            <a:spLocks noGrp="1"/>
          </p:cNvSpPr>
          <p:nvPr>
            <p:ph type="dt" sz="half" idx="10"/>
          </p:nvPr>
        </p:nvSpPr>
        <p:spPr/>
        <p:txBody>
          <a:bodyPr/>
          <a:lstStyle/>
          <a:p>
            <a:fld id="{DAC24D88-B82C-4E4D-9F7A-871A22650F02}" type="datetimeFigureOut">
              <a:rPr lang="en-GB" smtClean="0"/>
              <a:t>24/02/2026</a:t>
            </a:fld>
            <a:endParaRPr lang="en-GB"/>
          </a:p>
        </p:txBody>
      </p:sp>
      <p:sp>
        <p:nvSpPr>
          <p:cNvPr id="8" name="Footer Placeholder 7">
            <a:extLst>
              <a:ext uri="{FF2B5EF4-FFF2-40B4-BE49-F238E27FC236}">
                <a16:creationId xmlns:a16="http://schemas.microsoft.com/office/drawing/2014/main" id="{50D851DB-3CC8-D80D-A772-8E38E98860C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BA2B9D5-D880-DF8C-A91D-ACB6EE0ACEF3}"/>
              </a:ext>
            </a:extLst>
          </p:cNvPr>
          <p:cNvSpPr>
            <a:spLocks noGrp="1"/>
          </p:cNvSpPr>
          <p:nvPr>
            <p:ph type="sldNum" sz="quarter" idx="12"/>
          </p:nvPr>
        </p:nvSpPr>
        <p:spPr/>
        <p:txBody>
          <a:bodyPr/>
          <a:lstStyle/>
          <a:p>
            <a:fld id="{4E6BBDBB-1B77-4967-A1E1-1CF99F873AD8}" type="slidenum">
              <a:rPr lang="en-GB" smtClean="0"/>
              <a:t>‹#›</a:t>
            </a:fld>
            <a:endParaRPr lang="en-GB"/>
          </a:p>
        </p:txBody>
      </p:sp>
    </p:spTree>
    <p:extLst>
      <p:ext uri="{BB962C8B-B14F-4D97-AF65-F5344CB8AC3E}">
        <p14:creationId xmlns:p14="http://schemas.microsoft.com/office/powerpoint/2010/main" val="13331162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18C43-BFD7-A07B-6322-1156DCE7F599}"/>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EA67F2C-D9D4-521E-2624-636E1CAED778}"/>
              </a:ext>
            </a:extLst>
          </p:cNvPr>
          <p:cNvSpPr>
            <a:spLocks noGrp="1"/>
          </p:cNvSpPr>
          <p:nvPr>
            <p:ph type="dt" sz="half" idx="10"/>
          </p:nvPr>
        </p:nvSpPr>
        <p:spPr/>
        <p:txBody>
          <a:bodyPr/>
          <a:lstStyle/>
          <a:p>
            <a:fld id="{DAC24D88-B82C-4E4D-9F7A-871A22650F02}" type="datetimeFigureOut">
              <a:rPr lang="en-GB" smtClean="0"/>
              <a:t>24/02/2026</a:t>
            </a:fld>
            <a:endParaRPr lang="en-GB"/>
          </a:p>
        </p:txBody>
      </p:sp>
      <p:sp>
        <p:nvSpPr>
          <p:cNvPr id="4" name="Footer Placeholder 3">
            <a:extLst>
              <a:ext uri="{FF2B5EF4-FFF2-40B4-BE49-F238E27FC236}">
                <a16:creationId xmlns:a16="http://schemas.microsoft.com/office/drawing/2014/main" id="{0A99BC6C-E934-4004-71CE-FE5892B5E80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C9134BC8-9BB9-9451-CF8B-D49451DBB292}"/>
              </a:ext>
            </a:extLst>
          </p:cNvPr>
          <p:cNvSpPr>
            <a:spLocks noGrp="1"/>
          </p:cNvSpPr>
          <p:nvPr>
            <p:ph type="sldNum" sz="quarter" idx="12"/>
          </p:nvPr>
        </p:nvSpPr>
        <p:spPr/>
        <p:txBody>
          <a:bodyPr/>
          <a:lstStyle/>
          <a:p>
            <a:fld id="{4E6BBDBB-1B77-4967-A1E1-1CF99F873AD8}" type="slidenum">
              <a:rPr lang="en-GB" smtClean="0"/>
              <a:t>‹#›</a:t>
            </a:fld>
            <a:endParaRPr lang="en-GB"/>
          </a:p>
        </p:txBody>
      </p:sp>
    </p:spTree>
    <p:extLst>
      <p:ext uri="{BB962C8B-B14F-4D97-AF65-F5344CB8AC3E}">
        <p14:creationId xmlns:p14="http://schemas.microsoft.com/office/powerpoint/2010/main" val="41565589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EB9212-74DA-9E18-2F14-6BD1E87CC3DA}"/>
              </a:ext>
            </a:extLst>
          </p:cNvPr>
          <p:cNvSpPr>
            <a:spLocks noGrp="1"/>
          </p:cNvSpPr>
          <p:nvPr>
            <p:ph type="dt" sz="half" idx="10"/>
          </p:nvPr>
        </p:nvSpPr>
        <p:spPr/>
        <p:txBody>
          <a:bodyPr/>
          <a:lstStyle/>
          <a:p>
            <a:fld id="{DAC24D88-B82C-4E4D-9F7A-871A22650F02}" type="datetimeFigureOut">
              <a:rPr lang="en-GB" smtClean="0"/>
              <a:t>24/02/2026</a:t>
            </a:fld>
            <a:endParaRPr lang="en-GB"/>
          </a:p>
        </p:txBody>
      </p:sp>
      <p:sp>
        <p:nvSpPr>
          <p:cNvPr id="3" name="Footer Placeholder 2">
            <a:extLst>
              <a:ext uri="{FF2B5EF4-FFF2-40B4-BE49-F238E27FC236}">
                <a16:creationId xmlns:a16="http://schemas.microsoft.com/office/drawing/2014/main" id="{A1574EE7-91C7-73A2-D616-AF07364EC4C5}"/>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FB98DC8-9390-3AE8-BF0E-E061CC48E17D}"/>
              </a:ext>
            </a:extLst>
          </p:cNvPr>
          <p:cNvSpPr>
            <a:spLocks noGrp="1"/>
          </p:cNvSpPr>
          <p:nvPr>
            <p:ph type="sldNum" sz="quarter" idx="12"/>
          </p:nvPr>
        </p:nvSpPr>
        <p:spPr/>
        <p:txBody>
          <a:bodyPr/>
          <a:lstStyle/>
          <a:p>
            <a:fld id="{4E6BBDBB-1B77-4967-A1E1-1CF99F873AD8}" type="slidenum">
              <a:rPr lang="en-GB" smtClean="0"/>
              <a:t>‹#›</a:t>
            </a:fld>
            <a:endParaRPr lang="en-GB"/>
          </a:p>
        </p:txBody>
      </p:sp>
      <p:grpSp>
        <p:nvGrpSpPr>
          <p:cNvPr id="5" name="Group 2">
            <a:extLst>
              <a:ext uri="{FF2B5EF4-FFF2-40B4-BE49-F238E27FC236}">
                <a16:creationId xmlns:a16="http://schemas.microsoft.com/office/drawing/2014/main" id="{1A30DC12-5F6F-7D7F-8F1A-85C582C55898}"/>
              </a:ext>
            </a:extLst>
          </p:cNvPr>
          <p:cNvGrpSpPr/>
          <p:nvPr userDrawn="1"/>
        </p:nvGrpSpPr>
        <p:grpSpPr>
          <a:xfrm>
            <a:off x="-1" y="0"/>
            <a:ext cx="12192001" cy="841829"/>
            <a:chOff x="0" y="0"/>
            <a:chExt cx="6837594" cy="824595"/>
          </a:xfrm>
        </p:grpSpPr>
        <p:sp>
          <p:nvSpPr>
            <p:cNvPr id="6" name="Freeform 3">
              <a:extLst>
                <a:ext uri="{FF2B5EF4-FFF2-40B4-BE49-F238E27FC236}">
                  <a16:creationId xmlns:a16="http://schemas.microsoft.com/office/drawing/2014/main" id="{961C286B-526D-CF91-F1FE-A261D43E9348}"/>
                </a:ext>
              </a:extLst>
            </p:cNvPr>
            <p:cNvSpPr/>
            <p:nvPr/>
          </p:nvSpPr>
          <p:spPr>
            <a:xfrm>
              <a:off x="0" y="0"/>
              <a:ext cx="6837593" cy="824595"/>
            </a:xfrm>
            <a:custGeom>
              <a:avLst/>
              <a:gdLst/>
              <a:ahLst/>
              <a:cxnLst/>
              <a:rect l="l" t="t" r="r" b="b"/>
              <a:pathLst>
                <a:path w="6837593" h="824595">
                  <a:moveTo>
                    <a:pt x="0" y="0"/>
                  </a:moveTo>
                  <a:lnTo>
                    <a:pt x="6837593" y="0"/>
                  </a:lnTo>
                  <a:lnTo>
                    <a:pt x="6837593" y="824595"/>
                  </a:lnTo>
                  <a:lnTo>
                    <a:pt x="0" y="824595"/>
                  </a:lnTo>
                  <a:close/>
                </a:path>
              </a:pathLst>
            </a:custGeom>
            <a:solidFill>
              <a:srgbClr val="0E4557"/>
            </a:solidFill>
          </p:spPr>
          <p:txBody>
            <a:bodyPr/>
            <a:lstStyle/>
            <a:p>
              <a:endParaRPr lang="en-GB"/>
            </a:p>
          </p:txBody>
        </p:sp>
      </p:grpSp>
      <p:pic>
        <p:nvPicPr>
          <p:cNvPr id="10" name="Picture 9">
            <a:extLst>
              <a:ext uri="{FF2B5EF4-FFF2-40B4-BE49-F238E27FC236}">
                <a16:creationId xmlns:a16="http://schemas.microsoft.com/office/drawing/2014/main" id="{C70B890D-9FE0-6EF3-95D9-1173E5AB448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600" y="142171"/>
            <a:ext cx="5152571" cy="537294"/>
          </a:xfrm>
          <a:prstGeom prst="rect">
            <a:avLst/>
          </a:prstGeom>
        </p:spPr>
      </p:pic>
    </p:spTree>
    <p:extLst>
      <p:ext uri="{BB962C8B-B14F-4D97-AF65-F5344CB8AC3E}">
        <p14:creationId xmlns:p14="http://schemas.microsoft.com/office/powerpoint/2010/main" val="9776931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01A2C-4DD1-0FB1-FD96-48FD1EEC76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15228422-37C0-2225-229C-C4A7928066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38359A2-6C46-F2BE-4FF3-65A42B4EB2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FC7E94-59F0-1C71-5EC4-72B8FCA3E9D1}"/>
              </a:ext>
            </a:extLst>
          </p:cNvPr>
          <p:cNvSpPr>
            <a:spLocks noGrp="1"/>
          </p:cNvSpPr>
          <p:nvPr>
            <p:ph type="dt" sz="half" idx="10"/>
          </p:nvPr>
        </p:nvSpPr>
        <p:spPr/>
        <p:txBody>
          <a:bodyPr/>
          <a:lstStyle/>
          <a:p>
            <a:fld id="{DAC24D88-B82C-4E4D-9F7A-871A22650F02}" type="datetimeFigureOut">
              <a:rPr lang="en-GB" smtClean="0"/>
              <a:t>24/02/2026</a:t>
            </a:fld>
            <a:endParaRPr lang="en-GB"/>
          </a:p>
        </p:txBody>
      </p:sp>
      <p:sp>
        <p:nvSpPr>
          <p:cNvPr id="6" name="Footer Placeholder 5">
            <a:extLst>
              <a:ext uri="{FF2B5EF4-FFF2-40B4-BE49-F238E27FC236}">
                <a16:creationId xmlns:a16="http://schemas.microsoft.com/office/drawing/2014/main" id="{6251959A-61E9-27D8-04E4-03DDB7A1C68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11E4619-076C-A37F-CCDF-D04CB7C5DE03}"/>
              </a:ext>
            </a:extLst>
          </p:cNvPr>
          <p:cNvSpPr>
            <a:spLocks noGrp="1"/>
          </p:cNvSpPr>
          <p:nvPr>
            <p:ph type="sldNum" sz="quarter" idx="12"/>
          </p:nvPr>
        </p:nvSpPr>
        <p:spPr/>
        <p:txBody>
          <a:bodyPr/>
          <a:lstStyle/>
          <a:p>
            <a:fld id="{4E6BBDBB-1B77-4967-A1E1-1CF99F873AD8}" type="slidenum">
              <a:rPr lang="en-GB" smtClean="0"/>
              <a:t>‹#›</a:t>
            </a:fld>
            <a:endParaRPr lang="en-GB"/>
          </a:p>
        </p:txBody>
      </p:sp>
    </p:spTree>
    <p:extLst>
      <p:ext uri="{BB962C8B-B14F-4D97-AF65-F5344CB8AC3E}">
        <p14:creationId xmlns:p14="http://schemas.microsoft.com/office/powerpoint/2010/main" val="31671515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68545-DAA1-2EAF-8C62-51021E0248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869B6E1-CC9C-E65E-01AA-2E69905982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23C1AFB9-4BFB-B36E-D849-3A79991564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21FF01-5CB7-6D1E-E14F-6FBD1787D60A}"/>
              </a:ext>
            </a:extLst>
          </p:cNvPr>
          <p:cNvSpPr>
            <a:spLocks noGrp="1"/>
          </p:cNvSpPr>
          <p:nvPr>
            <p:ph type="dt" sz="half" idx="10"/>
          </p:nvPr>
        </p:nvSpPr>
        <p:spPr/>
        <p:txBody>
          <a:bodyPr/>
          <a:lstStyle/>
          <a:p>
            <a:fld id="{DAC24D88-B82C-4E4D-9F7A-871A22650F02}" type="datetimeFigureOut">
              <a:rPr lang="en-GB" smtClean="0"/>
              <a:t>24/02/2026</a:t>
            </a:fld>
            <a:endParaRPr lang="en-GB"/>
          </a:p>
        </p:txBody>
      </p:sp>
      <p:sp>
        <p:nvSpPr>
          <p:cNvPr id="6" name="Footer Placeholder 5">
            <a:extLst>
              <a:ext uri="{FF2B5EF4-FFF2-40B4-BE49-F238E27FC236}">
                <a16:creationId xmlns:a16="http://schemas.microsoft.com/office/drawing/2014/main" id="{11BEFC6A-5755-11F6-1CED-0FA12C88079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BD22B84-A541-4A57-4124-669842EF8F92}"/>
              </a:ext>
            </a:extLst>
          </p:cNvPr>
          <p:cNvSpPr>
            <a:spLocks noGrp="1"/>
          </p:cNvSpPr>
          <p:nvPr>
            <p:ph type="sldNum" sz="quarter" idx="12"/>
          </p:nvPr>
        </p:nvSpPr>
        <p:spPr/>
        <p:txBody>
          <a:bodyPr/>
          <a:lstStyle/>
          <a:p>
            <a:fld id="{4E6BBDBB-1B77-4967-A1E1-1CF99F873AD8}" type="slidenum">
              <a:rPr lang="en-GB" smtClean="0"/>
              <a:t>‹#›</a:t>
            </a:fld>
            <a:endParaRPr lang="en-GB"/>
          </a:p>
        </p:txBody>
      </p:sp>
    </p:spTree>
    <p:extLst>
      <p:ext uri="{BB962C8B-B14F-4D97-AF65-F5344CB8AC3E}">
        <p14:creationId xmlns:p14="http://schemas.microsoft.com/office/powerpoint/2010/main" val="3864494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E1F14-8444-3E3D-F5FE-6B4B2750207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79EFF42-F039-8DF7-61D8-583055B3E87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EDCCD19-0E3F-EA87-EDEE-5677E62FBFB2}"/>
              </a:ext>
            </a:extLst>
          </p:cNvPr>
          <p:cNvSpPr>
            <a:spLocks noGrp="1"/>
          </p:cNvSpPr>
          <p:nvPr>
            <p:ph type="dt" sz="half" idx="10"/>
          </p:nvPr>
        </p:nvSpPr>
        <p:spPr/>
        <p:txBody>
          <a:bodyPr/>
          <a:lstStyle/>
          <a:p>
            <a:fld id="{DAC24D88-B82C-4E4D-9F7A-871A22650F02}" type="datetimeFigureOut">
              <a:rPr lang="en-GB" smtClean="0"/>
              <a:t>24/02/2026</a:t>
            </a:fld>
            <a:endParaRPr lang="en-GB"/>
          </a:p>
        </p:txBody>
      </p:sp>
      <p:sp>
        <p:nvSpPr>
          <p:cNvPr id="5" name="Footer Placeholder 4">
            <a:extLst>
              <a:ext uri="{FF2B5EF4-FFF2-40B4-BE49-F238E27FC236}">
                <a16:creationId xmlns:a16="http://schemas.microsoft.com/office/drawing/2014/main" id="{448A5A04-D8EC-5480-462E-09EAD000615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4317157-A534-9A88-86B1-10940626E5C7}"/>
              </a:ext>
            </a:extLst>
          </p:cNvPr>
          <p:cNvSpPr>
            <a:spLocks noGrp="1"/>
          </p:cNvSpPr>
          <p:nvPr>
            <p:ph type="sldNum" sz="quarter" idx="12"/>
          </p:nvPr>
        </p:nvSpPr>
        <p:spPr/>
        <p:txBody>
          <a:bodyPr/>
          <a:lstStyle/>
          <a:p>
            <a:fld id="{4E6BBDBB-1B77-4967-A1E1-1CF99F873AD8}" type="slidenum">
              <a:rPr lang="en-GB" smtClean="0"/>
              <a:t>‹#›</a:t>
            </a:fld>
            <a:endParaRPr lang="en-GB"/>
          </a:p>
        </p:txBody>
      </p:sp>
    </p:spTree>
    <p:extLst>
      <p:ext uri="{BB962C8B-B14F-4D97-AF65-F5344CB8AC3E}">
        <p14:creationId xmlns:p14="http://schemas.microsoft.com/office/powerpoint/2010/main" val="20026288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4D0070-191A-DE1B-BEE4-6DB07F284BC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BB4BF49-6D97-8E62-FEB6-8513C98BF87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B9054FA-9EB1-BF0C-3663-8BA612DF6B4D}"/>
              </a:ext>
            </a:extLst>
          </p:cNvPr>
          <p:cNvSpPr>
            <a:spLocks noGrp="1"/>
          </p:cNvSpPr>
          <p:nvPr>
            <p:ph type="dt" sz="half" idx="10"/>
          </p:nvPr>
        </p:nvSpPr>
        <p:spPr/>
        <p:txBody>
          <a:bodyPr/>
          <a:lstStyle/>
          <a:p>
            <a:fld id="{DAC24D88-B82C-4E4D-9F7A-871A22650F02}" type="datetimeFigureOut">
              <a:rPr lang="en-GB" smtClean="0"/>
              <a:t>24/02/2026</a:t>
            </a:fld>
            <a:endParaRPr lang="en-GB"/>
          </a:p>
        </p:txBody>
      </p:sp>
      <p:sp>
        <p:nvSpPr>
          <p:cNvPr id="5" name="Footer Placeholder 4">
            <a:extLst>
              <a:ext uri="{FF2B5EF4-FFF2-40B4-BE49-F238E27FC236}">
                <a16:creationId xmlns:a16="http://schemas.microsoft.com/office/drawing/2014/main" id="{DE9A7891-1C43-244A-DA63-1FC46F7CDD2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15FFB5E-DAEB-B29A-6D62-8BF8C3CF4E66}"/>
              </a:ext>
            </a:extLst>
          </p:cNvPr>
          <p:cNvSpPr>
            <a:spLocks noGrp="1"/>
          </p:cNvSpPr>
          <p:nvPr>
            <p:ph type="sldNum" sz="quarter" idx="12"/>
          </p:nvPr>
        </p:nvSpPr>
        <p:spPr/>
        <p:txBody>
          <a:bodyPr/>
          <a:lstStyle/>
          <a:p>
            <a:fld id="{4E6BBDBB-1B77-4967-A1E1-1CF99F873AD8}" type="slidenum">
              <a:rPr lang="en-GB" smtClean="0"/>
              <a:t>‹#›</a:t>
            </a:fld>
            <a:endParaRPr lang="en-GB"/>
          </a:p>
        </p:txBody>
      </p:sp>
    </p:spTree>
    <p:extLst>
      <p:ext uri="{BB962C8B-B14F-4D97-AF65-F5344CB8AC3E}">
        <p14:creationId xmlns:p14="http://schemas.microsoft.com/office/powerpoint/2010/main" val="6522312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5823AC-4C33-3B22-38AB-7E7E642FC1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2631987-D893-7B33-4C58-C34B650D66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F9332CA-73F2-1857-DCBD-E24360D648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C24D88-B82C-4E4D-9F7A-871A22650F02}" type="datetimeFigureOut">
              <a:rPr lang="en-GB" smtClean="0"/>
              <a:t>24/02/2026</a:t>
            </a:fld>
            <a:endParaRPr lang="en-GB"/>
          </a:p>
        </p:txBody>
      </p:sp>
      <p:sp>
        <p:nvSpPr>
          <p:cNvPr id="5" name="Footer Placeholder 4">
            <a:extLst>
              <a:ext uri="{FF2B5EF4-FFF2-40B4-BE49-F238E27FC236}">
                <a16:creationId xmlns:a16="http://schemas.microsoft.com/office/drawing/2014/main" id="{EE8DDE12-D895-AE5D-2833-4686BFC195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D2A231A7-866B-ACD4-EA87-BF72D2F73F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6BBDBB-1B77-4967-A1E1-1CF99F873AD8}" type="slidenum">
              <a:rPr lang="en-GB" smtClean="0"/>
              <a:t>‹#›</a:t>
            </a:fld>
            <a:endParaRPr lang="en-GB"/>
          </a:p>
        </p:txBody>
      </p:sp>
    </p:spTree>
    <p:extLst>
      <p:ext uri="{BB962C8B-B14F-4D97-AF65-F5344CB8AC3E}">
        <p14:creationId xmlns:p14="http://schemas.microsoft.com/office/powerpoint/2010/main" val="14836116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file:///C:\Users\JohnD\Documents\Matrix\Dev\CP4375%20-%20Introduction%20to%20microcontrollers\Media\microcontrollers.png" TargetMode="External"/><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file:///C:\Users\JohnD\Documents\Matrix\Dev\CP4375%20-%20Introduction%20to%20microcontrollers\Media\pic.png" TargetMode="External"/><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file:///C:\Users\JohnD\Documents\Matrix\Dev\CP4375%20-%20Introduction%20to%20microcontrollers\Media\temp.png" TargetMode="External"/><Relationship Id="rId7" Type="http://schemas.openxmlformats.org/officeDocument/2006/relationships/image" Target="file:///C:\Users\JohnD\Documents\Matrix\Dev\CP4375%20-%20Introduction%20to%20microcontrollers\Media\dial.png" TargetMode="External"/><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file:///C:\Users\JohnD\Documents\Matrix\Dev\CP4375%20-%20Introduction%20to%20microcontrollers\Media\hourglass.png" TargetMode="Externa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file:///C:\Users\JohnD\Documents\Matrix\Dev\CP4375%20-%20Introduction%20to%20microcontrollers\Media\sensor%201.png" TargetMode="External"/><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file:///C:\Users\JohnD\Documents\Matrix\Dev\CP4375%20-%20Introduction%20to%20microcontrollers\Media\graph1.png" TargetMode="Externa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file:///C:\Users\JohnD\Documents\Matrix\Dev\CP4375%20-%20Introduction%20to%20microcontrollers\Media\switch.png" TargetMode="External"/><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file:///C:\Users\JohnD\Documents\Matrix\Dev\CP4375%20-%20Introduction%20to%20microcontrollers\Media\graph2.png" TargetMode="Externa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file:///C:\Users\JohnD\Documents\Matrix\Dev\CP4375%20-%20Introduction%20to%20microcontrollers\Media\steps.png" TargetMode="External"/><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file:///C:\Users\JohnD\Documents\Matrix\Dev\CP4375%20-%20Introduction%20to%20microcontrollers\Media\picnleds.png" TargetMode="External"/><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file:///C:\Users\JohnD\Documents\Matrix\Dev\CP4375%20-%20Introduction%20to%20microcontrollers\Media\memory.png" TargetMode="External"/><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file:///C:\Users\JohnD\Documents\Matrix\Dev\CP4375%20-%20Introduction%20to%20microcontrollers\Media\16f18877.png" TargetMode="External"/><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file:///C:\Users\JohnD\Documents\Matrix\Dev\CP4375%20-%20Introduction%20to%20microcontrollers\Media\internals.png" TargetMode="External"/><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file:///C:\Users\JohnD\Documents\Matrix\Dev\CP4375%20-%20Introduction%20to%20microcontrollers\Media\flowcode%20process.png" TargetMode="External"/><Relationship Id="rId2" Type="http://schemas.openxmlformats.org/officeDocument/2006/relationships/image" Target="../media/image2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17BD7CC6-2F7F-4587-8E92-D041AB2CEB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BE7ED1F4-19EF-4BC2-A6EA-DF1525142B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 name="Group 27">
            <a:extLst>
              <a:ext uri="{FF2B5EF4-FFF2-40B4-BE49-F238E27FC236}">
                <a16:creationId xmlns:a16="http://schemas.microsoft.com/office/drawing/2014/main" id="{0EE7C14F-442F-4416-A4A9-6DA10263A4B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29" name="Oval 28">
              <a:extLst>
                <a:ext uri="{FF2B5EF4-FFF2-40B4-BE49-F238E27FC236}">
                  <a16:creationId xmlns:a16="http://schemas.microsoft.com/office/drawing/2014/main" id="{97AC4CCD-70AA-4916-97EA-D9C12FED17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C5694289-EA59-4679-9DB4-0646321A8C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32EDAD0A-6995-496D-9789-A34C66F5D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CBBB211-248C-4F94-900A-80CD8D52F3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a:extLst>
                <a:ext uri="{FF2B5EF4-FFF2-40B4-BE49-F238E27FC236}">
                  <a16:creationId xmlns:a16="http://schemas.microsoft.com/office/drawing/2014/main" id="{48DCC953-87D5-419D-A529-94A9462512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0F67D0B7-A0F4-47EB-8DF7-2630C056AB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6" name="Rectangle 35">
            <a:extLst>
              <a:ext uri="{FF2B5EF4-FFF2-40B4-BE49-F238E27FC236}">
                <a16:creationId xmlns:a16="http://schemas.microsoft.com/office/drawing/2014/main" id="{A3919D60-F174-4FEB-9E9D-5AF6BD6597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37">
            <a:extLst>
              <a:ext uri="{FF2B5EF4-FFF2-40B4-BE49-F238E27FC236}">
                <a16:creationId xmlns:a16="http://schemas.microsoft.com/office/drawing/2014/main" id="{98EF7474-F1F7-47A7-AF33-E38A86EBF6D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39" name="Straight Connector 38">
              <a:extLst>
                <a:ext uri="{FF2B5EF4-FFF2-40B4-BE49-F238E27FC236}">
                  <a16:creationId xmlns:a16="http://schemas.microsoft.com/office/drawing/2014/main" id="{8B14C3B3-01E7-4DD2-80BC-D6605BDB3AB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29E2ED25-9BE8-462A-BE54-D3E506DBA2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3E48329-07A0-4DBB-9D0C-0614AE372F0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ED609B4-86D5-44D5-8511-42AE9B129B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grpSp>
        <p:nvGrpSpPr>
          <p:cNvPr id="44" name="Group 43">
            <a:extLst>
              <a:ext uri="{FF2B5EF4-FFF2-40B4-BE49-F238E27FC236}">
                <a16:creationId xmlns:a16="http://schemas.microsoft.com/office/drawing/2014/main" id="{C912E1BF-76C2-49D5-A5AC-1CE20255C4B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45" name="Straight Connector 44">
              <a:extLst>
                <a:ext uri="{FF2B5EF4-FFF2-40B4-BE49-F238E27FC236}">
                  <a16:creationId xmlns:a16="http://schemas.microsoft.com/office/drawing/2014/main" id="{84E6722B-B0C0-4A43-91F6-6E2D6E2D7F2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20000"/>
                    </a:schemeClr>
                  </a:gs>
                  <a:gs pos="100000">
                    <a:schemeClr val="tx2">
                      <a:lumMod val="50000"/>
                      <a:alpha val="2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8EAB6DA-9741-4668-8E47-957CD51511C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20000"/>
                    </a:schemeClr>
                  </a:gs>
                  <a:gs pos="100000">
                    <a:schemeClr val="tx2">
                      <a:lumMod val="50000"/>
                      <a:alpha val="2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E36EC6AA-9E44-4DD2-B718-EE04111414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20000"/>
                    </a:schemeClr>
                  </a:gs>
                  <a:gs pos="100000">
                    <a:schemeClr val="tx2">
                      <a:lumMod val="50000"/>
                      <a:alpha val="2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138DE653-B3C7-49E5-A3B0-6C00B26083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20000"/>
                    </a:schemeClr>
                  </a:gs>
                  <a:gs pos="100000">
                    <a:schemeClr val="tx2">
                      <a:lumMod val="50000"/>
                      <a:alpha val="2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50" name="Rectangle 49">
            <a:extLst>
              <a:ext uri="{FF2B5EF4-FFF2-40B4-BE49-F238E27FC236}">
                <a16:creationId xmlns:a16="http://schemas.microsoft.com/office/drawing/2014/main" id="{90AE89EB-4F51-4181-9475-7E1048FB3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2" name="Group 51">
            <a:extLst>
              <a:ext uri="{FF2B5EF4-FFF2-40B4-BE49-F238E27FC236}">
                <a16:creationId xmlns:a16="http://schemas.microsoft.com/office/drawing/2014/main" id="{B78285A0-9022-40FD-B520-91444BA163D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53" name="Straight Connector 52">
              <a:extLst>
                <a:ext uri="{FF2B5EF4-FFF2-40B4-BE49-F238E27FC236}">
                  <a16:creationId xmlns:a16="http://schemas.microsoft.com/office/drawing/2014/main" id="{0E2EED1A-F137-41BB-A555-7CDFF9C334B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3E1EC980-DEDC-41BF-995C-1D471C90EC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1A2F9486-DC13-4EDD-82CE-7FFC6F4846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646A2475-19E5-46B8-B7FE-C2CF42971F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grpSp>
        <p:nvGrpSpPr>
          <p:cNvPr id="58" name="Group 57">
            <a:extLst>
              <a:ext uri="{FF2B5EF4-FFF2-40B4-BE49-F238E27FC236}">
                <a16:creationId xmlns:a16="http://schemas.microsoft.com/office/drawing/2014/main" id="{91CD8CAA-4614-4393-ADD7-7FDFD8ABD76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74192" y="776904"/>
            <a:ext cx="304800" cy="429768"/>
            <a:chOff x="215328" y="-46937"/>
            <a:chExt cx="304800" cy="2773841"/>
          </a:xfrm>
        </p:grpSpPr>
        <p:cxnSp>
          <p:nvCxnSpPr>
            <p:cNvPr id="59" name="Straight Connector 58">
              <a:extLst>
                <a:ext uri="{FF2B5EF4-FFF2-40B4-BE49-F238E27FC236}">
                  <a16:creationId xmlns:a16="http://schemas.microsoft.com/office/drawing/2014/main" id="{89F5BF84-4D12-40EB-B3CA-72B55341A8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CF91815-2B4A-44C8-BAC2-6732AD11A92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523960DB-F7E9-40C5-BDC7-9700C71B18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A95623C8-E3C3-425E-B186-ADFF5B6702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pic>
        <p:nvPicPr>
          <p:cNvPr id="3" name="Picture 2">
            <a:extLst>
              <a:ext uri="{FF2B5EF4-FFF2-40B4-BE49-F238E27FC236}">
                <a16:creationId xmlns:a16="http://schemas.microsoft.com/office/drawing/2014/main" id="{5A427E4A-B9C7-9B2E-9D8F-3ABEB27DD8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17" y="-5105"/>
            <a:ext cx="12192000" cy="6857143"/>
          </a:xfrm>
          <a:prstGeom prst="rect">
            <a:avLst/>
          </a:prstGeom>
        </p:spPr>
      </p:pic>
      <p:sp>
        <p:nvSpPr>
          <p:cNvPr id="2" name="TextBox 1">
            <a:extLst>
              <a:ext uri="{FF2B5EF4-FFF2-40B4-BE49-F238E27FC236}">
                <a16:creationId xmlns:a16="http://schemas.microsoft.com/office/drawing/2014/main" id="{A69BF76F-A608-506A-2E9A-A19B1D2FA68C}"/>
              </a:ext>
            </a:extLst>
          </p:cNvPr>
          <p:cNvSpPr txBox="1"/>
          <p:nvPr/>
        </p:nvSpPr>
        <p:spPr>
          <a:xfrm>
            <a:off x="21717" y="3307229"/>
            <a:ext cx="12178093" cy="3046988"/>
          </a:xfrm>
          <a:prstGeom prst="rect">
            <a:avLst/>
          </a:prstGeom>
          <a:solidFill>
            <a:schemeClr val="tx1"/>
          </a:solidFill>
        </p:spPr>
        <p:txBody>
          <a:bodyPr wrap="square" rtlCol="0">
            <a:spAutoFit/>
          </a:bodyPr>
          <a:lstStyle/>
          <a:p>
            <a:r>
              <a:rPr lang="en-GB" sz="9600" b="1" dirty="0">
                <a:solidFill>
                  <a:schemeClr val="bg1"/>
                </a:solidFill>
              </a:rPr>
              <a:t>Microcontroller </a:t>
            </a:r>
          </a:p>
          <a:p>
            <a:r>
              <a:rPr lang="en-GB" sz="9600" b="1" dirty="0">
                <a:solidFill>
                  <a:schemeClr val="bg1"/>
                </a:solidFill>
              </a:rPr>
              <a:t>Basics 2</a:t>
            </a:r>
          </a:p>
        </p:txBody>
      </p:sp>
    </p:spTree>
    <p:extLst>
      <p:ext uri="{BB962C8B-B14F-4D97-AF65-F5344CB8AC3E}">
        <p14:creationId xmlns:p14="http://schemas.microsoft.com/office/powerpoint/2010/main" val="1377842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CDD182-C781-5E2C-C13E-6D3CEB0BF12E}"/>
              </a:ext>
            </a:extLst>
          </p:cNvPr>
          <p:cNvSpPr txBox="1"/>
          <p:nvPr/>
        </p:nvSpPr>
        <p:spPr>
          <a:xfrm>
            <a:off x="4857667" y="106044"/>
            <a:ext cx="7058233" cy="523220"/>
          </a:xfrm>
          <a:prstGeom prst="rect">
            <a:avLst/>
          </a:prstGeom>
          <a:noFill/>
        </p:spPr>
        <p:txBody>
          <a:bodyPr wrap="square" anchor="ctr">
            <a:spAutoFit/>
          </a:bodyPr>
          <a:lstStyle/>
          <a:p>
            <a:pPr algn="r"/>
            <a:r>
              <a:rPr lang="en-GB" sz="2800" b="1" dirty="0">
                <a:solidFill>
                  <a:schemeClr val="bg1"/>
                </a:solidFill>
                <a:latin typeface="Segoe UI" panose="020B0502040204020203" pitchFamily="34" charset="0"/>
                <a:ea typeface="Calibri" panose="020F0502020204030204" pitchFamily="34" charset="0"/>
                <a:cs typeface="Segoe UI" panose="020B0502040204020203" pitchFamily="34" charset="0"/>
              </a:rPr>
              <a:t>Introduction</a:t>
            </a:r>
          </a:p>
        </p:txBody>
      </p:sp>
      <p:sp>
        <p:nvSpPr>
          <p:cNvPr id="3" name="TextBox 2">
            <a:extLst>
              <a:ext uri="{FF2B5EF4-FFF2-40B4-BE49-F238E27FC236}">
                <a16:creationId xmlns:a16="http://schemas.microsoft.com/office/drawing/2014/main" id="{80469E50-E58C-4A57-ECF9-C0C1DD8F674F}"/>
              </a:ext>
            </a:extLst>
          </p:cNvPr>
          <p:cNvSpPr txBox="1"/>
          <p:nvPr/>
        </p:nvSpPr>
        <p:spPr>
          <a:xfrm>
            <a:off x="516073" y="1430151"/>
            <a:ext cx="5362213" cy="4801314"/>
          </a:xfrm>
          <a:prstGeom prst="rect">
            <a:avLst/>
          </a:prstGeom>
          <a:noFill/>
        </p:spPr>
        <p:txBody>
          <a:bodyPr wrap="square" rtlCol="0">
            <a:spAutoFit/>
          </a:bodyPr>
          <a:lstStyle/>
          <a:p>
            <a:r>
              <a:rPr lang="en-GB" dirty="0">
                <a:latin typeface="Segoe UI" panose="020B0502040204020203" pitchFamily="34" charset="0"/>
                <a:ea typeface="Calibri" panose="020F0502020204030204" pitchFamily="34" charset="0"/>
                <a:cs typeface="Segoe UI" panose="020B0502040204020203" pitchFamily="34" charset="0"/>
              </a:rPr>
              <a:t>In this presentation we talk about:</a:t>
            </a:r>
          </a:p>
          <a:p>
            <a:pPr marL="285750" indent="-285750">
              <a:buFont typeface="Arial" panose="020B0604020202020204" pitchFamily="34" charset="0"/>
              <a:buChar char="•"/>
            </a:pPr>
            <a:r>
              <a:rPr lang="en-GB" dirty="0">
                <a:latin typeface="Segoe UI" panose="020B0502040204020203" pitchFamily="34" charset="0"/>
                <a:ea typeface="Calibri" panose="020F0502020204030204" pitchFamily="34" charset="0"/>
                <a:cs typeface="Segoe UI" panose="020B0502040204020203" pitchFamily="34" charset="0"/>
              </a:rPr>
              <a:t>How microcontrollers work</a:t>
            </a:r>
          </a:p>
          <a:p>
            <a:pPr marL="285750" indent="-285750">
              <a:buFont typeface="Arial" panose="020B0604020202020204" pitchFamily="34" charset="0"/>
              <a:buChar char="•"/>
            </a:pPr>
            <a:r>
              <a:rPr lang="en-GB" dirty="0">
                <a:latin typeface="Segoe UI" panose="020B0502040204020203" pitchFamily="34" charset="0"/>
                <a:ea typeface="Calibri" panose="020F0502020204030204" pitchFamily="34" charset="0"/>
                <a:cs typeface="Segoe UI" panose="020B0502040204020203" pitchFamily="34" charset="0"/>
              </a:rPr>
              <a:t>The analogue and digital world</a:t>
            </a:r>
          </a:p>
          <a:p>
            <a:pPr marL="285750" indent="-285750">
              <a:buFont typeface="Arial" panose="020B0604020202020204" pitchFamily="34" charset="0"/>
              <a:buChar char="•"/>
            </a:pPr>
            <a:r>
              <a:rPr lang="en-GB" dirty="0">
                <a:latin typeface="Segoe UI" panose="020B0502040204020203" pitchFamily="34" charset="0"/>
                <a:ea typeface="Calibri" panose="020F0502020204030204" pitchFamily="34" charset="0"/>
                <a:cs typeface="Segoe UI" panose="020B0502040204020203" pitchFamily="34" charset="0"/>
              </a:rPr>
              <a:t>What is inside a microcontroller</a:t>
            </a:r>
          </a:p>
          <a:p>
            <a:pPr marL="285750" indent="-285750">
              <a:buFont typeface="Arial" panose="020B0604020202020204" pitchFamily="34" charset="0"/>
              <a:buChar char="•"/>
            </a:pPr>
            <a:r>
              <a:rPr lang="en-GB" dirty="0">
                <a:latin typeface="Segoe UI" panose="020B0502040204020203" pitchFamily="34" charset="0"/>
                <a:ea typeface="Calibri" panose="020F0502020204030204" pitchFamily="34" charset="0"/>
                <a:cs typeface="Segoe UI" panose="020B0502040204020203" pitchFamily="34" charset="0"/>
              </a:rPr>
              <a:t>Microcontroller circuits</a:t>
            </a:r>
          </a:p>
          <a:p>
            <a:pPr marL="285750" indent="-285750">
              <a:buFont typeface="Arial" panose="020B0604020202020204" pitchFamily="34" charset="0"/>
              <a:buChar char="•"/>
            </a:pPr>
            <a:r>
              <a:rPr lang="en-GB" dirty="0">
                <a:latin typeface="Segoe UI" panose="020B0502040204020203" pitchFamily="34" charset="0"/>
                <a:ea typeface="Calibri" panose="020F0502020204030204" pitchFamily="34" charset="0"/>
                <a:cs typeface="Segoe UI" panose="020B0502040204020203" pitchFamily="34" charset="0"/>
              </a:rPr>
              <a:t>Microcontroller connections</a:t>
            </a:r>
          </a:p>
          <a:p>
            <a:pPr marL="285750" indent="-285750">
              <a:buFont typeface="Arial" panose="020B0604020202020204" pitchFamily="34" charset="0"/>
              <a:buChar char="•"/>
            </a:pPr>
            <a:r>
              <a:rPr lang="en-GB" dirty="0">
                <a:latin typeface="Segoe UI" panose="020B0502040204020203" pitchFamily="34" charset="0"/>
                <a:ea typeface="Calibri" panose="020F0502020204030204" pitchFamily="34" charset="0"/>
                <a:cs typeface="Segoe UI" panose="020B0502040204020203" pitchFamily="34" charset="0"/>
              </a:rPr>
              <a:t>Microcontroller internal peripherals</a:t>
            </a:r>
          </a:p>
          <a:p>
            <a:pPr marL="285750" indent="-285750">
              <a:buFont typeface="Arial" panose="020B0604020202020204" pitchFamily="34" charset="0"/>
              <a:buChar char="•"/>
            </a:pPr>
            <a:r>
              <a:rPr lang="en-GB" dirty="0">
                <a:latin typeface="Segoe UI" panose="020B0502040204020203" pitchFamily="34" charset="0"/>
                <a:ea typeface="Calibri" panose="020F0502020204030204" pitchFamily="34" charset="0"/>
                <a:cs typeface="Segoe UI" panose="020B0502040204020203" pitchFamily="34" charset="0"/>
              </a:rPr>
              <a:t>The capability of different microcontrollers</a:t>
            </a:r>
          </a:p>
          <a:p>
            <a:pPr marL="285750" indent="-285750">
              <a:buFont typeface="Arial" panose="020B0604020202020204" pitchFamily="34" charset="0"/>
              <a:buChar char="•"/>
            </a:pPr>
            <a:r>
              <a:rPr lang="en-GB" dirty="0">
                <a:latin typeface="Segoe UI" panose="020B0502040204020203" pitchFamily="34" charset="0"/>
                <a:ea typeface="Calibri" panose="020F0502020204030204" pitchFamily="34" charset="0"/>
                <a:cs typeface="Segoe UI" panose="020B0502040204020203" pitchFamily="34" charset="0"/>
              </a:rPr>
              <a:t>How you need to know the capability and pin connections of the microcontroller you use</a:t>
            </a:r>
          </a:p>
          <a:p>
            <a:pPr marL="285750" indent="-285750">
              <a:buFont typeface="Arial" panose="020B0604020202020204" pitchFamily="34" charset="0"/>
              <a:buChar char="•"/>
            </a:pPr>
            <a:endParaRPr lang="en-GB" dirty="0">
              <a:latin typeface="Segoe UI" panose="020B0502040204020203" pitchFamily="34" charset="0"/>
              <a:ea typeface="Calibri" panose="020F0502020204030204" pitchFamily="34" charset="0"/>
              <a:cs typeface="Segoe UI" panose="020B0502040204020203" pitchFamily="34" charset="0"/>
            </a:endParaRPr>
          </a:p>
          <a:p>
            <a:pPr marL="285750" indent="-285750">
              <a:buFont typeface="Arial" panose="020B0604020202020204" pitchFamily="34" charset="0"/>
              <a:buChar char="•"/>
            </a:pPr>
            <a:endParaRPr lang="en-GB" dirty="0">
              <a:latin typeface="Segoe UI" panose="020B0502040204020203" pitchFamily="34" charset="0"/>
              <a:ea typeface="Calibri" panose="020F0502020204030204" pitchFamily="34" charset="0"/>
              <a:cs typeface="Segoe UI" panose="020B0502040204020203" pitchFamily="34" charset="0"/>
            </a:endParaRPr>
          </a:p>
          <a:p>
            <a:pPr marL="285750" indent="-285750">
              <a:buFont typeface="Arial" panose="020B0604020202020204" pitchFamily="34" charset="0"/>
              <a:buChar char="•"/>
            </a:pPr>
            <a:endParaRPr lang="en-GB" dirty="0">
              <a:latin typeface="Segoe UI" panose="020B0502040204020203" pitchFamily="34" charset="0"/>
              <a:ea typeface="Calibri" panose="020F0502020204030204" pitchFamily="34" charset="0"/>
              <a:cs typeface="Segoe UI" panose="020B0502040204020203" pitchFamily="34" charset="0"/>
            </a:endParaRPr>
          </a:p>
          <a:p>
            <a:pPr marL="285750" indent="-285750">
              <a:buFont typeface="Arial" panose="020B0604020202020204" pitchFamily="34" charset="0"/>
              <a:buChar char="•"/>
            </a:pPr>
            <a:endParaRPr lang="en-GB" dirty="0">
              <a:latin typeface="Segoe UI" panose="020B0502040204020203" pitchFamily="34" charset="0"/>
              <a:ea typeface="Calibri" panose="020F0502020204030204" pitchFamily="34" charset="0"/>
              <a:cs typeface="Segoe UI" panose="020B0502040204020203" pitchFamily="34" charset="0"/>
            </a:endParaRPr>
          </a:p>
          <a:p>
            <a:pPr marL="285750" indent="-285750">
              <a:buFont typeface="Arial" panose="020B0604020202020204" pitchFamily="34" charset="0"/>
              <a:buChar char="•"/>
            </a:pPr>
            <a:endParaRPr lang="en-GB" dirty="0">
              <a:latin typeface="Segoe UI" panose="020B0502040204020203" pitchFamily="34" charset="0"/>
              <a:ea typeface="Calibri" panose="020F0502020204030204" pitchFamily="34" charset="0"/>
              <a:cs typeface="Segoe UI" panose="020B0502040204020203" pitchFamily="34" charset="0"/>
            </a:endParaRPr>
          </a:p>
          <a:p>
            <a:pPr marL="285750" indent="-285750">
              <a:buFont typeface="Arial" panose="020B0604020202020204" pitchFamily="34" charset="0"/>
              <a:buChar char="•"/>
            </a:pPr>
            <a:endParaRPr lang="en-GB" dirty="0">
              <a:latin typeface="Segoe UI" panose="020B0502040204020203" pitchFamily="34" charset="0"/>
              <a:ea typeface="Calibri" panose="020F0502020204030204" pitchFamily="34" charset="0"/>
              <a:cs typeface="Segoe UI" panose="020B0502040204020203" pitchFamily="34" charset="0"/>
            </a:endParaRPr>
          </a:p>
          <a:p>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14542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27D8E18-98A9-6B6A-623A-952D6B2BC569}"/>
              </a:ext>
            </a:extLst>
          </p:cNvPr>
          <p:cNvSpPr txBox="1"/>
          <p:nvPr/>
        </p:nvSpPr>
        <p:spPr>
          <a:xfrm>
            <a:off x="4857667" y="106044"/>
            <a:ext cx="7058233" cy="523220"/>
          </a:xfrm>
          <a:prstGeom prst="rect">
            <a:avLst/>
          </a:prstGeom>
          <a:noFill/>
        </p:spPr>
        <p:txBody>
          <a:bodyPr wrap="square" anchor="ctr">
            <a:spAutoFit/>
          </a:bodyPr>
          <a:lstStyle/>
          <a:p>
            <a:pPr algn="r"/>
            <a:r>
              <a:rPr lang="en-GB" sz="2800" b="1" dirty="0">
                <a:solidFill>
                  <a:schemeClr val="bg1"/>
                </a:solidFill>
                <a:latin typeface="Segoe UI" panose="020B0502040204020203" pitchFamily="34" charset="0"/>
                <a:ea typeface="Calibri" panose="020F0502020204030204" pitchFamily="34" charset="0"/>
                <a:cs typeface="Segoe UI" panose="020B0502040204020203" pitchFamily="34" charset="0"/>
              </a:rPr>
              <a:t>Introduction</a:t>
            </a:r>
          </a:p>
        </p:txBody>
      </p:sp>
      <p:sp>
        <p:nvSpPr>
          <p:cNvPr id="4" name="TextBox 3">
            <a:extLst>
              <a:ext uri="{FF2B5EF4-FFF2-40B4-BE49-F238E27FC236}">
                <a16:creationId xmlns:a16="http://schemas.microsoft.com/office/drawing/2014/main" id="{63FDF4EA-D751-E7B1-14A3-84FEEF525DFE}"/>
              </a:ext>
            </a:extLst>
          </p:cNvPr>
          <p:cNvSpPr txBox="1"/>
          <p:nvPr/>
        </p:nvSpPr>
        <p:spPr>
          <a:xfrm>
            <a:off x="399960" y="1154380"/>
            <a:ext cx="3323656" cy="5078313"/>
          </a:xfrm>
          <a:prstGeom prst="rect">
            <a:avLst/>
          </a:prstGeom>
          <a:noFill/>
        </p:spPr>
        <p:txBody>
          <a:bodyPr wrap="square" rtlCol="0">
            <a:spAutoFit/>
          </a:bodyPr>
          <a:lstStyle/>
          <a:p>
            <a:r>
              <a:rPr lang="en-GB" b="1" dirty="0"/>
              <a:t>Microcontrollers</a:t>
            </a:r>
            <a:r>
              <a:rPr lang="en-GB" dirty="0"/>
              <a:t> are tiny devices used to control other electronic devices. They are found in a huge range of products. In automotive  systems they can be found in engines, anti-lock brakes and climate control systems. In domestic electronics they can be found in TVs, VCRs, digital cameras, mobile phones, printers, microwave ovens, dishwashers and washing machines. </a:t>
            </a:r>
          </a:p>
          <a:p>
            <a:pPr marL="285750" indent="-285750">
              <a:buFont typeface="Arial" panose="020B0604020202020204" pitchFamily="34" charset="0"/>
              <a:buChar char="•"/>
            </a:pPr>
            <a:endParaRPr lang="en-GB" dirty="0">
              <a:latin typeface="Segoe UI" panose="020B0502040204020203" pitchFamily="34" charset="0"/>
              <a:ea typeface="Calibri" panose="020F0502020204030204" pitchFamily="34" charset="0"/>
              <a:cs typeface="Segoe UI" panose="020B0502040204020203" pitchFamily="34" charset="0"/>
            </a:endParaRPr>
          </a:p>
          <a:p>
            <a:pPr marL="285750" indent="-285750">
              <a:buFont typeface="Arial" panose="020B0604020202020204" pitchFamily="34" charset="0"/>
              <a:buChar char="•"/>
            </a:pPr>
            <a:endParaRPr lang="en-GB" dirty="0">
              <a:latin typeface="Segoe UI" panose="020B0502040204020203" pitchFamily="34" charset="0"/>
              <a:ea typeface="Calibri" panose="020F0502020204030204" pitchFamily="34" charset="0"/>
              <a:cs typeface="Segoe UI" panose="020B0502040204020203" pitchFamily="34" charset="0"/>
            </a:endParaRPr>
          </a:p>
          <a:p>
            <a:pPr marL="285750" indent="-285750">
              <a:buFont typeface="Arial" panose="020B0604020202020204" pitchFamily="34" charset="0"/>
              <a:buChar char="•"/>
            </a:pPr>
            <a:endParaRPr lang="en-GB" dirty="0">
              <a:latin typeface="Segoe UI" panose="020B0502040204020203" pitchFamily="34" charset="0"/>
              <a:ea typeface="Calibri" panose="020F0502020204030204" pitchFamily="34" charset="0"/>
              <a:cs typeface="Segoe UI" panose="020B0502040204020203" pitchFamily="34" charset="0"/>
            </a:endParaRPr>
          </a:p>
          <a:p>
            <a:pPr marL="285750" indent="-285750">
              <a:buFont typeface="Arial" panose="020B0604020202020204" pitchFamily="34" charset="0"/>
              <a:buChar char="•"/>
            </a:pPr>
            <a:endParaRPr lang="en-GB" dirty="0">
              <a:latin typeface="Segoe UI" panose="020B0502040204020203" pitchFamily="34" charset="0"/>
              <a:ea typeface="Calibri" panose="020F0502020204030204" pitchFamily="34" charset="0"/>
              <a:cs typeface="Segoe UI" panose="020B0502040204020203" pitchFamily="34" charset="0"/>
            </a:endParaRPr>
          </a:p>
          <a:p>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3ECC6848-0D9B-2353-2CEE-A3EE928779B9}"/>
              </a:ext>
            </a:extLst>
          </p:cNvPr>
          <p:cNvPicPr>
            <a:picLocks noChangeAspect="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3723616" y="1401123"/>
            <a:ext cx="8400298" cy="3780477"/>
          </a:xfrm>
          <a:prstGeom prst="rect">
            <a:avLst/>
          </a:prstGeom>
          <a:noFill/>
          <a:ln>
            <a:noFill/>
          </a:ln>
          <a:effectLst/>
        </p:spPr>
      </p:pic>
    </p:spTree>
    <p:extLst>
      <p:ext uri="{BB962C8B-B14F-4D97-AF65-F5344CB8AC3E}">
        <p14:creationId xmlns:p14="http://schemas.microsoft.com/office/powerpoint/2010/main" val="7199475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3CEFF2-11DB-A281-E115-5692F69E8674}"/>
              </a:ext>
            </a:extLst>
          </p:cNvPr>
          <p:cNvPicPr>
            <a:picLocks noChangeAspect="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6479630" y="2306003"/>
            <a:ext cx="3781969" cy="2520879"/>
          </a:xfrm>
          <a:prstGeom prst="rect">
            <a:avLst/>
          </a:prstGeom>
          <a:noFill/>
          <a:ln>
            <a:noFill/>
          </a:ln>
          <a:effectLst/>
        </p:spPr>
      </p:pic>
      <p:sp>
        <p:nvSpPr>
          <p:cNvPr id="4" name="TextBox 3">
            <a:extLst>
              <a:ext uri="{FF2B5EF4-FFF2-40B4-BE49-F238E27FC236}">
                <a16:creationId xmlns:a16="http://schemas.microsoft.com/office/drawing/2014/main" id="{05D204B4-2E7E-CCF3-2B12-C88F331DBAB2}"/>
              </a:ext>
            </a:extLst>
          </p:cNvPr>
          <p:cNvSpPr txBox="1"/>
          <p:nvPr/>
        </p:nvSpPr>
        <p:spPr>
          <a:xfrm>
            <a:off x="383630" y="1582340"/>
            <a:ext cx="5131799" cy="4524315"/>
          </a:xfrm>
          <a:prstGeom prst="rect">
            <a:avLst/>
          </a:prstGeom>
          <a:noFill/>
        </p:spPr>
        <p:txBody>
          <a:bodyPr wrap="square">
            <a:spAutoFit/>
          </a:bodyPr>
          <a:lstStyle/>
          <a:p>
            <a:pPr>
              <a:buNone/>
            </a:pPr>
            <a:r>
              <a:rPr lang="en-GB" sz="1800" kern="100" dirty="0">
                <a:effectLst/>
                <a:latin typeface="Arial" panose="020B0604020202020204" pitchFamily="34" charset="0"/>
                <a:ea typeface="Aptos" panose="020B0004020202020204" pitchFamily="34" charset="0"/>
              </a:rPr>
              <a:t>The name PIC, (Peripheral Interface Controller), refers to a group of microcontrollers, produced by Arizona Microchip. </a:t>
            </a:r>
          </a:p>
          <a:p>
            <a:pPr>
              <a:buNone/>
            </a:pPr>
            <a:endParaRPr lang="en-GB" sz="1800" kern="100" dirty="0">
              <a:effectLst/>
              <a:latin typeface="Arial" panose="020B0604020202020204" pitchFamily="34" charset="0"/>
              <a:ea typeface="Aptos" panose="020B0004020202020204" pitchFamily="34" charset="0"/>
            </a:endParaRPr>
          </a:p>
          <a:p>
            <a:pPr>
              <a:buNone/>
            </a:pPr>
            <a:r>
              <a:rPr lang="en-GB" sz="1800" kern="100" dirty="0">
                <a:effectLst/>
                <a:latin typeface="Arial" panose="020B0604020202020204" pitchFamily="34" charset="0"/>
                <a:ea typeface="Aptos" panose="020B0004020202020204" pitchFamily="34" charset="0"/>
              </a:rPr>
              <a:t>When we use a PIC microcontroller, we have to specify how we want the ports to behave. The ports are bi-directional, meaning that they can act as either input ports or output ports. When we write a program for the PIC, we start by configuring the ports, telling them whether they are to behave as input ports or output ports. </a:t>
            </a:r>
          </a:p>
          <a:p>
            <a:pPr>
              <a:buNone/>
            </a:pPr>
            <a:endParaRPr lang="en-GB" sz="1800" kern="100" dirty="0">
              <a:effectLst/>
              <a:latin typeface="Arial" panose="020B0604020202020204" pitchFamily="34" charset="0"/>
              <a:ea typeface="Aptos" panose="020B0004020202020204" pitchFamily="34" charset="0"/>
            </a:endParaRPr>
          </a:p>
          <a:p>
            <a:pPr>
              <a:buNone/>
            </a:pPr>
            <a:r>
              <a:rPr lang="en-GB" sz="1800" kern="100" dirty="0">
                <a:effectLst/>
                <a:latin typeface="Arial" panose="020B0604020202020204" pitchFamily="34" charset="0"/>
                <a:ea typeface="Aptos" panose="020B0004020202020204" pitchFamily="34" charset="0"/>
              </a:rPr>
              <a:t>The input port can receive data (information) in one of two forms, as an analogue signal, or as a digital signal. It is important that we understand clearly the difference between these. </a:t>
            </a:r>
          </a:p>
        </p:txBody>
      </p:sp>
      <p:sp>
        <p:nvSpPr>
          <p:cNvPr id="5" name="TextBox 4">
            <a:extLst>
              <a:ext uri="{FF2B5EF4-FFF2-40B4-BE49-F238E27FC236}">
                <a16:creationId xmlns:a16="http://schemas.microsoft.com/office/drawing/2014/main" id="{D086782B-C54B-E32B-698E-825B3AD0DA59}"/>
              </a:ext>
            </a:extLst>
          </p:cNvPr>
          <p:cNvSpPr txBox="1"/>
          <p:nvPr/>
        </p:nvSpPr>
        <p:spPr>
          <a:xfrm>
            <a:off x="4857667" y="106044"/>
            <a:ext cx="7058233" cy="523220"/>
          </a:xfrm>
          <a:prstGeom prst="rect">
            <a:avLst/>
          </a:prstGeom>
          <a:noFill/>
        </p:spPr>
        <p:txBody>
          <a:bodyPr wrap="square" anchor="ctr">
            <a:spAutoFit/>
          </a:bodyPr>
          <a:lstStyle/>
          <a:p>
            <a:pPr algn="r"/>
            <a:r>
              <a:rPr lang="en-GB" sz="2800" b="1" dirty="0">
                <a:solidFill>
                  <a:schemeClr val="bg1"/>
                </a:solidFill>
                <a:latin typeface="Segoe UI" panose="020B0502040204020203" pitchFamily="34" charset="0"/>
                <a:ea typeface="Calibri" panose="020F0502020204030204" pitchFamily="34" charset="0"/>
                <a:cs typeface="Segoe UI" panose="020B0502040204020203" pitchFamily="34" charset="0"/>
              </a:rPr>
              <a:t>PIC and AVR/Arduino</a:t>
            </a:r>
          </a:p>
        </p:txBody>
      </p:sp>
    </p:spTree>
    <p:extLst>
      <p:ext uri="{BB962C8B-B14F-4D97-AF65-F5344CB8AC3E}">
        <p14:creationId xmlns:p14="http://schemas.microsoft.com/office/powerpoint/2010/main" val="1502343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1ECF08C-6577-0732-0931-75EBC52EDD6F}"/>
              </a:ext>
            </a:extLst>
          </p:cNvPr>
          <p:cNvGraphicFramePr>
            <a:graphicFrameLocks noGrp="1"/>
          </p:cNvGraphicFramePr>
          <p:nvPr>
            <p:extLst>
              <p:ext uri="{D42A27DB-BD31-4B8C-83A1-F6EECF244321}">
                <p14:modId xmlns:p14="http://schemas.microsoft.com/office/powerpoint/2010/main" val="731046685"/>
              </p:ext>
            </p:extLst>
          </p:nvPr>
        </p:nvGraphicFramePr>
        <p:xfrm>
          <a:off x="7272700" y="1680209"/>
          <a:ext cx="3525929" cy="3472364"/>
        </p:xfrm>
        <a:graphic>
          <a:graphicData uri="http://schemas.openxmlformats.org/drawingml/2006/table">
            <a:tbl>
              <a:tblPr firstRow="1" firstCol="1" bandRow="1">
                <a:tableStyleId>{5C22544A-7EE6-4342-B048-85BDC9FD1C3A}</a:tableStyleId>
              </a:tblPr>
              <a:tblGrid>
                <a:gridCol w="1299388">
                  <a:extLst>
                    <a:ext uri="{9D8B030D-6E8A-4147-A177-3AD203B41FA5}">
                      <a16:colId xmlns:a16="http://schemas.microsoft.com/office/drawing/2014/main" val="1586587411"/>
                    </a:ext>
                  </a:extLst>
                </a:gridCol>
                <a:gridCol w="2226541">
                  <a:extLst>
                    <a:ext uri="{9D8B030D-6E8A-4147-A177-3AD203B41FA5}">
                      <a16:colId xmlns:a16="http://schemas.microsoft.com/office/drawing/2014/main" val="1721978688"/>
                    </a:ext>
                  </a:extLst>
                </a:gridCol>
              </a:tblGrid>
              <a:tr h="441295">
                <a:tc>
                  <a:txBody>
                    <a:bodyPr/>
                    <a:lstStyle/>
                    <a:p>
                      <a:pPr algn="ctr">
                        <a:lnSpc>
                          <a:spcPct val="107000"/>
                        </a:lnSpc>
                        <a:buNone/>
                      </a:pPr>
                      <a:r>
                        <a:rPr lang="en-GB" sz="1400" kern="100" dirty="0">
                          <a:effectLst/>
                        </a:rPr>
                        <a:t>Time in seconds</a:t>
                      </a:r>
                      <a:endParaRPr lang="en-GB" sz="1800" kern="100" dirty="0">
                        <a:effectLst/>
                        <a:latin typeface="Arial" panose="020B0604020202020204" pitchFamily="34" charset="0"/>
                        <a:ea typeface="Aptos" panose="020B0004020202020204" pitchFamily="34" charset="0"/>
                      </a:endParaRPr>
                    </a:p>
                  </a:txBody>
                  <a:tcPr marL="28575" marR="28575" marT="28575" marB="28575" anchor="ctr"/>
                </a:tc>
                <a:tc>
                  <a:txBody>
                    <a:bodyPr/>
                    <a:lstStyle/>
                    <a:p>
                      <a:pPr algn="ctr">
                        <a:lnSpc>
                          <a:spcPct val="107000"/>
                        </a:lnSpc>
                        <a:buNone/>
                      </a:pPr>
                      <a:r>
                        <a:rPr lang="en-GB" sz="1400" kern="100">
                          <a:effectLst/>
                        </a:rPr>
                        <a:t>Speed in kilometres per hour</a:t>
                      </a:r>
                      <a:endParaRPr lang="en-GB" sz="1800" kern="100">
                        <a:effectLst/>
                        <a:latin typeface="Arial" panose="020B0604020202020204" pitchFamily="34" charset="0"/>
                        <a:ea typeface="Aptos" panose="020B0004020202020204" pitchFamily="34" charset="0"/>
                      </a:endParaRPr>
                    </a:p>
                  </a:txBody>
                  <a:tcPr marL="28575" marR="28575" marT="28575" marB="28575" anchor="ctr"/>
                </a:tc>
                <a:extLst>
                  <a:ext uri="{0D108BD9-81ED-4DB2-BD59-A6C34878D82A}">
                    <a16:rowId xmlns:a16="http://schemas.microsoft.com/office/drawing/2014/main" val="855878277"/>
                  </a:ext>
                </a:extLst>
              </a:tr>
              <a:tr h="428687">
                <a:tc>
                  <a:txBody>
                    <a:bodyPr/>
                    <a:lstStyle/>
                    <a:p>
                      <a:pPr algn="ctr">
                        <a:lnSpc>
                          <a:spcPct val="107000"/>
                        </a:lnSpc>
                        <a:buNone/>
                      </a:pPr>
                      <a:r>
                        <a:rPr lang="en-GB" sz="1400" kern="100">
                          <a:effectLst/>
                        </a:rPr>
                        <a:t>0</a:t>
                      </a:r>
                      <a:endParaRPr lang="en-GB" sz="1800" kern="100">
                        <a:effectLst/>
                        <a:latin typeface="Arial" panose="020B0604020202020204" pitchFamily="34" charset="0"/>
                        <a:ea typeface="Aptos" panose="020B0004020202020204" pitchFamily="34" charset="0"/>
                      </a:endParaRPr>
                    </a:p>
                  </a:txBody>
                  <a:tcPr marL="28575" marR="28575" marT="28575" marB="28575" anchor="ctr"/>
                </a:tc>
                <a:tc>
                  <a:txBody>
                    <a:bodyPr/>
                    <a:lstStyle/>
                    <a:p>
                      <a:pPr algn="ctr">
                        <a:lnSpc>
                          <a:spcPct val="107000"/>
                        </a:lnSpc>
                        <a:buNone/>
                      </a:pPr>
                      <a:r>
                        <a:rPr lang="en-GB" sz="1400" kern="100" dirty="0">
                          <a:effectLst/>
                        </a:rPr>
                        <a:t>0</a:t>
                      </a:r>
                      <a:endParaRPr lang="en-GB" sz="1800" kern="100" dirty="0">
                        <a:effectLst/>
                        <a:latin typeface="Arial" panose="020B0604020202020204" pitchFamily="34" charset="0"/>
                        <a:ea typeface="Aptos" panose="020B0004020202020204" pitchFamily="34" charset="0"/>
                      </a:endParaRPr>
                    </a:p>
                  </a:txBody>
                  <a:tcPr marL="28575" marR="28575" marT="28575" marB="28575" anchor="ctr"/>
                </a:tc>
                <a:extLst>
                  <a:ext uri="{0D108BD9-81ED-4DB2-BD59-A6C34878D82A}">
                    <a16:rowId xmlns:a16="http://schemas.microsoft.com/office/drawing/2014/main" val="3523993640"/>
                  </a:ext>
                </a:extLst>
              </a:tr>
              <a:tr h="428687">
                <a:tc>
                  <a:txBody>
                    <a:bodyPr/>
                    <a:lstStyle/>
                    <a:p>
                      <a:pPr algn="ctr">
                        <a:lnSpc>
                          <a:spcPct val="107000"/>
                        </a:lnSpc>
                        <a:buNone/>
                      </a:pPr>
                      <a:r>
                        <a:rPr lang="en-GB" sz="1400" kern="100">
                          <a:effectLst/>
                        </a:rPr>
                        <a:t>10</a:t>
                      </a:r>
                      <a:endParaRPr lang="en-GB" sz="1800" kern="100">
                        <a:effectLst/>
                        <a:latin typeface="Arial" panose="020B0604020202020204" pitchFamily="34" charset="0"/>
                        <a:ea typeface="Aptos" panose="020B0004020202020204" pitchFamily="34" charset="0"/>
                      </a:endParaRPr>
                    </a:p>
                  </a:txBody>
                  <a:tcPr marL="28575" marR="28575" marT="28575" marB="28575" anchor="ctr"/>
                </a:tc>
                <a:tc>
                  <a:txBody>
                    <a:bodyPr/>
                    <a:lstStyle/>
                    <a:p>
                      <a:pPr algn="ctr">
                        <a:lnSpc>
                          <a:spcPct val="107000"/>
                        </a:lnSpc>
                        <a:buNone/>
                      </a:pPr>
                      <a:r>
                        <a:rPr lang="en-GB" sz="1400" kern="100" dirty="0">
                          <a:effectLst/>
                        </a:rPr>
                        <a:t>15</a:t>
                      </a:r>
                      <a:endParaRPr lang="en-GB" sz="1800" kern="100" dirty="0">
                        <a:effectLst/>
                        <a:latin typeface="Arial" panose="020B0604020202020204" pitchFamily="34" charset="0"/>
                        <a:ea typeface="Aptos" panose="020B0004020202020204" pitchFamily="34" charset="0"/>
                      </a:endParaRPr>
                    </a:p>
                  </a:txBody>
                  <a:tcPr marL="28575" marR="28575" marT="28575" marB="28575" anchor="ctr"/>
                </a:tc>
                <a:extLst>
                  <a:ext uri="{0D108BD9-81ED-4DB2-BD59-A6C34878D82A}">
                    <a16:rowId xmlns:a16="http://schemas.microsoft.com/office/drawing/2014/main" val="924925249"/>
                  </a:ext>
                </a:extLst>
              </a:tr>
              <a:tr h="428687">
                <a:tc>
                  <a:txBody>
                    <a:bodyPr/>
                    <a:lstStyle/>
                    <a:p>
                      <a:pPr algn="ctr">
                        <a:lnSpc>
                          <a:spcPct val="107000"/>
                        </a:lnSpc>
                        <a:buNone/>
                      </a:pPr>
                      <a:r>
                        <a:rPr lang="en-GB" sz="1400" kern="100">
                          <a:effectLst/>
                        </a:rPr>
                        <a:t>20</a:t>
                      </a:r>
                      <a:endParaRPr lang="en-GB" sz="1800" kern="100">
                        <a:effectLst/>
                        <a:latin typeface="Arial" panose="020B0604020202020204" pitchFamily="34" charset="0"/>
                        <a:ea typeface="Aptos" panose="020B0004020202020204" pitchFamily="34" charset="0"/>
                      </a:endParaRPr>
                    </a:p>
                  </a:txBody>
                  <a:tcPr marL="28575" marR="28575" marT="28575" marB="28575" anchor="ctr"/>
                </a:tc>
                <a:tc>
                  <a:txBody>
                    <a:bodyPr/>
                    <a:lstStyle/>
                    <a:p>
                      <a:pPr algn="ctr">
                        <a:lnSpc>
                          <a:spcPct val="107000"/>
                        </a:lnSpc>
                        <a:buNone/>
                      </a:pPr>
                      <a:r>
                        <a:rPr lang="en-GB" sz="1400" kern="100" dirty="0">
                          <a:effectLst/>
                        </a:rPr>
                        <a:t>21</a:t>
                      </a:r>
                      <a:endParaRPr lang="en-GB" sz="1800" kern="100" dirty="0">
                        <a:effectLst/>
                        <a:latin typeface="Arial" panose="020B0604020202020204" pitchFamily="34" charset="0"/>
                        <a:ea typeface="Aptos" panose="020B0004020202020204" pitchFamily="34" charset="0"/>
                      </a:endParaRPr>
                    </a:p>
                  </a:txBody>
                  <a:tcPr marL="28575" marR="28575" marT="28575" marB="28575" anchor="ctr"/>
                </a:tc>
                <a:extLst>
                  <a:ext uri="{0D108BD9-81ED-4DB2-BD59-A6C34878D82A}">
                    <a16:rowId xmlns:a16="http://schemas.microsoft.com/office/drawing/2014/main" val="3533542852"/>
                  </a:ext>
                </a:extLst>
              </a:tr>
              <a:tr h="428687">
                <a:tc>
                  <a:txBody>
                    <a:bodyPr/>
                    <a:lstStyle/>
                    <a:p>
                      <a:pPr algn="ctr">
                        <a:lnSpc>
                          <a:spcPct val="107000"/>
                        </a:lnSpc>
                        <a:buNone/>
                      </a:pPr>
                      <a:r>
                        <a:rPr lang="en-GB" sz="1400" kern="100">
                          <a:effectLst/>
                        </a:rPr>
                        <a:t>30</a:t>
                      </a:r>
                      <a:endParaRPr lang="en-GB" sz="1800" kern="100">
                        <a:effectLst/>
                        <a:latin typeface="Arial" panose="020B0604020202020204" pitchFamily="34" charset="0"/>
                        <a:ea typeface="Aptos" panose="020B0004020202020204" pitchFamily="34" charset="0"/>
                      </a:endParaRPr>
                    </a:p>
                  </a:txBody>
                  <a:tcPr marL="28575" marR="28575" marT="28575" marB="28575" anchor="ctr"/>
                </a:tc>
                <a:tc>
                  <a:txBody>
                    <a:bodyPr/>
                    <a:lstStyle/>
                    <a:p>
                      <a:pPr algn="ctr">
                        <a:lnSpc>
                          <a:spcPct val="107000"/>
                        </a:lnSpc>
                        <a:buNone/>
                      </a:pPr>
                      <a:r>
                        <a:rPr lang="en-GB" sz="1400" kern="100" dirty="0">
                          <a:effectLst/>
                        </a:rPr>
                        <a:t>25</a:t>
                      </a:r>
                      <a:endParaRPr lang="en-GB" sz="1800" kern="100" dirty="0">
                        <a:effectLst/>
                        <a:latin typeface="Arial" panose="020B0604020202020204" pitchFamily="34" charset="0"/>
                        <a:ea typeface="Aptos" panose="020B0004020202020204" pitchFamily="34" charset="0"/>
                      </a:endParaRPr>
                    </a:p>
                  </a:txBody>
                  <a:tcPr marL="28575" marR="28575" marT="28575" marB="28575" anchor="ctr"/>
                </a:tc>
                <a:extLst>
                  <a:ext uri="{0D108BD9-81ED-4DB2-BD59-A6C34878D82A}">
                    <a16:rowId xmlns:a16="http://schemas.microsoft.com/office/drawing/2014/main" val="4055168972"/>
                  </a:ext>
                </a:extLst>
              </a:tr>
              <a:tr h="428687">
                <a:tc>
                  <a:txBody>
                    <a:bodyPr/>
                    <a:lstStyle/>
                    <a:p>
                      <a:pPr algn="ctr">
                        <a:lnSpc>
                          <a:spcPct val="107000"/>
                        </a:lnSpc>
                        <a:buNone/>
                      </a:pPr>
                      <a:r>
                        <a:rPr lang="en-GB" sz="1400" kern="100">
                          <a:effectLst/>
                        </a:rPr>
                        <a:t>40</a:t>
                      </a:r>
                      <a:endParaRPr lang="en-GB" sz="1800" kern="100">
                        <a:effectLst/>
                        <a:latin typeface="Arial" panose="020B0604020202020204" pitchFamily="34" charset="0"/>
                        <a:ea typeface="Aptos" panose="020B0004020202020204" pitchFamily="34" charset="0"/>
                      </a:endParaRPr>
                    </a:p>
                  </a:txBody>
                  <a:tcPr marL="28575" marR="28575" marT="28575" marB="28575" anchor="ctr"/>
                </a:tc>
                <a:tc>
                  <a:txBody>
                    <a:bodyPr/>
                    <a:lstStyle/>
                    <a:p>
                      <a:pPr algn="ctr">
                        <a:lnSpc>
                          <a:spcPct val="107000"/>
                        </a:lnSpc>
                        <a:buNone/>
                      </a:pPr>
                      <a:r>
                        <a:rPr lang="en-GB" sz="1400" kern="100" dirty="0">
                          <a:effectLst/>
                        </a:rPr>
                        <a:t>22</a:t>
                      </a:r>
                      <a:endParaRPr lang="en-GB" sz="1800" kern="100" dirty="0">
                        <a:effectLst/>
                        <a:latin typeface="Arial" panose="020B0604020202020204" pitchFamily="34" charset="0"/>
                        <a:ea typeface="Aptos" panose="020B0004020202020204" pitchFamily="34" charset="0"/>
                      </a:endParaRPr>
                    </a:p>
                  </a:txBody>
                  <a:tcPr marL="28575" marR="28575" marT="28575" marB="28575" anchor="ctr"/>
                </a:tc>
                <a:extLst>
                  <a:ext uri="{0D108BD9-81ED-4DB2-BD59-A6C34878D82A}">
                    <a16:rowId xmlns:a16="http://schemas.microsoft.com/office/drawing/2014/main" val="2913507227"/>
                  </a:ext>
                </a:extLst>
              </a:tr>
              <a:tr h="428687">
                <a:tc>
                  <a:txBody>
                    <a:bodyPr/>
                    <a:lstStyle/>
                    <a:p>
                      <a:pPr algn="ctr">
                        <a:lnSpc>
                          <a:spcPct val="107000"/>
                        </a:lnSpc>
                        <a:buNone/>
                      </a:pPr>
                      <a:r>
                        <a:rPr lang="en-GB" sz="1400" kern="100">
                          <a:effectLst/>
                        </a:rPr>
                        <a:t>50</a:t>
                      </a:r>
                      <a:endParaRPr lang="en-GB" sz="1800" kern="100">
                        <a:effectLst/>
                        <a:latin typeface="Arial" panose="020B0604020202020204" pitchFamily="34" charset="0"/>
                        <a:ea typeface="Aptos" panose="020B0004020202020204" pitchFamily="34" charset="0"/>
                      </a:endParaRPr>
                    </a:p>
                  </a:txBody>
                  <a:tcPr marL="28575" marR="28575" marT="28575" marB="28575" anchor="ctr"/>
                </a:tc>
                <a:tc>
                  <a:txBody>
                    <a:bodyPr/>
                    <a:lstStyle/>
                    <a:p>
                      <a:pPr algn="ctr">
                        <a:lnSpc>
                          <a:spcPct val="107000"/>
                        </a:lnSpc>
                        <a:buNone/>
                      </a:pPr>
                      <a:r>
                        <a:rPr lang="en-GB" sz="1400" kern="100" dirty="0">
                          <a:effectLst/>
                        </a:rPr>
                        <a:t>20</a:t>
                      </a:r>
                      <a:endParaRPr lang="en-GB" sz="1800" kern="100" dirty="0">
                        <a:effectLst/>
                        <a:latin typeface="Arial" panose="020B0604020202020204" pitchFamily="34" charset="0"/>
                        <a:ea typeface="Aptos" panose="020B0004020202020204" pitchFamily="34" charset="0"/>
                      </a:endParaRPr>
                    </a:p>
                  </a:txBody>
                  <a:tcPr marL="28575" marR="28575" marT="28575" marB="28575" anchor="ctr"/>
                </a:tc>
                <a:extLst>
                  <a:ext uri="{0D108BD9-81ED-4DB2-BD59-A6C34878D82A}">
                    <a16:rowId xmlns:a16="http://schemas.microsoft.com/office/drawing/2014/main" val="1087469457"/>
                  </a:ext>
                </a:extLst>
              </a:tr>
              <a:tr h="458947">
                <a:tc>
                  <a:txBody>
                    <a:bodyPr/>
                    <a:lstStyle/>
                    <a:p>
                      <a:pPr algn="ctr">
                        <a:lnSpc>
                          <a:spcPct val="107000"/>
                        </a:lnSpc>
                        <a:buNone/>
                      </a:pPr>
                      <a:r>
                        <a:rPr lang="en-GB" sz="1400" kern="100">
                          <a:effectLst/>
                        </a:rPr>
                        <a:t>60</a:t>
                      </a:r>
                      <a:endParaRPr lang="en-GB" sz="1800" kern="100">
                        <a:effectLst/>
                        <a:latin typeface="Arial" panose="020B0604020202020204" pitchFamily="34" charset="0"/>
                        <a:ea typeface="Aptos" panose="020B0004020202020204" pitchFamily="34" charset="0"/>
                      </a:endParaRPr>
                    </a:p>
                  </a:txBody>
                  <a:tcPr marL="28575" marR="28575" marT="28575" marB="28575" anchor="ctr"/>
                </a:tc>
                <a:tc>
                  <a:txBody>
                    <a:bodyPr/>
                    <a:lstStyle/>
                    <a:p>
                      <a:pPr algn="ctr">
                        <a:lnSpc>
                          <a:spcPct val="107000"/>
                        </a:lnSpc>
                        <a:buNone/>
                      </a:pPr>
                      <a:r>
                        <a:rPr lang="en-GB" sz="1400" kern="100" dirty="0">
                          <a:effectLst/>
                        </a:rPr>
                        <a:t>16</a:t>
                      </a:r>
                      <a:endParaRPr lang="en-GB" sz="1800" kern="100" dirty="0">
                        <a:effectLst/>
                        <a:latin typeface="Arial" panose="020B0604020202020204" pitchFamily="34" charset="0"/>
                        <a:ea typeface="Aptos" panose="020B0004020202020204" pitchFamily="34" charset="0"/>
                      </a:endParaRPr>
                    </a:p>
                  </a:txBody>
                  <a:tcPr marL="28575" marR="28575" marT="28575" marB="28575" anchor="ctr"/>
                </a:tc>
                <a:extLst>
                  <a:ext uri="{0D108BD9-81ED-4DB2-BD59-A6C34878D82A}">
                    <a16:rowId xmlns:a16="http://schemas.microsoft.com/office/drawing/2014/main" val="2403577192"/>
                  </a:ext>
                </a:extLst>
              </a:tr>
            </a:tbl>
          </a:graphicData>
        </a:graphic>
      </p:graphicFrame>
      <p:sp>
        <p:nvSpPr>
          <p:cNvPr id="3" name="Rectangle 2">
            <a:extLst>
              <a:ext uri="{FF2B5EF4-FFF2-40B4-BE49-F238E27FC236}">
                <a16:creationId xmlns:a16="http://schemas.microsoft.com/office/drawing/2014/main" id="{40C949FC-6ACA-0CE4-48B8-281CCAC72B2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chemeClr val="tx1"/>
                </a:solidFill>
                <a:effectLst/>
                <a:latin typeface="Arial" panose="020B0604020202020204" pitchFamily="34" charset="0"/>
                <a:ea typeface="Aptos" panose="020B0004020202020204" pitchFamily="34" charset="0"/>
                <a:cs typeface="Arial" panose="020B0604020202020204" pitchFamily="34" charset="0"/>
              </a:rPr>
              <a:t>Much of our everyday information is described in numerical format. </a:t>
            </a:r>
            <a:endParaRPr kumimoji="0" lang="en-GB" altLang="en-US"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chemeClr val="tx1"/>
                </a:solidFill>
                <a:effectLst/>
                <a:latin typeface="Arial" panose="020B0604020202020204" pitchFamily="34" charset="0"/>
                <a:ea typeface="Aptos" panose="020B0004020202020204" pitchFamily="34" charset="0"/>
                <a:cs typeface="Arial" panose="020B0604020202020204" pitchFamily="34" charset="0"/>
              </a:rPr>
              <a:t>For example: </a:t>
            </a:r>
            <a:endParaRPr kumimoji="0" lang="en-GB" altLang="en-US"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000" b="0" i="0" u="none" strike="noStrike" cap="none" normalizeH="0" baseline="0">
                <a:ln>
                  <a:noFill/>
                </a:ln>
                <a:solidFill>
                  <a:schemeClr val="tx1"/>
                </a:solidFill>
                <a:effectLst/>
                <a:latin typeface="Symbol" panose="05050102010706020507" pitchFamily="18" charset="2"/>
                <a:ea typeface="Aptos" panose="020B0004020202020204" pitchFamily="34" charset="0"/>
                <a:cs typeface="Arial" panose="020B0604020202020204" pitchFamily="34" charset="0"/>
              </a:rPr>
              <a:t>·</a:t>
            </a:r>
            <a:r>
              <a:rPr kumimoji="0" lang="en-GB" altLang="en-US" sz="1100" b="0" i="0" u="none" strike="noStrike" cap="none" normalizeH="0" baseline="0">
                <a:ln>
                  <a:noFill/>
                </a:ln>
                <a:solidFill>
                  <a:schemeClr val="tx1"/>
                </a:solidFill>
                <a:effectLst/>
                <a:latin typeface="Arial" panose="020B0604020202020204" pitchFamily="34" charset="0"/>
                <a:ea typeface="Aptos" panose="020B0004020202020204" pitchFamily="34" charset="0"/>
                <a:cs typeface="Arial" panose="020B0604020202020204" pitchFamily="34" charset="0"/>
              </a:rPr>
              <a:t> "It is 2 o’clock."</a:t>
            </a:r>
            <a:r>
              <a:rPr kumimoji="0" lang="en-GB" altLang="en-US" sz="1200" b="0" i="0" u="none" strike="noStrike" cap="none" normalizeH="0" baseline="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5" name="Rectangle 3">
            <a:extLst>
              <a:ext uri="{FF2B5EF4-FFF2-40B4-BE49-F238E27FC236}">
                <a16:creationId xmlns:a16="http://schemas.microsoft.com/office/drawing/2014/main" id="{C6AB090D-BE86-503D-BE28-2907C4C97103}"/>
              </a:ext>
            </a:extLst>
          </p:cNvPr>
          <p:cNvSpPr>
            <a:spLocks noChangeArrowheads="1"/>
          </p:cNvSpPr>
          <p:nvPr/>
        </p:nvSpPr>
        <p:spPr bwMode="auto">
          <a:xfrm>
            <a:off x="348343" y="1263485"/>
            <a:ext cx="6125028"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b="0" i="0" u="none" strike="noStrike" cap="none" normalizeH="0" baseline="0" dirty="0">
                <a:ln>
                  <a:noFill/>
                </a:ln>
                <a:solidFill>
                  <a:srgbClr val="000000"/>
                </a:solidFill>
                <a:effectLst/>
                <a:ea typeface="Times New Roman" panose="02020603050405020304" pitchFamily="18" charset="0"/>
                <a:cs typeface="Arial" panose="020B0604020202020204" pitchFamily="34" charset="0"/>
              </a:rPr>
              <a:t>"The temperature outside is 21 degrees 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b="0" i="0" u="none" strike="noStrike" cap="none" normalizeH="0" baseline="0" dirty="0">
                <a:ln>
                  <a:noFill/>
                </a:ln>
                <a:solidFill>
                  <a:srgbClr val="000000"/>
                </a:solidFill>
                <a:effectLst/>
                <a:ea typeface="Times New Roman" panose="02020603050405020304" pitchFamily="18" charset="0"/>
                <a:cs typeface="Arial" panose="020B0604020202020204" pitchFamily="34" charset="0"/>
              </a:rPr>
              <a:t>"The car was travelling at 48 kilometres per hour.“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b="0" i="0" u="none" strike="noStrike" cap="none" normalizeH="0" baseline="0" dirty="0">
                <a:ln>
                  <a:noFill/>
                </a:ln>
                <a:solidFill>
                  <a:schemeClr val="tx1"/>
                </a:solidFill>
                <a:effectLst/>
                <a:ea typeface="Aptos" panose="020B0004020202020204" pitchFamily="34" charset="0"/>
                <a:cs typeface="Arial" panose="020B0604020202020204" pitchFamily="34" charset="0"/>
              </a:rPr>
              <a:t>It is easy to understand data in this form.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b="0" i="0" u="none" strike="noStrike" cap="none" normalizeH="0" baseline="0" dirty="0">
                <a:ln>
                  <a:noFill/>
                </a:ln>
                <a:solidFill>
                  <a:schemeClr val="tx1"/>
                </a:solidFill>
                <a:effectLst/>
                <a:ea typeface="Aptos" panose="020B0004020202020204" pitchFamily="34" charset="0"/>
                <a:cs typeface="Arial" panose="020B0604020202020204" pitchFamily="34" charset="0"/>
              </a:rPr>
              <a:t>For example, the table shows how the speed of a car changes over a period of time.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b="0" i="0" u="none" strike="noStrike" cap="none" normalizeH="0" baseline="0" dirty="0">
                <a:ln>
                  <a:noFill/>
                </a:ln>
                <a:solidFill>
                  <a:schemeClr val="tx1"/>
                </a:solidFill>
                <a:effectLst/>
                <a:ea typeface="Aptos" panose="020B0004020202020204" pitchFamily="34" charset="0"/>
                <a:cs typeface="Arial" panose="020B0604020202020204" pitchFamily="34" charset="0"/>
              </a:rPr>
              <a:t>However, you might wonder what happened at time 35 seconds.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b="0" i="0" u="none" strike="noStrike" cap="none" normalizeH="0" baseline="0" dirty="0">
                <a:ln>
                  <a:noFill/>
                </a:ln>
                <a:solidFill>
                  <a:schemeClr val="tx1"/>
                </a:solidFill>
                <a:effectLst/>
                <a:ea typeface="Aptos" panose="020B0004020202020204" pitchFamily="34" charset="0"/>
                <a:cs typeface="Arial" panose="020B0604020202020204" pitchFamily="34" charset="0"/>
              </a:rPr>
              <a:t>Was the car moving faster or slower than 25 km/h at that moment? </a:t>
            </a:r>
            <a:endParaRPr kumimoji="0" lang="en-GB" altLang="en-US" b="0" i="0" u="none" strike="noStrike" cap="none" normalizeH="0" baseline="0" dirty="0">
              <a:ln>
                <a:noFill/>
              </a:ln>
              <a:solidFill>
                <a:schemeClr val="tx1"/>
              </a:solidFill>
              <a:effectLst/>
              <a:cs typeface="Arial" panose="020B0604020202020204" pitchFamily="34" charset="0"/>
            </a:endParaRPr>
          </a:p>
        </p:txBody>
      </p:sp>
      <p:sp>
        <p:nvSpPr>
          <p:cNvPr id="6" name="TextBox 5">
            <a:extLst>
              <a:ext uri="{FF2B5EF4-FFF2-40B4-BE49-F238E27FC236}">
                <a16:creationId xmlns:a16="http://schemas.microsoft.com/office/drawing/2014/main" id="{13DA3401-CBD9-3EC8-74B3-AE797A2DC51F}"/>
              </a:ext>
            </a:extLst>
          </p:cNvPr>
          <p:cNvSpPr txBox="1"/>
          <p:nvPr/>
        </p:nvSpPr>
        <p:spPr>
          <a:xfrm>
            <a:off x="4857667" y="106044"/>
            <a:ext cx="7058233" cy="523220"/>
          </a:xfrm>
          <a:prstGeom prst="rect">
            <a:avLst/>
          </a:prstGeom>
          <a:noFill/>
        </p:spPr>
        <p:txBody>
          <a:bodyPr wrap="square" anchor="ctr">
            <a:spAutoFit/>
          </a:bodyPr>
          <a:lstStyle/>
          <a:p>
            <a:pPr algn="r"/>
            <a:r>
              <a:rPr lang="en-GB" sz="2800" b="1" dirty="0">
                <a:solidFill>
                  <a:schemeClr val="bg1"/>
                </a:solidFill>
                <a:latin typeface="Segoe UI" panose="020B0502040204020203" pitchFamily="34" charset="0"/>
                <a:ea typeface="Calibri" panose="020F0502020204030204" pitchFamily="34" charset="0"/>
                <a:cs typeface="Segoe UI" panose="020B0502040204020203" pitchFamily="34" charset="0"/>
              </a:rPr>
              <a:t>The digital world</a:t>
            </a:r>
          </a:p>
        </p:txBody>
      </p:sp>
    </p:spTree>
    <p:extLst>
      <p:ext uri="{BB962C8B-B14F-4D97-AF65-F5344CB8AC3E}">
        <p14:creationId xmlns:p14="http://schemas.microsoft.com/office/powerpoint/2010/main" val="9455564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5FDD57-5645-0AC4-5213-C198CA4D2537}"/>
              </a:ext>
            </a:extLst>
          </p:cNvPr>
          <p:cNvPicPr>
            <a:picLocks noChangeAspect="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8844279" y="1490574"/>
            <a:ext cx="808264" cy="2707684"/>
          </a:xfrm>
          <a:prstGeom prst="rect">
            <a:avLst/>
          </a:prstGeom>
          <a:noFill/>
          <a:ln>
            <a:noFill/>
          </a:ln>
          <a:effectLst/>
        </p:spPr>
      </p:pic>
      <p:pic>
        <p:nvPicPr>
          <p:cNvPr id="3" name="Picture 2">
            <a:extLst>
              <a:ext uri="{FF2B5EF4-FFF2-40B4-BE49-F238E27FC236}">
                <a16:creationId xmlns:a16="http://schemas.microsoft.com/office/drawing/2014/main" id="{0DD6BF69-EC29-5996-E511-7D86B232CDED}"/>
              </a:ext>
            </a:extLst>
          </p:cNvPr>
          <p:cNvPicPr>
            <a:picLocks noChangeAspect="1"/>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10462760" y="2684692"/>
            <a:ext cx="1308326" cy="2049279"/>
          </a:xfrm>
          <a:prstGeom prst="rect">
            <a:avLst/>
          </a:prstGeom>
          <a:noFill/>
          <a:ln>
            <a:noFill/>
          </a:ln>
          <a:effectLst/>
        </p:spPr>
      </p:pic>
      <p:pic>
        <p:nvPicPr>
          <p:cNvPr id="4" name="Picture 3">
            <a:extLst>
              <a:ext uri="{FF2B5EF4-FFF2-40B4-BE49-F238E27FC236}">
                <a16:creationId xmlns:a16="http://schemas.microsoft.com/office/drawing/2014/main" id="{F9201F62-A8AC-6D84-EA41-C82F78C82A0F}"/>
              </a:ext>
            </a:extLst>
          </p:cNvPr>
          <p:cNvPicPr>
            <a:picLocks noChangeAspect="1"/>
          </p:cNvPicPr>
          <p:nvPr/>
        </p:nvPicPr>
        <p:blipFill>
          <a:blip r:embed="rId6" r:link="rId7">
            <a:extLst>
              <a:ext uri="{28A0092B-C50C-407E-A947-70E740481C1C}">
                <a14:useLocalDpi xmlns:a14="http://schemas.microsoft.com/office/drawing/2010/main" val="0"/>
              </a:ext>
            </a:extLst>
          </a:blip>
          <a:srcRect/>
          <a:stretch>
            <a:fillRect/>
          </a:stretch>
        </p:blipFill>
        <p:spPr bwMode="auto">
          <a:xfrm>
            <a:off x="8410257" y="4460374"/>
            <a:ext cx="1676309" cy="1676309"/>
          </a:xfrm>
          <a:prstGeom prst="rect">
            <a:avLst/>
          </a:prstGeom>
          <a:noFill/>
          <a:ln>
            <a:noFill/>
          </a:ln>
          <a:effectLst/>
        </p:spPr>
      </p:pic>
      <p:sp>
        <p:nvSpPr>
          <p:cNvPr id="10" name="TextBox 9">
            <a:extLst>
              <a:ext uri="{FF2B5EF4-FFF2-40B4-BE49-F238E27FC236}">
                <a16:creationId xmlns:a16="http://schemas.microsoft.com/office/drawing/2014/main" id="{8B44BACA-BA81-26FE-7DAB-FFB2896A8BC4}"/>
              </a:ext>
            </a:extLst>
          </p:cNvPr>
          <p:cNvSpPr txBox="1"/>
          <p:nvPr/>
        </p:nvSpPr>
        <p:spPr>
          <a:xfrm>
            <a:off x="522514" y="1770742"/>
            <a:ext cx="5573486" cy="4247317"/>
          </a:xfrm>
          <a:prstGeom prst="rect">
            <a:avLst/>
          </a:prstGeom>
          <a:noFill/>
        </p:spPr>
        <p:txBody>
          <a:bodyPr wrap="square" rtlCol="0">
            <a:spAutoFit/>
          </a:bodyPr>
          <a:lstStyle/>
          <a:p>
            <a:pPr marL="342900" indent="-342900">
              <a:buFont typeface="+mj-lt"/>
              <a:buAutoNum type="arabicPeriod"/>
            </a:pPr>
            <a:r>
              <a:rPr lang="en-US" dirty="0">
                <a:latin typeface="Arial" panose="020B0604020202020204" pitchFamily="34" charset="0"/>
                <a:cs typeface="Arial" panose="020B0604020202020204" pitchFamily="34" charset="0"/>
              </a:rPr>
              <a:t>The hour glass egg timer: the greater the time elapsed, the deeper the sand in the bottom of the egg timer. </a:t>
            </a:r>
          </a:p>
          <a:p>
            <a:pPr marL="342900" indent="-342900">
              <a:buFont typeface="+mj-lt"/>
              <a:buAutoNum type="arabicPeriod"/>
            </a:pPr>
            <a:r>
              <a:rPr lang="en-US" dirty="0">
                <a:latin typeface="Arial" panose="020B0604020202020204" pitchFamily="34" charset="0"/>
                <a:cs typeface="Arial" panose="020B0604020202020204" pitchFamily="34" charset="0"/>
              </a:rPr>
              <a:t>The mercury-in-glass thermometer: the hotter it gets, the further the mercury moves up the tube. </a:t>
            </a:r>
          </a:p>
          <a:p>
            <a:pPr marL="342900" indent="-342900">
              <a:buFont typeface="+mj-lt"/>
              <a:buAutoNum type="arabicPeriod"/>
            </a:pPr>
            <a:r>
              <a:rPr lang="en-US" dirty="0">
                <a:latin typeface="Arial" panose="020B0604020202020204" pitchFamily="34" charset="0"/>
                <a:cs typeface="Arial" panose="020B0604020202020204" pitchFamily="34" charset="0"/>
              </a:rPr>
              <a:t>The car speedometer: the higher the speed, the further the pointer moves around the dial.</a:t>
            </a:r>
          </a:p>
          <a:p>
            <a:r>
              <a:rPr lang="en-US" dirty="0">
                <a:latin typeface="Arial" panose="020B0604020202020204" pitchFamily="34" charset="0"/>
                <a:cs typeface="Arial" panose="020B0604020202020204" pitchFamily="34" charset="0"/>
              </a:rPr>
              <a:t>The problem with analogue data is that you have to do some work to extract it.</a:t>
            </a:r>
          </a:p>
          <a:p>
            <a:r>
              <a:rPr lang="en-US" dirty="0">
                <a:latin typeface="Arial" panose="020B0604020202020204" pitchFamily="34" charset="0"/>
                <a:cs typeface="Arial" panose="020B0604020202020204" pitchFamily="34" charset="0"/>
              </a:rPr>
              <a:t>For the speedometer, and thermometer, you have to work out where the pointer sits on the scale.  On the other hand, it is easy to judge how the temperature of a body or speed of a car is changing - watch how quickly the mercury is moving along the tube or how fast the pointer moves round the dial. </a:t>
            </a:r>
            <a:endParaRPr lang="en-GB"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3C21083B-97C0-A67E-F459-2A64D640A5F9}"/>
              </a:ext>
            </a:extLst>
          </p:cNvPr>
          <p:cNvSpPr txBox="1"/>
          <p:nvPr/>
        </p:nvSpPr>
        <p:spPr>
          <a:xfrm>
            <a:off x="4857667" y="106044"/>
            <a:ext cx="7058233" cy="523220"/>
          </a:xfrm>
          <a:prstGeom prst="rect">
            <a:avLst/>
          </a:prstGeom>
          <a:noFill/>
        </p:spPr>
        <p:txBody>
          <a:bodyPr wrap="square" anchor="ctr">
            <a:spAutoFit/>
          </a:bodyPr>
          <a:lstStyle/>
          <a:p>
            <a:pPr algn="r"/>
            <a:r>
              <a:rPr lang="en-GB" sz="2800" b="1" dirty="0">
                <a:solidFill>
                  <a:schemeClr val="bg1"/>
                </a:solidFill>
                <a:latin typeface="Segoe UI" panose="020B0502040204020203" pitchFamily="34" charset="0"/>
                <a:ea typeface="Calibri" panose="020F0502020204030204" pitchFamily="34" charset="0"/>
                <a:cs typeface="Segoe UI" panose="020B0502040204020203" pitchFamily="34" charset="0"/>
              </a:rPr>
              <a:t>The analogue world</a:t>
            </a:r>
          </a:p>
        </p:txBody>
      </p:sp>
    </p:spTree>
    <p:extLst>
      <p:ext uri="{BB962C8B-B14F-4D97-AF65-F5344CB8AC3E}">
        <p14:creationId xmlns:p14="http://schemas.microsoft.com/office/powerpoint/2010/main" val="1650466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055DDE-3546-A91C-2974-43E013AEDD3B}"/>
              </a:ext>
            </a:extLst>
          </p:cNvPr>
          <p:cNvSpPr txBox="1"/>
          <p:nvPr/>
        </p:nvSpPr>
        <p:spPr>
          <a:xfrm>
            <a:off x="4857667" y="106044"/>
            <a:ext cx="7058233" cy="523220"/>
          </a:xfrm>
          <a:prstGeom prst="rect">
            <a:avLst/>
          </a:prstGeom>
          <a:noFill/>
        </p:spPr>
        <p:txBody>
          <a:bodyPr wrap="square" anchor="ctr">
            <a:spAutoFit/>
          </a:bodyPr>
          <a:lstStyle/>
          <a:p>
            <a:pPr algn="r"/>
            <a:r>
              <a:rPr lang="en-GB" sz="2800" b="1" dirty="0">
                <a:solidFill>
                  <a:schemeClr val="bg1"/>
                </a:solidFill>
                <a:latin typeface="Segoe UI" panose="020B0502040204020203" pitchFamily="34" charset="0"/>
                <a:ea typeface="Calibri" panose="020F0502020204030204" pitchFamily="34" charset="0"/>
                <a:cs typeface="Segoe UI" panose="020B0502040204020203" pitchFamily="34" charset="0"/>
              </a:rPr>
              <a:t>Analogue data</a:t>
            </a:r>
          </a:p>
        </p:txBody>
      </p:sp>
      <p:pic>
        <p:nvPicPr>
          <p:cNvPr id="3" name="Picture 2">
            <a:extLst>
              <a:ext uri="{FF2B5EF4-FFF2-40B4-BE49-F238E27FC236}">
                <a16:creationId xmlns:a16="http://schemas.microsoft.com/office/drawing/2014/main" id="{B6AA5183-A6EE-EE78-DDB7-81124A7EF23D}"/>
              </a:ext>
            </a:extLst>
          </p:cNvPr>
          <p:cNvPicPr>
            <a:picLocks noChangeAspect="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8187417" y="1357313"/>
            <a:ext cx="2647577" cy="2256744"/>
          </a:xfrm>
          <a:prstGeom prst="rect">
            <a:avLst/>
          </a:prstGeom>
          <a:noFill/>
          <a:ln>
            <a:noFill/>
          </a:ln>
          <a:effectLst/>
        </p:spPr>
      </p:pic>
      <p:pic>
        <p:nvPicPr>
          <p:cNvPr id="4" name="Picture 3">
            <a:extLst>
              <a:ext uri="{FF2B5EF4-FFF2-40B4-BE49-F238E27FC236}">
                <a16:creationId xmlns:a16="http://schemas.microsoft.com/office/drawing/2014/main" id="{AA2826FB-DA27-AABD-62AA-00EDA924B61C}"/>
              </a:ext>
            </a:extLst>
          </p:cNvPr>
          <p:cNvPicPr>
            <a:picLocks noChangeAspect="1"/>
          </p:cNvPicPr>
          <p:nvPr/>
        </p:nvPicPr>
        <p:blipFill>
          <a:blip r:embed="rId4" r:link="rId5" cstate="print">
            <a:extLst>
              <a:ext uri="{28A0092B-C50C-407E-A947-70E740481C1C}">
                <a14:useLocalDpi xmlns:a14="http://schemas.microsoft.com/office/drawing/2010/main" val="0"/>
              </a:ext>
            </a:extLst>
          </a:blip>
          <a:srcRect/>
          <a:stretch>
            <a:fillRect/>
          </a:stretch>
        </p:blipFill>
        <p:spPr bwMode="auto">
          <a:xfrm>
            <a:off x="6975495" y="4342106"/>
            <a:ext cx="4360162" cy="2157030"/>
          </a:xfrm>
          <a:prstGeom prst="rect">
            <a:avLst/>
          </a:prstGeom>
          <a:noFill/>
          <a:ln>
            <a:noFill/>
          </a:ln>
          <a:effectLst/>
        </p:spPr>
      </p:pic>
      <p:sp>
        <p:nvSpPr>
          <p:cNvPr id="6" name="TextBox 5">
            <a:extLst>
              <a:ext uri="{FF2B5EF4-FFF2-40B4-BE49-F238E27FC236}">
                <a16:creationId xmlns:a16="http://schemas.microsoft.com/office/drawing/2014/main" id="{457C4F23-B919-E127-FD8D-8A64A0915A10}"/>
              </a:ext>
            </a:extLst>
          </p:cNvPr>
          <p:cNvSpPr txBox="1"/>
          <p:nvPr/>
        </p:nvSpPr>
        <p:spPr>
          <a:xfrm>
            <a:off x="580572" y="1213400"/>
            <a:ext cx="6096000" cy="4801314"/>
          </a:xfrm>
          <a:prstGeom prst="rect">
            <a:avLst/>
          </a:prstGeom>
          <a:noFill/>
        </p:spPr>
        <p:txBody>
          <a:bodyPr wrap="square">
            <a:spAutoFit/>
          </a:bodyPr>
          <a:lstStyle/>
          <a:p>
            <a:r>
              <a:rPr lang="en-GB" dirty="0">
                <a:latin typeface="Arial" panose="020B0604020202020204" pitchFamily="34" charset="0"/>
                <a:cs typeface="Arial" panose="020B0604020202020204" pitchFamily="34" charset="0"/>
              </a:rPr>
              <a:t>Many electronic sensors provide signals in analogue form. For example a temperature sensor</a:t>
            </a:r>
          </a:p>
          <a:p>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Here is the circuit diagram for one type of temperature sensor. The output voltage increases when the temperature increases.</a:t>
            </a:r>
          </a:p>
          <a:p>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It is an analogue signal because the voltage copies the behaviour of the temperature. </a:t>
            </a:r>
          </a:p>
          <a:p>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An electrical analogue signal can have any voltage value, limited only by the power supply used. In this case, the output of the temperature sensor could, in theory, go as high as 5V, or as low as 0V. </a:t>
            </a:r>
          </a:p>
          <a:p>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Over a period of time, the output voltage could change as shown in the diagram. This is an analogue signal. </a:t>
            </a:r>
          </a:p>
        </p:txBody>
      </p:sp>
    </p:spTree>
    <p:extLst>
      <p:ext uri="{BB962C8B-B14F-4D97-AF65-F5344CB8AC3E}">
        <p14:creationId xmlns:p14="http://schemas.microsoft.com/office/powerpoint/2010/main" val="602590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02B013B-D4E1-6CCB-8536-C528E3EC8DAB}"/>
              </a:ext>
            </a:extLst>
          </p:cNvPr>
          <p:cNvSpPr txBox="1"/>
          <p:nvPr/>
        </p:nvSpPr>
        <p:spPr>
          <a:xfrm>
            <a:off x="4857667" y="106044"/>
            <a:ext cx="7058233" cy="523220"/>
          </a:xfrm>
          <a:prstGeom prst="rect">
            <a:avLst/>
          </a:prstGeom>
          <a:noFill/>
        </p:spPr>
        <p:txBody>
          <a:bodyPr wrap="square" anchor="ctr">
            <a:spAutoFit/>
          </a:bodyPr>
          <a:lstStyle/>
          <a:p>
            <a:pPr algn="r"/>
            <a:r>
              <a:rPr lang="en-GB" sz="2800" b="1" dirty="0">
                <a:solidFill>
                  <a:schemeClr val="bg1"/>
                </a:solidFill>
                <a:latin typeface="Segoe UI" panose="020B0502040204020203" pitchFamily="34" charset="0"/>
                <a:ea typeface="Calibri" panose="020F0502020204030204" pitchFamily="34" charset="0"/>
                <a:cs typeface="Segoe UI" panose="020B0502040204020203" pitchFamily="34" charset="0"/>
              </a:rPr>
              <a:t>The analogue world</a:t>
            </a:r>
          </a:p>
        </p:txBody>
      </p:sp>
      <p:pic>
        <p:nvPicPr>
          <p:cNvPr id="3" name="Picture 2">
            <a:extLst>
              <a:ext uri="{FF2B5EF4-FFF2-40B4-BE49-F238E27FC236}">
                <a16:creationId xmlns:a16="http://schemas.microsoft.com/office/drawing/2014/main" id="{546902D8-FDD1-6493-DF22-C0A2281CC910}"/>
              </a:ext>
            </a:extLst>
          </p:cNvPr>
          <p:cNvPicPr>
            <a:picLocks noChangeAspect="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8693559" y="1231084"/>
            <a:ext cx="2727693" cy="2324916"/>
          </a:xfrm>
          <a:prstGeom prst="rect">
            <a:avLst/>
          </a:prstGeom>
          <a:noFill/>
          <a:ln>
            <a:noFill/>
          </a:ln>
          <a:effectLst/>
        </p:spPr>
      </p:pic>
      <p:pic>
        <p:nvPicPr>
          <p:cNvPr id="4" name="Picture 3">
            <a:extLst>
              <a:ext uri="{FF2B5EF4-FFF2-40B4-BE49-F238E27FC236}">
                <a16:creationId xmlns:a16="http://schemas.microsoft.com/office/drawing/2014/main" id="{B73A1060-8C6D-68E9-8ACF-4B9A62A34A4D}"/>
              </a:ext>
            </a:extLst>
          </p:cNvPr>
          <p:cNvPicPr>
            <a:picLocks noChangeAspect="1"/>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7520215" y="4157820"/>
            <a:ext cx="4649832" cy="2324916"/>
          </a:xfrm>
          <a:prstGeom prst="rect">
            <a:avLst/>
          </a:prstGeom>
          <a:noFill/>
          <a:ln>
            <a:noFill/>
          </a:ln>
          <a:effectLst/>
        </p:spPr>
      </p:pic>
      <p:sp>
        <p:nvSpPr>
          <p:cNvPr id="6" name="TextBox 5">
            <a:extLst>
              <a:ext uri="{FF2B5EF4-FFF2-40B4-BE49-F238E27FC236}">
                <a16:creationId xmlns:a16="http://schemas.microsoft.com/office/drawing/2014/main" id="{DD605B39-928F-92CA-C785-2192DB645F23}"/>
              </a:ext>
            </a:extLst>
          </p:cNvPr>
          <p:cNvSpPr txBox="1"/>
          <p:nvPr/>
        </p:nvSpPr>
        <p:spPr>
          <a:xfrm>
            <a:off x="770748" y="1127424"/>
            <a:ext cx="6096000" cy="5078313"/>
          </a:xfrm>
          <a:prstGeom prst="rect">
            <a:avLst/>
          </a:prstGeom>
          <a:noFill/>
        </p:spPr>
        <p:txBody>
          <a:bodyPr wrap="square">
            <a:spAutoFit/>
          </a:bodyPr>
          <a:lstStyle/>
          <a:p>
            <a:r>
              <a:rPr lang="en-GB" dirty="0">
                <a:latin typeface="Arial" panose="020B0604020202020204" pitchFamily="34" charset="0"/>
                <a:cs typeface="Arial" panose="020B0604020202020204" pitchFamily="34" charset="0"/>
              </a:rPr>
              <a:t>Electronic systems usually employ the binary number system, which uses only the numbers ‘0’and ‘1’, coded as voltages.  We could decide on the following code: ‘0’= 0V, ‘1’= 5V, for example. </a:t>
            </a:r>
          </a:p>
          <a:p>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Digital signals, then, have only two possible voltage values, usually the power supply voltage, and 0V. </a:t>
            </a:r>
          </a:p>
          <a:p>
            <a:r>
              <a:rPr lang="en-GB" dirty="0">
                <a:latin typeface="Arial" panose="020B0604020202020204" pitchFamily="34" charset="0"/>
                <a:cs typeface="Arial" panose="020B0604020202020204" pitchFamily="34" charset="0"/>
              </a:rPr>
              <a:t>How can we enter these numbers into an electronic system?</a:t>
            </a:r>
          </a:p>
          <a:p>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One (very slow) way would be to use a switch (an example of a digital sensor.) </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When the switch is open (not pressed,) the output is ‘pulled </a:t>
            </a:r>
            <a:r>
              <a:rPr lang="en-GB" dirty="0" err="1">
                <a:latin typeface="Arial" panose="020B0604020202020204" pitchFamily="34" charset="0"/>
                <a:cs typeface="Arial" panose="020B0604020202020204" pitchFamily="34" charset="0"/>
              </a:rPr>
              <a:t>down’to</a:t>
            </a:r>
            <a:r>
              <a:rPr lang="en-GB" dirty="0">
                <a:latin typeface="Arial" panose="020B0604020202020204" pitchFamily="34" charset="0"/>
                <a:cs typeface="Arial" panose="020B0604020202020204" pitchFamily="34" charset="0"/>
              </a:rPr>
              <a:t> 0V by the resistor. This output could represent the binary number ‘0’.</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With the switch closed (pressed,) the output is connected to the positive supply, 5V in this case. This could represent the binary number ‘1’.</a:t>
            </a:r>
          </a:p>
        </p:txBody>
      </p:sp>
    </p:spTree>
    <p:extLst>
      <p:ext uri="{BB962C8B-B14F-4D97-AF65-F5344CB8AC3E}">
        <p14:creationId xmlns:p14="http://schemas.microsoft.com/office/powerpoint/2010/main" val="31210923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3BF55C0-8206-C1C1-6652-14ACC60F6D34}"/>
              </a:ext>
            </a:extLst>
          </p:cNvPr>
          <p:cNvPicPr>
            <a:picLocks noChangeAspect="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6096000" y="1015229"/>
            <a:ext cx="5780068" cy="5298485"/>
          </a:xfrm>
          <a:prstGeom prst="rect">
            <a:avLst/>
          </a:prstGeom>
          <a:noFill/>
          <a:ln>
            <a:noFill/>
          </a:ln>
          <a:effectLst/>
        </p:spPr>
      </p:pic>
      <p:sp>
        <p:nvSpPr>
          <p:cNvPr id="4" name="TextBox 3">
            <a:extLst>
              <a:ext uri="{FF2B5EF4-FFF2-40B4-BE49-F238E27FC236}">
                <a16:creationId xmlns:a16="http://schemas.microsoft.com/office/drawing/2014/main" id="{FEAE9C51-A0FC-A33D-F13D-AF51BF18E07F}"/>
              </a:ext>
            </a:extLst>
          </p:cNvPr>
          <p:cNvSpPr txBox="1"/>
          <p:nvPr/>
        </p:nvSpPr>
        <p:spPr>
          <a:xfrm>
            <a:off x="315932" y="1263815"/>
            <a:ext cx="5780068" cy="4801314"/>
          </a:xfrm>
          <a:prstGeom prst="rect">
            <a:avLst/>
          </a:prstGeom>
          <a:noFill/>
        </p:spPr>
        <p:txBody>
          <a:bodyPr wrap="square">
            <a:spAutoFit/>
          </a:bodyPr>
          <a:lstStyle/>
          <a:p>
            <a:r>
              <a:rPr lang="en-GB" dirty="0">
                <a:latin typeface="Arial" panose="020B0604020202020204" pitchFamily="34" charset="0"/>
                <a:cs typeface="Arial" panose="020B0604020202020204" pitchFamily="34" charset="0"/>
              </a:rPr>
              <a:t>Much of our ‘real world’ data is analogue, but computers (including microcontrollers) can only process digital data. Microcontrollers contain a subsystem that can convert information from analogue format to digital format. This is called an Analogue-to-Digital Converter - usually shortened to ‘</a:t>
            </a:r>
            <a:r>
              <a:rPr lang="en-GB" dirty="0" err="1">
                <a:latin typeface="Arial" panose="020B0604020202020204" pitchFamily="34" charset="0"/>
                <a:cs typeface="Arial" panose="020B0604020202020204" pitchFamily="34" charset="0"/>
              </a:rPr>
              <a:t>ADC’or</a:t>
            </a:r>
            <a:r>
              <a:rPr lang="en-GB" dirty="0">
                <a:latin typeface="Arial" panose="020B0604020202020204" pitchFamily="34" charset="0"/>
                <a:cs typeface="Arial" panose="020B0604020202020204" pitchFamily="34" charset="0"/>
              </a:rPr>
              <a:t> ‘A/D’. </a:t>
            </a:r>
          </a:p>
          <a:p>
            <a:r>
              <a:rPr lang="en-GB" dirty="0">
                <a:latin typeface="Arial" panose="020B0604020202020204" pitchFamily="34" charset="0"/>
                <a:cs typeface="Arial" panose="020B0604020202020204" pitchFamily="34" charset="0"/>
              </a:rPr>
              <a:t> </a:t>
            </a:r>
          </a:p>
          <a:p>
            <a:r>
              <a:rPr lang="en-GB" dirty="0">
                <a:latin typeface="Arial" panose="020B0604020202020204" pitchFamily="34" charset="0"/>
                <a:cs typeface="Arial" panose="020B0604020202020204" pitchFamily="34" charset="0"/>
              </a:rPr>
              <a:t>The ADC inside the a microcontroller divides the range of possible analogue voltages into equal steps.</a:t>
            </a:r>
          </a:p>
          <a:p>
            <a:r>
              <a:rPr lang="en-GB" dirty="0">
                <a:latin typeface="Arial" panose="020B0604020202020204" pitchFamily="34" charset="0"/>
                <a:cs typeface="Arial" panose="020B0604020202020204" pitchFamily="34" charset="0"/>
              </a:rPr>
              <a:t>The lowest step is given the number ‘0’, and the highest step is given the highest number that the A/D converter can handle.</a:t>
            </a:r>
          </a:p>
          <a:p>
            <a:r>
              <a:rPr lang="en-GB" dirty="0">
                <a:latin typeface="Arial" panose="020B0604020202020204" pitchFamily="34" charset="0"/>
                <a:cs typeface="Arial" panose="020B0604020202020204" pitchFamily="34" charset="0"/>
              </a:rPr>
              <a:t> </a:t>
            </a:r>
          </a:p>
          <a:p>
            <a:r>
              <a:rPr lang="en-GB" dirty="0">
                <a:latin typeface="Arial" panose="020B0604020202020204" pitchFamily="34" charset="0"/>
                <a:cs typeface="Arial" panose="020B0604020202020204" pitchFamily="34" charset="0"/>
              </a:rPr>
              <a:t>This highest number is determined by the resolution of the ADC, which, in turn, depends on number of ‘bits’ the internal circuitry of the ADC can handle. The resolution of PIC ADCs is 8, 10 or 12 bit.</a:t>
            </a:r>
          </a:p>
        </p:txBody>
      </p:sp>
      <p:sp>
        <p:nvSpPr>
          <p:cNvPr id="5" name="TextBox 4">
            <a:extLst>
              <a:ext uri="{FF2B5EF4-FFF2-40B4-BE49-F238E27FC236}">
                <a16:creationId xmlns:a16="http://schemas.microsoft.com/office/drawing/2014/main" id="{C947C2F3-9726-282A-9702-00554831574D}"/>
              </a:ext>
            </a:extLst>
          </p:cNvPr>
          <p:cNvSpPr txBox="1"/>
          <p:nvPr/>
        </p:nvSpPr>
        <p:spPr>
          <a:xfrm>
            <a:off x="4857667" y="106044"/>
            <a:ext cx="7058233" cy="523220"/>
          </a:xfrm>
          <a:prstGeom prst="rect">
            <a:avLst/>
          </a:prstGeom>
          <a:noFill/>
        </p:spPr>
        <p:txBody>
          <a:bodyPr wrap="square" anchor="ctr">
            <a:spAutoFit/>
          </a:bodyPr>
          <a:lstStyle/>
          <a:p>
            <a:pPr algn="r"/>
            <a:r>
              <a:rPr lang="en-GB" sz="2800" b="1" dirty="0">
                <a:solidFill>
                  <a:schemeClr val="bg1"/>
                </a:solidFill>
                <a:latin typeface="Segoe UI" panose="020B0502040204020203" pitchFamily="34" charset="0"/>
                <a:ea typeface="Calibri" panose="020F0502020204030204" pitchFamily="34" charset="0"/>
                <a:cs typeface="Segoe UI" panose="020B0502040204020203" pitchFamily="34" charset="0"/>
              </a:rPr>
              <a:t>A/D converters</a:t>
            </a:r>
          </a:p>
        </p:txBody>
      </p:sp>
    </p:spTree>
    <p:extLst>
      <p:ext uri="{BB962C8B-B14F-4D97-AF65-F5344CB8AC3E}">
        <p14:creationId xmlns:p14="http://schemas.microsoft.com/office/powerpoint/2010/main" val="2204713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60FDAC-AB26-4EA1-4159-FCE922D4DB0F}"/>
              </a:ext>
            </a:extLst>
          </p:cNvPr>
          <p:cNvPicPr>
            <a:picLocks noChangeAspect="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6229676" y="1814286"/>
            <a:ext cx="5580345" cy="3643084"/>
          </a:xfrm>
          <a:prstGeom prst="rect">
            <a:avLst/>
          </a:prstGeom>
          <a:noFill/>
          <a:ln>
            <a:noFill/>
          </a:ln>
          <a:effectLst/>
        </p:spPr>
      </p:pic>
      <p:sp>
        <p:nvSpPr>
          <p:cNvPr id="3" name="TextBox 2">
            <a:extLst>
              <a:ext uri="{FF2B5EF4-FFF2-40B4-BE49-F238E27FC236}">
                <a16:creationId xmlns:a16="http://schemas.microsoft.com/office/drawing/2014/main" id="{FE9CE686-B8DB-BBFF-DE71-17ED9D1CB03C}"/>
              </a:ext>
            </a:extLst>
          </p:cNvPr>
          <p:cNvSpPr txBox="1"/>
          <p:nvPr/>
        </p:nvSpPr>
        <p:spPr>
          <a:xfrm>
            <a:off x="4857667" y="106044"/>
            <a:ext cx="7058233" cy="523220"/>
          </a:xfrm>
          <a:prstGeom prst="rect">
            <a:avLst/>
          </a:prstGeom>
          <a:noFill/>
        </p:spPr>
        <p:txBody>
          <a:bodyPr wrap="square" anchor="ctr">
            <a:spAutoFit/>
          </a:bodyPr>
          <a:lstStyle/>
          <a:p>
            <a:pPr algn="r"/>
            <a:r>
              <a:rPr lang="en-GB" sz="2800" b="1" dirty="0">
                <a:solidFill>
                  <a:schemeClr val="bg1"/>
                </a:solidFill>
                <a:latin typeface="Segoe UI" panose="020B0502040204020203" pitchFamily="34" charset="0"/>
                <a:ea typeface="Calibri" panose="020F0502020204030204" pitchFamily="34" charset="0"/>
                <a:cs typeface="Segoe UI" panose="020B0502040204020203" pitchFamily="34" charset="0"/>
              </a:rPr>
              <a:t>Outputting data</a:t>
            </a:r>
          </a:p>
        </p:txBody>
      </p:sp>
      <p:sp>
        <p:nvSpPr>
          <p:cNvPr id="5" name="TextBox 4">
            <a:extLst>
              <a:ext uri="{FF2B5EF4-FFF2-40B4-BE49-F238E27FC236}">
                <a16:creationId xmlns:a16="http://schemas.microsoft.com/office/drawing/2014/main" id="{5FA74C10-0DFE-0AAD-4B5B-CC57BB4FD785}"/>
              </a:ext>
            </a:extLst>
          </p:cNvPr>
          <p:cNvSpPr txBox="1"/>
          <p:nvPr/>
        </p:nvSpPr>
        <p:spPr>
          <a:xfrm>
            <a:off x="164265" y="1117829"/>
            <a:ext cx="6096000" cy="5355312"/>
          </a:xfrm>
          <a:prstGeom prst="rect">
            <a:avLst/>
          </a:prstGeom>
          <a:noFill/>
        </p:spPr>
        <p:txBody>
          <a:bodyPr wrap="square">
            <a:spAutoFit/>
          </a:bodyPr>
          <a:lstStyle/>
          <a:p>
            <a:r>
              <a:rPr lang="en-GB" dirty="0">
                <a:latin typeface="Arial" panose="020B0604020202020204" pitchFamily="34" charset="0"/>
                <a:cs typeface="Arial" panose="020B0604020202020204" pitchFamily="34" charset="0"/>
              </a:rPr>
              <a:t>The microcontroller is a digital device. It outputs a digital signal. We use this to turn something on and off - ‘0’= ‘off’ and ‘1’= ‘0n’.</a:t>
            </a:r>
          </a:p>
          <a:p>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The diagram shows eight LEDs connected to a PIC16F84 microcontroller:</a:t>
            </a:r>
          </a:p>
          <a:p>
            <a:r>
              <a:rPr lang="en-GB" dirty="0">
                <a:latin typeface="Arial" panose="020B0604020202020204" pitchFamily="34" charset="0"/>
                <a:cs typeface="Arial" panose="020B0604020202020204" pitchFamily="34" charset="0"/>
              </a:rPr>
              <a:t> </a:t>
            </a:r>
          </a:p>
          <a:p>
            <a:r>
              <a:rPr lang="en-GB" dirty="0">
                <a:latin typeface="Arial" panose="020B0604020202020204" pitchFamily="34" charset="0"/>
                <a:cs typeface="Arial" panose="020B0604020202020204" pitchFamily="34" charset="0"/>
              </a:rPr>
              <a:t>The four red LEDs are connected between the positive supply rail and the pins. For these LEDs, PIC is ‘sinking’ current. </a:t>
            </a:r>
          </a:p>
          <a:p>
            <a:r>
              <a:rPr lang="en-GB" dirty="0">
                <a:latin typeface="Arial" panose="020B0604020202020204" pitchFamily="34" charset="0"/>
                <a:cs typeface="Arial" panose="020B0604020202020204" pitchFamily="34" charset="0"/>
              </a:rPr>
              <a:t> </a:t>
            </a:r>
          </a:p>
          <a:p>
            <a:r>
              <a:rPr lang="en-GB" dirty="0">
                <a:latin typeface="Arial" panose="020B0604020202020204" pitchFamily="34" charset="0"/>
                <a:cs typeface="Arial" panose="020B0604020202020204" pitchFamily="34" charset="0"/>
              </a:rPr>
              <a:t>The four green LEDs are connected between the pins and the 0V rail. For these, the PIC is ‘sourcing’ current. </a:t>
            </a:r>
          </a:p>
          <a:p>
            <a:r>
              <a:rPr lang="en-GB" dirty="0">
                <a:latin typeface="Arial" panose="020B0604020202020204" pitchFamily="34" charset="0"/>
                <a:cs typeface="Arial" panose="020B0604020202020204" pitchFamily="34" charset="0"/>
              </a:rPr>
              <a:t> </a:t>
            </a:r>
          </a:p>
          <a:p>
            <a:r>
              <a:rPr lang="en-GB" dirty="0">
                <a:latin typeface="Arial" panose="020B0604020202020204" pitchFamily="34" charset="0"/>
                <a:cs typeface="Arial" panose="020B0604020202020204" pitchFamily="34" charset="0"/>
              </a:rPr>
              <a:t>Each red LED lights up when its pin is at a low voltage, outputting ‘0’in other words. </a:t>
            </a:r>
          </a:p>
          <a:p>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Each green LED lights when its pin is at a high voltage, outputting a ‘1’.</a:t>
            </a:r>
          </a:p>
        </p:txBody>
      </p:sp>
    </p:spTree>
    <p:extLst>
      <p:ext uri="{BB962C8B-B14F-4D97-AF65-F5344CB8AC3E}">
        <p14:creationId xmlns:p14="http://schemas.microsoft.com/office/powerpoint/2010/main" val="30203662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8B29E5-581E-D0A2-34DA-557C6F833637}"/>
              </a:ext>
            </a:extLst>
          </p:cNvPr>
          <p:cNvSpPr txBox="1"/>
          <p:nvPr/>
        </p:nvSpPr>
        <p:spPr>
          <a:xfrm>
            <a:off x="4857667" y="106044"/>
            <a:ext cx="7058233" cy="523220"/>
          </a:xfrm>
          <a:prstGeom prst="rect">
            <a:avLst/>
          </a:prstGeom>
          <a:noFill/>
        </p:spPr>
        <p:txBody>
          <a:bodyPr wrap="square" anchor="ctr">
            <a:spAutoFit/>
          </a:bodyPr>
          <a:lstStyle/>
          <a:p>
            <a:pPr algn="r"/>
            <a:r>
              <a:rPr lang="en-GB" sz="2800" b="1" dirty="0">
                <a:solidFill>
                  <a:schemeClr val="bg1"/>
                </a:solidFill>
                <a:latin typeface="Segoe UI" panose="020B0502040204020203" pitchFamily="34" charset="0"/>
                <a:ea typeface="Calibri" panose="020F0502020204030204" pitchFamily="34" charset="0"/>
                <a:cs typeface="Segoe UI" panose="020B0502040204020203" pitchFamily="34" charset="0"/>
              </a:rPr>
              <a:t>Current limits</a:t>
            </a:r>
          </a:p>
        </p:txBody>
      </p:sp>
      <p:graphicFrame>
        <p:nvGraphicFramePr>
          <p:cNvPr id="3" name="Table 2">
            <a:extLst>
              <a:ext uri="{FF2B5EF4-FFF2-40B4-BE49-F238E27FC236}">
                <a16:creationId xmlns:a16="http://schemas.microsoft.com/office/drawing/2014/main" id="{51543D7C-F7BA-6FAA-1494-74EEFBD86454}"/>
              </a:ext>
            </a:extLst>
          </p:cNvPr>
          <p:cNvGraphicFramePr>
            <a:graphicFrameLocks noGrp="1"/>
          </p:cNvGraphicFramePr>
          <p:nvPr>
            <p:extLst>
              <p:ext uri="{D42A27DB-BD31-4B8C-83A1-F6EECF244321}">
                <p14:modId xmlns:p14="http://schemas.microsoft.com/office/powerpoint/2010/main" val="4230515972"/>
              </p:ext>
            </p:extLst>
          </p:nvPr>
        </p:nvGraphicFramePr>
        <p:xfrm>
          <a:off x="6096000" y="1826773"/>
          <a:ext cx="4855073" cy="3204454"/>
        </p:xfrm>
        <a:graphic>
          <a:graphicData uri="http://schemas.openxmlformats.org/drawingml/2006/table">
            <a:tbl>
              <a:tblPr firstRow="1" firstCol="1" bandRow="1">
                <a:tableStyleId>{5C22544A-7EE6-4342-B048-85BDC9FD1C3A}</a:tableStyleId>
              </a:tblPr>
              <a:tblGrid>
                <a:gridCol w="3903505">
                  <a:extLst>
                    <a:ext uri="{9D8B030D-6E8A-4147-A177-3AD203B41FA5}">
                      <a16:colId xmlns:a16="http://schemas.microsoft.com/office/drawing/2014/main" val="1234909269"/>
                    </a:ext>
                  </a:extLst>
                </a:gridCol>
                <a:gridCol w="951568">
                  <a:extLst>
                    <a:ext uri="{9D8B030D-6E8A-4147-A177-3AD203B41FA5}">
                      <a16:colId xmlns:a16="http://schemas.microsoft.com/office/drawing/2014/main" val="1483663882"/>
                    </a:ext>
                  </a:extLst>
                </a:gridCol>
              </a:tblGrid>
              <a:tr h="559654">
                <a:tc>
                  <a:txBody>
                    <a:bodyPr/>
                    <a:lstStyle/>
                    <a:p>
                      <a:pPr marL="90170" algn="r">
                        <a:lnSpc>
                          <a:spcPct val="107000"/>
                        </a:lnSpc>
                        <a:buNone/>
                      </a:pPr>
                      <a:r>
                        <a:rPr lang="en-GB" sz="2000" kern="100" dirty="0">
                          <a:effectLst/>
                        </a:rPr>
                        <a:t>Maximum current sunk/sourced by any I/O pin</a:t>
                      </a:r>
                      <a:endParaRPr lang="en-GB" sz="2800" kern="100" dirty="0">
                        <a:effectLst/>
                        <a:latin typeface="Arial" panose="020B0604020202020204" pitchFamily="34" charset="0"/>
                        <a:ea typeface="Aptos" panose="020B0004020202020204" pitchFamily="34" charset="0"/>
                      </a:endParaRPr>
                    </a:p>
                  </a:txBody>
                  <a:tcPr marL="28575" marR="28575" marT="28575" marB="28575" anchor="ctr"/>
                </a:tc>
                <a:tc>
                  <a:txBody>
                    <a:bodyPr/>
                    <a:lstStyle/>
                    <a:p>
                      <a:pPr marL="151130" algn="r">
                        <a:lnSpc>
                          <a:spcPct val="107000"/>
                        </a:lnSpc>
                        <a:buNone/>
                      </a:pPr>
                      <a:r>
                        <a:rPr lang="en-GB" sz="2000" kern="100">
                          <a:effectLst/>
                        </a:rPr>
                        <a:t>25mA</a:t>
                      </a:r>
                      <a:endParaRPr lang="en-GB" sz="2800" kern="100">
                        <a:effectLst/>
                        <a:latin typeface="Arial" panose="020B0604020202020204" pitchFamily="34" charset="0"/>
                        <a:ea typeface="Aptos" panose="020B0004020202020204" pitchFamily="34" charset="0"/>
                      </a:endParaRPr>
                    </a:p>
                  </a:txBody>
                  <a:tcPr marL="28575" marR="28575" marT="28575" marB="28575" anchor="ctr"/>
                </a:tc>
                <a:extLst>
                  <a:ext uri="{0D108BD9-81ED-4DB2-BD59-A6C34878D82A}">
                    <a16:rowId xmlns:a16="http://schemas.microsoft.com/office/drawing/2014/main" val="1933478610"/>
                  </a:ext>
                </a:extLst>
              </a:tr>
              <a:tr h="559654">
                <a:tc>
                  <a:txBody>
                    <a:bodyPr/>
                    <a:lstStyle/>
                    <a:p>
                      <a:pPr marL="90170" algn="r">
                        <a:lnSpc>
                          <a:spcPct val="107000"/>
                        </a:lnSpc>
                        <a:buNone/>
                      </a:pPr>
                      <a:r>
                        <a:rPr lang="en-GB" sz="2000" kern="100" dirty="0">
                          <a:effectLst/>
                        </a:rPr>
                        <a:t>Maximum current sunk by all ports</a:t>
                      </a:r>
                      <a:endParaRPr lang="en-GB" sz="2800" kern="100" dirty="0">
                        <a:effectLst/>
                        <a:latin typeface="Arial" panose="020B0604020202020204" pitchFamily="34" charset="0"/>
                        <a:ea typeface="Aptos" panose="020B0004020202020204" pitchFamily="34" charset="0"/>
                      </a:endParaRPr>
                    </a:p>
                  </a:txBody>
                  <a:tcPr marL="28575" marR="28575" marT="28575" marB="28575" anchor="ctr"/>
                </a:tc>
                <a:tc>
                  <a:txBody>
                    <a:bodyPr/>
                    <a:lstStyle/>
                    <a:p>
                      <a:pPr marL="151130" algn="r">
                        <a:lnSpc>
                          <a:spcPct val="107000"/>
                        </a:lnSpc>
                        <a:buNone/>
                      </a:pPr>
                      <a:r>
                        <a:rPr lang="en-GB" sz="2000" kern="100">
                          <a:effectLst/>
                        </a:rPr>
                        <a:t>200mA</a:t>
                      </a:r>
                      <a:endParaRPr lang="en-GB" sz="2800" kern="100">
                        <a:effectLst/>
                        <a:latin typeface="Arial" panose="020B0604020202020204" pitchFamily="34" charset="0"/>
                        <a:ea typeface="Aptos" panose="020B0004020202020204" pitchFamily="34" charset="0"/>
                      </a:endParaRPr>
                    </a:p>
                  </a:txBody>
                  <a:tcPr marL="28575" marR="28575" marT="28575" marB="28575" anchor="ctr"/>
                </a:tc>
                <a:extLst>
                  <a:ext uri="{0D108BD9-81ED-4DB2-BD59-A6C34878D82A}">
                    <a16:rowId xmlns:a16="http://schemas.microsoft.com/office/drawing/2014/main" val="207739168"/>
                  </a:ext>
                </a:extLst>
              </a:tr>
              <a:tr h="559654">
                <a:tc>
                  <a:txBody>
                    <a:bodyPr/>
                    <a:lstStyle/>
                    <a:p>
                      <a:pPr marL="90170" algn="r">
                        <a:lnSpc>
                          <a:spcPct val="107000"/>
                        </a:lnSpc>
                        <a:buNone/>
                      </a:pPr>
                      <a:r>
                        <a:rPr lang="en-GB" sz="2000" kern="100">
                          <a:effectLst/>
                        </a:rPr>
                        <a:t>Maximum current sourced by all ports</a:t>
                      </a:r>
                      <a:endParaRPr lang="en-GB" sz="2800" kern="100">
                        <a:effectLst/>
                        <a:latin typeface="Arial" panose="020B0604020202020204" pitchFamily="34" charset="0"/>
                        <a:ea typeface="Aptos" panose="020B0004020202020204" pitchFamily="34" charset="0"/>
                      </a:endParaRPr>
                    </a:p>
                  </a:txBody>
                  <a:tcPr marL="28575" marR="28575" marT="28575" marB="28575" anchor="ctr"/>
                </a:tc>
                <a:tc>
                  <a:txBody>
                    <a:bodyPr/>
                    <a:lstStyle/>
                    <a:p>
                      <a:pPr marL="151130" algn="r">
                        <a:lnSpc>
                          <a:spcPct val="107000"/>
                        </a:lnSpc>
                        <a:buNone/>
                      </a:pPr>
                      <a:r>
                        <a:rPr lang="en-GB" sz="2000" kern="100" dirty="0">
                          <a:effectLst/>
                        </a:rPr>
                        <a:t>140mA</a:t>
                      </a:r>
                      <a:endParaRPr lang="en-GB" sz="2800" kern="100" dirty="0">
                        <a:effectLst/>
                        <a:latin typeface="Arial" panose="020B0604020202020204" pitchFamily="34" charset="0"/>
                        <a:ea typeface="Aptos" panose="020B0004020202020204" pitchFamily="34" charset="0"/>
                      </a:endParaRPr>
                    </a:p>
                  </a:txBody>
                  <a:tcPr marL="28575" marR="28575" marT="28575" marB="28575" anchor="ctr"/>
                </a:tc>
                <a:extLst>
                  <a:ext uri="{0D108BD9-81ED-4DB2-BD59-A6C34878D82A}">
                    <a16:rowId xmlns:a16="http://schemas.microsoft.com/office/drawing/2014/main" val="2304677980"/>
                  </a:ext>
                </a:extLst>
              </a:tr>
              <a:tr h="559654">
                <a:tc>
                  <a:txBody>
                    <a:bodyPr/>
                    <a:lstStyle/>
                    <a:p>
                      <a:pPr marL="90170" algn="r">
                        <a:lnSpc>
                          <a:spcPct val="107000"/>
                        </a:lnSpc>
                        <a:buNone/>
                      </a:pPr>
                      <a:r>
                        <a:rPr lang="en-GB" sz="2000" kern="100">
                          <a:effectLst/>
                        </a:rPr>
                        <a:t>Maximum current out of VSS (Gnd) pin</a:t>
                      </a:r>
                      <a:endParaRPr lang="en-GB" sz="2800" kern="100">
                        <a:effectLst/>
                        <a:latin typeface="Arial" panose="020B0604020202020204" pitchFamily="34" charset="0"/>
                        <a:ea typeface="Aptos" panose="020B0004020202020204" pitchFamily="34" charset="0"/>
                      </a:endParaRPr>
                    </a:p>
                  </a:txBody>
                  <a:tcPr marL="28575" marR="28575" marT="28575" marB="28575" anchor="ctr"/>
                </a:tc>
                <a:tc>
                  <a:txBody>
                    <a:bodyPr/>
                    <a:lstStyle/>
                    <a:p>
                      <a:pPr marL="151130" algn="r">
                        <a:lnSpc>
                          <a:spcPct val="107000"/>
                        </a:lnSpc>
                        <a:buNone/>
                      </a:pPr>
                      <a:r>
                        <a:rPr lang="en-GB" sz="2000" kern="100" dirty="0">
                          <a:effectLst/>
                        </a:rPr>
                        <a:t>95mA</a:t>
                      </a:r>
                      <a:endParaRPr lang="en-GB" sz="2800" kern="100" dirty="0">
                        <a:effectLst/>
                        <a:latin typeface="Arial" panose="020B0604020202020204" pitchFamily="34" charset="0"/>
                        <a:ea typeface="Aptos" panose="020B0004020202020204" pitchFamily="34" charset="0"/>
                      </a:endParaRPr>
                    </a:p>
                  </a:txBody>
                  <a:tcPr marL="28575" marR="28575" marT="28575" marB="28575" anchor="ctr"/>
                </a:tc>
                <a:extLst>
                  <a:ext uri="{0D108BD9-81ED-4DB2-BD59-A6C34878D82A}">
                    <a16:rowId xmlns:a16="http://schemas.microsoft.com/office/drawing/2014/main" val="1044196318"/>
                  </a:ext>
                </a:extLst>
              </a:tr>
              <a:tr h="565872">
                <a:tc>
                  <a:txBody>
                    <a:bodyPr/>
                    <a:lstStyle/>
                    <a:p>
                      <a:pPr marL="90170" algn="r">
                        <a:lnSpc>
                          <a:spcPct val="107000"/>
                        </a:lnSpc>
                        <a:buNone/>
                      </a:pPr>
                      <a:r>
                        <a:rPr lang="en-GB" sz="2000" kern="100">
                          <a:effectLst/>
                        </a:rPr>
                        <a:t>Maximum current into V</a:t>
                      </a:r>
                      <a:r>
                        <a:rPr lang="en-GB" sz="1400" kern="100" baseline="-25000">
                          <a:effectLst/>
                        </a:rPr>
                        <a:t>DD</a:t>
                      </a:r>
                      <a:r>
                        <a:rPr lang="en-GB" sz="2000" kern="100">
                          <a:effectLst/>
                        </a:rPr>
                        <a:t> (5V) pin</a:t>
                      </a:r>
                      <a:endParaRPr lang="en-GB" sz="2800" kern="100">
                        <a:effectLst/>
                        <a:latin typeface="Arial" panose="020B0604020202020204" pitchFamily="34" charset="0"/>
                        <a:ea typeface="Aptos" panose="020B0004020202020204" pitchFamily="34" charset="0"/>
                      </a:endParaRPr>
                    </a:p>
                  </a:txBody>
                  <a:tcPr marL="28575" marR="28575" marT="28575" marB="28575" anchor="ctr"/>
                </a:tc>
                <a:tc>
                  <a:txBody>
                    <a:bodyPr/>
                    <a:lstStyle/>
                    <a:p>
                      <a:pPr marL="151130" algn="r">
                        <a:lnSpc>
                          <a:spcPct val="107000"/>
                        </a:lnSpc>
                        <a:buNone/>
                      </a:pPr>
                      <a:r>
                        <a:rPr lang="en-GB" sz="2000" kern="100" dirty="0">
                          <a:effectLst/>
                        </a:rPr>
                        <a:t>70mA</a:t>
                      </a:r>
                      <a:endParaRPr lang="en-GB" sz="2800" kern="100" dirty="0">
                        <a:effectLst/>
                        <a:latin typeface="Arial" panose="020B0604020202020204" pitchFamily="34" charset="0"/>
                        <a:ea typeface="Aptos" panose="020B0004020202020204" pitchFamily="34" charset="0"/>
                      </a:endParaRPr>
                    </a:p>
                  </a:txBody>
                  <a:tcPr marL="28575" marR="28575" marT="28575" marB="28575" anchor="ctr"/>
                </a:tc>
                <a:extLst>
                  <a:ext uri="{0D108BD9-81ED-4DB2-BD59-A6C34878D82A}">
                    <a16:rowId xmlns:a16="http://schemas.microsoft.com/office/drawing/2014/main" val="773497464"/>
                  </a:ext>
                </a:extLst>
              </a:tr>
            </a:tbl>
          </a:graphicData>
        </a:graphic>
      </p:graphicFrame>
      <p:sp>
        <p:nvSpPr>
          <p:cNvPr id="5" name="TextBox 4">
            <a:extLst>
              <a:ext uri="{FF2B5EF4-FFF2-40B4-BE49-F238E27FC236}">
                <a16:creationId xmlns:a16="http://schemas.microsoft.com/office/drawing/2014/main" id="{E4E2980E-0C26-3924-90DA-391BB033B31D}"/>
              </a:ext>
            </a:extLst>
          </p:cNvPr>
          <p:cNvSpPr txBox="1"/>
          <p:nvPr/>
        </p:nvSpPr>
        <p:spPr>
          <a:xfrm>
            <a:off x="493486" y="1648936"/>
            <a:ext cx="5007428" cy="3970318"/>
          </a:xfrm>
          <a:prstGeom prst="rect">
            <a:avLst/>
          </a:prstGeom>
          <a:noFill/>
        </p:spPr>
        <p:txBody>
          <a:bodyPr wrap="square">
            <a:spAutoFit/>
          </a:bodyPr>
          <a:lstStyle/>
          <a:p>
            <a:r>
              <a:rPr lang="en-GB" sz="1800" dirty="0">
                <a:effectLst/>
                <a:latin typeface="Arial" panose="020B0604020202020204" pitchFamily="34" charset="0"/>
                <a:ea typeface="Aptos" panose="020B0004020202020204" pitchFamily="34" charset="0"/>
                <a:cs typeface="Arial" panose="020B0604020202020204" pitchFamily="34" charset="0"/>
              </a:rPr>
              <a:t>Microcontrollers have limitations in terms of  the output capabilities of the device. </a:t>
            </a:r>
          </a:p>
          <a:p>
            <a:endParaRPr lang="en-GB" dirty="0">
              <a:latin typeface="Arial" panose="020B0604020202020204" pitchFamily="34" charset="0"/>
              <a:ea typeface="Aptos" panose="020B0004020202020204" pitchFamily="34" charset="0"/>
              <a:cs typeface="Arial" panose="020B0604020202020204" pitchFamily="34" charset="0"/>
            </a:endParaRPr>
          </a:p>
          <a:p>
            <a:r>
              <a:rPr lang="en-GB" sz="1800" dirty="0">
                <a:effectLst/>
                <a:latin typeface="Arial" panose="020B0604020202020204" pitchFamily="34" charset="0"/>
                <a:ea typeface="Aptos" panose="020B0004020202020204" pitchFamily="34" charset="0"/>
                <a:cs typeface="Arial" panose="020B0604020202020204" pitchFamily="34" charset="0"/>
              </a:rPr>
              <a:t>Exceeding these limits, even for a short time, may cause permanent damage to the microcontroller.</a:t>
            </a:r>
          </a:p>
          <a:p>
            <a:endParaRPr lang="en-GB" dirty="0">
              <a:latin typeface="Arial" panose="020B0604020202020204" pitchFamily="34" charset="0"/>
              <a:ea typeface="Aptos" panose="020B0004020202020204" pitchFamily="34" charset="0"/>
              <a:cs typeface="Arial" panose="020B0604020202020204" pitchFamily="34" charset="0"/>
            </a:endParaRPr>
          </a:p>
          <a:p>
            <a:r>
              <a:rPr lang="en-GB" sz="1800" dirty="0">
                <a:effectLst/>
                <a:latin typeface="Arial" panose="020B0604020202020204" pitchFamily="34" charset="0"/>
                <a:ea typeface="Aptos" panose="020B0004020202020204" pitchFamily="34" charset="0"/>
                <a:cs typeface="Arial" panose="020B0604020202020204" pitchFamily="34" charset="0"/>
              </a:rPr>
              <a:t>The E-blocks 3 hardware has resistors which limit current on inputs and outputs. </a:t>
            </a:r>
          </a:p>
          <a:p>
            <a:endParaRPr lang="en-GB" dirty="0">
              <a:latin typeface="Arial" panose="020B0604020202020204" pitchFamily="34" charset="0"/>
              <a:ea typeface="Aptos" panose="020B0004020202020204" pitchFamily="34" charset="0"/>
              <a:cs typeface="Arial" panose="020B0604020202020204" pitchFamily="34" charset="0"/>
            </a:endParaRPr>
          </a:p>
          <a:p>
            <a:r>
              <a:rPr lang="en-GB" sz="1800" dirty="0">
                <a:effectLst/>
                <a:latin typeface="Arial" panose="020B0604020202020204" pitchFamily="34" charset="0"/>
                <a:ea typeface="Aptos" panose="020B0004020202020204" pitchFamily="34" charset="0"/>
                <a:cs typeface="Arial" panose="020B0604020202020204" pitchFamily="34" charset="0"/>
              </a:rPr>
              <a:t>Third party hardware may not have this protection.</a:t>
            </a:r>
          </a:p>
          <a:p>
            <a:endParaRPr lang="en-GB" dirty="0">
              <a:latin typeface="Arial" panose="020B0604020202020204" pitchFamily="34" charset="0"/>
              <a:ea typeface="Aptos" panose="020B0004020202020204" pitchFamily="34" charset="0"/>
              <a:cs typeface="Arial" panose="020B0604020202020204" pitchFamily="34" charset="0"/>
            </a:endParaRPr>
          </a:p>
          <a:p>
            <a:r>
              <a:rPr lang="en-GB" sz="1800" dirty="0">
                <a:effectLst/>
                <a:latin typeface="Arial" panose="020B0604020202020204" pitchFamily="34" charset="0"/>
                <a:ea typeface="Aptos" panose="020B0004020202020204" pitchFamily="34" charset="0"/>
                <a:cs typeface="Arial" panose="020B0604020202020204" pitchFamily="34" charset="0"/>
              </a:rPr>
              <a:t> </a:t>
            </a: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4893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52A100B-A7C6-A552-1E70-2600B796CA44}"/>
              </a:ext>
            </a:extLst>
          </p:cNvPr>
          <p:cNvGraphicFramePr>
            <a:graphicFrameLocks noGrp="1"/>
          </p:cNvGraphicFramePr>
          <p:nvPr>
            <p:extLst>
              <p:ext uri="{D42A27DB-BD31-4B8C-83A1-F6EECF244321}">
                <p14:modId xmlns:p14="http://schemas.microsoft.com/office/powerpoint/2010/main" val="1796814433"/>
              </p:ext>
            </p:extLst>
          </p:nvPr>
        </p:nvGraphicFramePr>
        <p:xfrm>
          <a:off x="7423921" y="1796301"/>
          <a:ext cx="3940765" cy="3530443"/>
        </p:xfrm>
        <a:graphic>
          <a:graphicData uri="http://schemas.openxmlformats.org/drawingml/2006/table">
            <a:tbl>
              <a:tblPr firstRow="1" firstCol="1" bandRow="1">
                <a:tableStyleId>{5C22544A-7EE6-4342-B048-85BDC9FD1C3A}</a:tableStyleId>
              </a:tblPr>
              <a:tblGrid>
                <a:gridCol w="1200127">
                  <a:extLst>
                    <a:ext uri="{9D8B030D-6E8A-4147-A177-3AD203B41FA5}">
                      <a16:colId xmlns:a16="http://schemas.microsoft.com/office/drawing/2014/main" val="342300106"/>
                    </a:ext>
                  </a:extLst>
                </a:gridCol>
                <a:gridCol w="1065072">
                  <a:extLst>
                    <a:ext uri="{9D8B030D-6E8A-4147-A177-3AD203B41FA5}">
                      <a16:colId xmlns:a16="http://schemas.microsoft.com/office/drawing/2014/main" val="3816710056"/>
                    </a:ext>
                  </a:extLst>
                </a:gridCol>
                <a:gridCol w="1675566">
                  <a:extLst>
                    <a:ext uri="{9D8B030D-6E8A-4147-A177-3AD203B41FA5}">
                      <a16:colId xmlns:a16="http://schemas.microsoft.com/office/drawing/2014/main" val="4197826198"/>
                    </a:ext>
                  </a:extLst>
                </a:gridCol>
              </a:tblGrid>
              <a:tr h="356810">
                <a:tc gridSpan="2">
                  <a:txBody>
                    <a:bodyPr/>
                    <a:lstStyle/>
                    <a:p>
                      <a:pPr algn="ctr">
                        <a:lnSpc>
                          <a:spcPct val="107000"/>
                        </a:lnSpc>
                        <a:buNone/>
                      </a:pPr>
                      <a:r>
                        <a:rPr lang="en-GB" sz="1800" kern="100" dirty="0">
                          <a:effectLst/>
                        </a:rPr>
                        <a:t>Address</a:t>
                      </a:r>
                      <a:endParaRPr lang="en-GB" sz="2400" kern="100" dirty="0">
                        <a:effectLst/>
                        <a:latin typeface="Arial" panose="020B0604020202020204" pitchFamily="34" charset="0"/>
                        <a:ea typeface="Aptos" panose="020B0004020202020204" pitchFamily="34" charset="0"/>
                      </a:endParaRPr>
                    </a:p>
                  </a:txBody>
                  <a:tcPr marL="28575" marR="28575" marT="28575" marB="28575" anchor="ctr"/>
                </a:tc>
                <a:tc hMerge="1">
                  <a:txBody>
                    <a:bodyPr/>
                    <a:lstStyle/>
                    <a:p>
                      <a:endParaRPr lang="en-GB"/>
                    </a:p>
                  </a:txBody>
                  <a:tcPr/>
                </a:tc>
                <a:tc rowSpan="2">
                  <a:txBody>
                    <a:bodyPr/>
                    <a:lstStyle/>
                    <a:p>
                      <a:pPr algn="ctr">
                        <a:lnSpc>
                          <a:spcPct val="107000"/>
                        </a:lnSpc>
                        <a:buNone/>
                      </a:pPr>
                      <a:r>
                        <a:rPr lang="en-GB" sz="1800" kern="100">
                          <a:effectLst/>
                        </a:rPr>
                        <a:t>Data stored</a:t>
                      </a:r>
                      <a:endParaRPr lang="en-GB" sz="2400" kern="100">
                        <a:effectLst/>
                        <a:latin typeface="Arial" panose="020B0604020202020204" pitchFamily="34" charset="0"/>
                        <a:ea typeface="Aptos" panose="020B0004020202020204" pitchFamily="34" charset="0"/>
                      </a:endParaRPr>
                    </a:p>
                  </a:txBody>
                  <a:tcPr marL="28575" marR="28575" marT="28575" marB="28575" anchor="ctr"/>
                </a:tc>
                <a:extLst>
                  <a:ext uri="{0D108BD9-81ED-4DB2-BD59-A6C34878D82A}">
                    <a16:rowId xmlns:a16="http://schemas.microsoft.com/office/drawing/2014/main" val="156509669"/>
                  </a:ext>
                </a:extLst>
              </a:tr>
              <a:tr h="356810">
                <a:tc>
                  <a:txBody>
                    <a:bodyPr/>
                    <a:lstStyle/>
                    <a:p>
                      <a:pPr algn="ctr">
                        <a:lnSpc>
                          <a:spcPct val="107000"/>
                        </a:lnSpc>
                        <a:buNone/>
                      </a:pPr>
                      <a:r>
                        <a:rPr lang="en-GB" sz="1800" kern="100">
                          <a:effectLst/>
                        </a:rPr>
                        <a:t>In decimal</a:t>
                      </a:r>
                      <a:endParaRPr lang="en-GB" sz="2400" kern="100">
                        <a:effectLst/>
                        <a:latin typeface="Arial" panose="020B0604020202020204" pitchFamily="34" charset="0"/>
                        <a:ea typeface="Aptos" panose="020B0004020202020204" pitchFamily="34" charset="0"/>
                      </a:endParaRPr>
                    </a:p>
                  </a:txBody>
                  <a:tcPr marL="28575" marR="28575" marT="28575" marB="28575"/>
                </a:tc>
                <a:tc>
                  <a:txBody>
                    <a:bodyPr/>
                    <a:lstStyle/>
                    <a:p>
                      <a:pPr algn="ctr">
                        <a:lnSpc>
                          <a:spcPct val="107000"/>
                        </a:lnSpc>
                        <a:buNone/>
                      </a:pPr>
                      <a:r>
                        <a:rPr lang="en-GB" sz="1800" kern="100" dirty="0">
                          <a:effectLst/>
                        </a:rPr>
                        <a:t>In binary</a:t>
                      </a:r>
                      <a:endParaRPr lang="en-GB" sz="2400" kern="100" dirty="0">
                        <a:effectLst/>
                        <a:latin typeface="Arial" panose="020B0604020202020204" pitchFamily="34" charset="0"/>
                        <a:ea typeface="Aptos" panose="020B0004020202020204" pitchFamily="34" charset="0"/>
                      </a:endParaRPr>
                    </a:p>
                  </a:txBody>
                  <a:tcPr marL="28575" marR="28575" marT="28575" marB="28575"/>
                </a:tc>
                <a:tc vMerge="1">
                  <a:txBody>
                    <a:bodyPr/>
                    <a:lstStyle/>
                    <a:p>
                      <a:endParaRPr lang="en-GB"/>
                    </a:p>
                  </a:txBody>
                  <a:tcPr/>
                </a:tc>
                <a:extLst>
                  <a:ext uri="{0D108BD9-81ED-4DB2-BD59-A6C34878D82A}">
                    <a16:rowId xmlns:a16="http://schemas.microsoft.com/office/drawing/2014/main" val="2349757923"/>
                  </a:ext>
                </a:extLst>
              </a:tr>
              <a:tr h="350864">
                <a:tc>
                  <a:txBody>
                    <a:bodyPr/>
                    <a:lstStyle/>
                    <a:p>
                      <a:pPr algn="ctr">
                        <a:lnSpc>
                          <a:spcPct val="107000"/>
                        </a:lnSpc>
                        <a:buNone/>
                      </a:pPr>
                      <a:r>
                        <a:rPr lang="en-GB" sz="1800" kern="100">
                          <a:effectLst/>
                        </a:rPr>
                        <a:t>0</a:t>
                      </a:r>
                      <a:endParaRPr lang="en-GB" sz="2400" kern="100">
                        <a:effectLst/>
                        <a:latin typeface="Arial" panose="020B0604020202020204" pitchFamily="34" charset="0"/>
                        <a:ea typeface="Aptos" panose="020B0004020202020204" pitchFamily="34" charset="0"/>
                      </a:endParaRPr>
                    </a:p>
                  </a:txBody>
                  <a:tcPr marL="28575" marR="28575" marT="28575" marB="28575"/>
                </a:tc>
                <a:tc>
                  <a:txBody>
                    <a:bodyPr/>
                    <a:lstStyle/>
                    <a:p>
                      <a:pPr algn="ctr">
                        <a:lnSpc>
                          <a:spcPct val="107000"/>
                        </a:lnSpc>
                        <a:buNone/>
                      </a:pPr>
                      <a:r>
                        <a:rPr lang="en-GB" sz="1800" kern="100">
                          <a:effectLst/>
                        </a:rPr>
                        <a:t>000</a:t>
                      </a:r>
                      <a:endParaRPr lang="en-GB" sz="2400" kern="100">
                        <a:effectLst/>
                        <a:latin typeface="Arial" panose="020B0604020202020204" pitchFamily="34" charset="0"/>
                        <a:ea typeface="Aptos" panose="020B0004020202020204" pitchFamily="34" charset="0"/>
                      </a:endParaRPr>
                    </a:p>
                  </a:txBody>
                  <a:tcPr marL="28575" marR="28575" marT="28575" marB="28575"/>
                </a:tc>
                <a:tc>
                  <a:txBody>
                    <a:bodyPr/>
                    <a:lstStyle/>
                    <a:p>
                      <a:pPr algn="ctr">
                        <a:lnSpc>
                          <a:spcPct val="107000"/>
                        </a:lnSpc>
                        <a:buNone/>
                      </a:pPr>
                      <a:r>
                        <a:rPr lang="en-GB" sz="1800" kern="100">
                          <a:effectLst/>
                        </a:rPr>
                        <a:t>11101001</a:t>
                      </a:r>
                      <a:endParaRPr lang="en-GB" sz="2400" kern="100">
                        <a:effectLst/>
                        <a:latin typeface="Arial" panose="020B0604020202020204" pitchFamily="34" charset="0"/>
                        <a:ea typeface="Aptos" panose="020B0004020202020204" pitchFamily="34" charset="0"/>
                      </a:endParaRPr>
                    </a:p>
                  </a:txBody>
                  <a:tcPr marL="28575" marR="28575" marT="28575" marB="28575"/>
                </a:tc>
                <a:extLst>
                  <a:ext uri="{0D108BD9-81ED-4DB2-BD59-A6C34878D82A}">
                    <a16:rowId xmlns:a16="http://schemas.microsoft.com/office/drawing/2014/main" val="3595650250"/>
                  </a:ext>
                </a:extLst>
              </a:tr>
              <a:tr h="350864">
                <a:tc>
                  <a:txBody>
                    <a:bodyPr/>
                    <a:lstStyle/>
                    <a:p>
                      <a:pPr algn="ctr">
                        <a:lnSpc>
                          <a:spcPct val="107000"/>
                        </a:lnSpc>
                        <a:buNone/>
                      </a:pPr>
                      <a:r>
                        <a:rPr lang="en-GB" sz="1800" kern="100">
                          <a:effectLst/>
                        </a:rPr>
                        <a:t>1</a:t>
                      </a:r>
                      <a:endParaRPr lang="en-GB" sz="2400" kern="100">
                        <a:effectLst/>
                        <a:latin typeface="Arial" panose="020B0604020202020204" pitchFamily="34" charset="0"/>
                        <a:ea typeface="Aptos" panose="020B0004020202020204" pitchFamily="34" charset="0"/>
                      </a:endParaRPr>
                    </a:p>
                  </a:txBody>
                  <a:tcPr marL="28575" marR="28575" marT="28575" marB="28575"/>
                </a:tc>
                <a:tc>
                  <a:txBody>
                    <a:bodyPr/>
                    <a:lstStyle/>
                    <a:p>
                      <a:pPr algn="ctr">
                        <a:lnSpc>
                          <a:spcPct val="107000"/>
                        </a:lnSpc>
                        <a:buNone/>
                      </a:pPr>
                      <a:r>
                        <a:rPr lang="en-GB" sz="1800" kern="100">
                          <a:effectLst/>
                        </a:rPr>
                        <a:t>001</a:t>
                      </a:r>
                      <a:endParaRPr lang="en-GB" sz="2400" kern="100">
                        <a:effectLst/>
                        <a:latin typeface="Arial" panose="020B0604020202020204" pitchFamily="34" charset="0"/>
                        <a:ea typeface="Aptos" panose="020B0004020202020204" pitchFamily="34" charset="0"/>
                      </a:endParaRPr>
                    </a:p>
                  </a:txBody>
                  <a:tcPr marL="28575" marR="28575" marT="28575" marB="28575"/>
                </a:tc>
                <a:tc>
                  <a:txBody>
                    <a:bodyPr/>
                    <a:lstStyle/>
                    <a:p>
                      <a:pPr algn="ctr">
                        <a:lnSpc>
                          <a:spcPct val="107000"/>
                        </a:lnSpc>
                        <a:buNone/>
                      </a:pPr>
                      <a:r>
                        <a:rPr lang="en-GB" sz="1800" kern="100">
                          <a:effectLst/>
                        </a:rPr>
                        <a:t>00100101</a:t>
                      </a:r>
                      <a:endParaRPr lang="en-GB" sz="2400" kern="100">
                        <a:effectLst/>
                        <a:latin typeface="Arial" panose="020B0604020202020204" pitchFamily="34" charset="0"/>
                        <a:ea typeface="Aptos" panose="020B0004020202020204" pitchFamily="34" charset="0"/>
                      </a:endParaRPr>
                    </a:p>
                  </a:txBody>
                  <a:tcPr marL="28575" marR="28575" marT="28575" marB="28575"/>
                </a:tc>
                <a:extLst>
                  <a:ext uri="{0D108BD9-81ED-4DB2-BD59-A6C34878D82A}">
                    <a16:rowId xmlns:a16="http://schemas.microsoft.com/office/drawing/2014/main" val="390207784"/>
                  </a:ext>
                </a:extLst>
              </a:tr>
              <a:tr h="350864">
                <a:tc>
                  <a:txBody>
                    <a:bodyPr/>
                    <a:lstStyle/>
                    <a:p>
                      <a:pPr algn="ctr">
                        <a:lnSpc>
                          <a:spcPct val="107000"/>
                        </a:lnSpc>
                        <a:buNone/>
                      </a:pPr>
                      <a:r>
                        <a:rPr lang="en-GB" sz="1800" kern="100">
                          <a:effectLst/>
                        </a:rPr>
                        <a:t>2</a:t>
                      </a:r>
                      <a:endParaRPr lang="en-GB" sz="2400" kern="100">
                        <a:effectLst/>
                        <a:latin typeface="Arial" panose="020B0604020202020204" pitchFamily="34" charset="0"/>
                        <a:ea typeface="Aptos" panose="020B0004020202020204" pitchFamily="34" charset="0"/>
                      </a:endParaRPr>
                    </a:p>
                  </a:txBody>
                  <a:tcPr marL="28575" marR="28575" marT="28575" marB="28575"/>
                </a:tc>
                <a:tc>
                  <a:txBody>
                    <a:bodyPr/>
                    <a:lstStyle/>
                    <a:p>
                      <a:pPr algn="ctr">
                        <a:lnSpc>
                          <a:spcPct val="107000"/>
                        </a:lnSpc>
                        <a:buNone/>
                      </a:pPr>
                      <a:r>
                        <a:rPr lang="en-GB" sz="1800" kern="100" dirty="0">
                          <a:effectLst/>
                        </a:rPr>
                        <a:t>010</a:t>
                      </a:r>
                      <a:endParaRPr lang="en-GB" sz="2400" kern="100" dirty="0">
                        <a:effectLst/>
                        <a:latin typeface="Arial" panose="020B0604020202020204" pitchFamily="34" charset="0"/>
                        <a:ea typeface="Aptos" panose="020B0004020202020204" pitchFamily="34" charset="0"/>
                      </a:endParaRPr>
                    </a:p>
                  </a:txBody>
                  <a:tcPr marL="28575" marR="28575" marT="28575" marB="28575"/>
                </a:tc>
                <a:tc>
                  <a:txBody>
                    <a:bodyPr/>
                    <a:lstStyle/>
                    <a:p>
                      <a:pPr algn="ctr">
                        <a:lnSpc>
                          <a:spcPct val="107000"/>
                        </a:lnSpc>
                        <a:buNone/>
                      </a:pPr>
                      <a:r>
                        <a:rPr lang="en-GB" sz="1800" kern="100">
                          <a:effectLst/>
                        </a:rPr>
                        <a:t>10000101</a:t>
                      </a:r>
                      <a:endParaRPr lang="en-GB" sz="2400" kern="100">
                        <a:effectLst/>
                        <a:latin typeface="Arial" panose="020B0604020202020204" pitchFamily="34" charset="0"/>
                        <a:ea typeface="Aptos" panose="020B0004020202020204" pitchFamily="34" charset="0"/>
                      </a:endParaRPr>
                    </a:p>
                  </a:txBody>
                  <a:tcPr marL="28575" marR="28575" marT="28575" marB="28575"/>
                </a:tc>
                <a:extLst>
                  <a:ext uri="{0D108BD9-81ED-4DB2-BD59-A6C34878D82A}">
                    <a16:rowId xmlns:a16="http://schemas.microsoft.com/office/drawing/2014/main" val="1031942440"/>
                  </a:ext>
                </a:extLst>
              </a:tr>
              <a:tr h="350864">
                <a:tc>
                  <a:txBody>
                    <a:bodyPr/>
                    <a:lstStyle/>
                    <a:p>
                      <a:pPr algn="ctr">
                        <a:lnSpc>
                          <a:spcPct val="107000"/>
                        </a:lnSpc>
                        <a:buNone/>
                      </a:pPr>
                      <a:r>
                        <a:rPr lang="en-GB" sz="1800" kern="100">
                          <a:effectLst/>
                        </a:rPr>
                        <a:t>3</a:t>
                      </a:r>
                      <a:endParaRPr lang="en-GB" sz="2400" kern="100">
                        <a:effectLst/>
                        <a:latin typeface="Arial" panose="020B0604020202020204" pitchFamily="34" charset="0"/>
                        <a:ea typeface="Aptos" panose="020B0004020202020204" pitchFamily="34" charset="0"/>
                      </a:endParaRPr>
                    </a:p>
                  </a:txBody>
                  <a:tcPr marL="28575" marR="28575" marT="28575" marB="28575"/>
                </a:tc>
                <a:tc>
                  <a:txBody>
                    <a:bodyPr/>
                    <a:lstStyle/>
                    <a:p>
                      <a:pPr algn="ctr">
                        <a:lnSpc>
                          <a:spcPct val="107000"/>
                        </a:lnSpc>
                        <a:buNone/>
                      </a:pPr>
                      <a:r>
                        <a:rPr lang="en-GB" sz="1800" kern="100">
                          <a:effectLst/>
                        </a:rPr>
                        <a:t>011</a:t>
                      </a:r>
                      <a:endParaRPr lang="en-GB" sz="2400" kern="100">
                        <a:effectLst/>
                        <a:latin typeface="Arial" panose="020B0604020202020204" pitchFamily="34" charset="0"/>
                        <a:ea typeface="Aptos" panose="020B0004020202020204" pitchFamily="34" charset="0"/>
                      </a:endParaRPr>
                    </a:p>
                  </a:txBody>
                  <a:tcPr marL="28575" marR="28575" marT="28575" marB="28575"/>
                </a:tc>
                <a:tc>
                  <a:txBody>
                    <a:bodyPr/>
                    <a:lstStyle/>
                    <a:p>
                      <a:pPr algn="ctr">
                        <a:lnSpc>
                          <a:spcPct val="107000"/>
                        </a:lnSpc>
                        <a:buNone/>
                      </a:pPr>
                      <a:r>
                        <a:rPr lang="en-GB" sz="1800" kern="100" dirty="0">
                          <a:effectLst/>
                        </a:rPr>
                        <a:t>11001101</a:t>
                      </a:r>
                      <a:endParaRPr lang="en-GB" sz="2400" kern="100" dirty="0">
                        <a:effectLst/>
                        <a:latin typeface="Arial" panose="020B0604020202020204" pitchFamily="34" charset="0"/>
                        <a:ea typeface="Aptos" panose="020B0004020202020204" pitchFamily="34" charset="0"/>
                      </a:endParaRPr>
                    </a:p>
                  </a:txBody>
                  <a:tcPr marL="28575" marR="28575" marT="28575" marB="28575"/>
                </a:tc>
                <a:extLst>
                  <a:ext uri="{0D108BD9-81ED-4DB2-BD59-A6C34878D82A}">
                    <a16:rowId xmlns:a16="http://schemas.microsoft.com/office/drawing/2014/main" val="4281951096"/>
                  </a:ext>
                </a:extLst>
              </a:tr>
              <a:tr h="350864">
                <a:tc>
                  <a:txBody>
                    <a:bodyPr/>
                    <a:lstStyle/>
                    <a:p>
                      <a:pPr algn="ctr">
                        <a:lnSpc>
                          <a:spcPct val="107000"/>
                        </a:lnSpc>
                        <a:buNone/>
                      </a:pPr>
                      <a:r>
                        <a:rPr lang="en-GB" sz="1800" kern="100">
                          <a:effectLst/>
                        </a:rPr>
                        <a:t>4</a:t>
                      </a:r>
                      <a:endParaRPr lang="en-GB" sz="2400" kern="100">
                        <a:effectLst/>
                        <a:latin typeface="Arial" panose="020B0604020202020204" pitchFamily="34" charset="0"/>
                        <a:ea typeface="Aptos" panose="020B0004020202020204" pitchFamily="34" charset="0"/>
                      </a:endParaRPr>
                    </a:p>
                  </a:txBody>
                  <a:tcPr marL="28575" marR="28575" marT="28575" marB="28575"/>
                </a:tc>
                <a:tc>
                  <a:txBody>
                    <a:bodyPr/>
                    <a:lstStyle/>
                    <a:p>
                      <a:pPr algn="ctr">
                        <a:lnSpc>
                          <a:spcPct val="107000"/>
                        </a:lnSpc>
                        <a:buNone/>
                      </a:pPr>
                      <a:r>
                        <a:rPr lang="en-GB" sz="1800" kern="100">
                          <a:effectLst/>
                        </a:rPr>
                        <a:t>100</a:t>
                      </a:r>
                      <a:endParaRPr lang="en-GB" sz="2400" kern="100">
                        <a:effectLst/>
                        <a:latin typeface="Arial" panose="020B0604020202020204" pitchFamily="34" charset="0"/>
                        <a:ea typeface="Aptos" panose="020B0004020202020204" pitchFamily="34" charset="0"/>
                      </a:endParaRPr>
                    </a:p>
                  </a:txBody>
                  <a:tcPr marL="28575" marR="28575" marT="28575" marB="28575"/>
                </a:tc>
                <a:tc>
                  <a:txBody>
                    <a:bodyPr/>
                    <a:lstStyle/>
                    <a:p>
                      <a:pPr algn="ctr">
                        <a:lnSpc>
                          <a:spcPct val="107000"/>
                        </a:lnSpc>
                        <a:buNone/>
                      </a:pPr>
                      <a:r>
                        <a:rPr lang="en-GB" sz="1800" kern="100">
                          <a:effectLst/>
                        </a:rPr>
                        <a:t>01110100</a:t>
                      </a:r>
                      <a:endParaRPr lang="en-GB" sz="2400" kern="100">
                        <a:effectLst/>
                        <a:latin typeface="Arial" panose="020B0604020202020204" pitchFamily="34" charset="0"/>
                        <a:ea typeface="Aptos" panose="020B0004020202020204" pitchFamily="34" charset="0"/>
                      </a:endParaRPr>
                    </a:p>
                  </a:txBody>
                  <a:tcPr marL="28575" marR="28575" marT="28575" marB="28575"/>
                </a:tc>
                <a:extLst>
                  <a:ext uri="{0D108BD9-81ED-4DB2-BD59-A6C34878D82A}">
                    <a16:rowId xmlns:a16="http://schemas.microsoft.com/office/drawing/2014/main" val="582966143"/>
                  </a:ext>
                </a:extLst>
              </a:tr>
              <a:tr h="350864">
                <a:tc>
                  <a:txBody>
                    <a:bodyPr/>
                    <a:lstStyle/>
                    <a:p>
                      <a:pPr algn="ctr">
                        <a:lnSpc>
                          <a:spcPct val="107000"/>
                        </a:lnSpc>
                        <a:buNone/>
                      </a:pPr>
                      <a:r>
                        <a:rPr lang="en-GB" sz="1800" kern="100">
                          <a:effectLst/>
                        </a:rPr>
                        <a:t>5</a:t>
                      </a:r>
                      <a:endParaRPr lang="en-GB" sz="2400" kern="100">
                        <a:effectLst/>
                        <a:latin typeface="Arial" panose="020B0604020202020204" pitchFamily="34" charset="0"/>
                        <a:ea typeface="Aptos" panose="020B0004020202020204" pitchFamily="34" charset="0"/>
                      </a:endParaRPr>
                    </a:p>
                  </a:txBody>
                  <a:tcPr marL="28575" marR="28575" marT="28575" marB="28575"/>
                </a:tc>
                <a:tc>
                  <a:txBody>
                    <a:bodyPr/>
                    <a:lstStyle/>
                    <a:p>
                      <a:pPr algn="ctr">
                        <a:lnSpc>
                          <a:spcPct val="107000"/>
                        </a:lnSpc>
                        <a:buNone/>
                      </a:pPr>
                      <a:r>
                        <a:rPr lang="en-GB" sz="1800" kern="100">
                          <a:effectLst/>
                        </a:rPr>
                        <a:t>101</a:t>
                      </a:r>
                      <a:endParaRPr lang="en-GB" sz="2400" kern="100">
                        <a:effectLst/>
                        <a:latin typeface="Arial" panose="020B0604020202020204" pitchFamily="34" charset="0"/>
                        <a:ea typeface="Aptos" panose="020B0004020202020204" pitchFamily="34" charset="0"/>
                      </a:endParaRPr>
                    </a:p>
                  </a:txBody>
                  <a:tcPr marL="28575" marR="28575" marT="28575" marB="28575"/>
                </a:tc>
                <a:tc>
                  <a:txBody>
                    <a:bodyPr/>
                    <a:lstStyle/>
                    <a:p>
                      <a:pPr algn="ctr">
                        <a:lnSpc>
                          <a:spcPct val="107000"/>
                        </a:lnSpc>
                        <a:buNone/>
                      </a:pPr>
                      <a:r>
                        <a:rPr lang="en-GB" sz="1800" kern="100" dirty="0">
                          <a:effectLst/>
                        </a:rPr>
                        <a:t>00011011</a:t>
                      </a:r>
                      <a:endParaRPr lang="en-GB" sz="2400" kern="100" dirty="0">
                        <a:effectLst/>
                        <a:latin typeface="Arial" panose="020B0604020202020204" pitchFamily="34" charset="0"/>
                        <a:ea typeface="Aptos" panose="020B0004020202020204" pitchFamily="34" charset="0"/>
                      </a:endParaRPr>
                    </a:p>
                  </a:txBody>
                  <a:tcPr marL="28575" marR="28575" marT="28575" marB="28575"/>
                </a:tc>
                <a:extLst>
                  <a:ext uri="{0D108BD9-81ED-4DB2-BD59-A6C34878D82A}">
                    <a16:rowId xmlns:a16="http://schemas.microsoft.com/office/drawing/2014/main" val="1057051488"/>
                  </a:ext>
                </a:extLst>
              </a:tr>
              <a:tr h="350864">
                <a:tc>
                  <a:txBody>
                    <a:bodyPr/>
                    <a:lstStyle/>
                    <a:p>
                      <a:pPr algn="ctr">
                        <a:lnSpc>
                          <a:spcPct val="107000"/>
                        </a:lnSpc>
                        <a:buNone/>
                      </a:pPr>
                      <a:r>
                        <a:rPr lang="en-GB" sz="1800" kern="100">
                          <a:effectLst/>
                        </a:rPr>
                        <a:t>6</a:t>
                      </a:r>
                      <a:endParaRPr lang="en-GB" sz="2400" kern="100">
                        <a:effectLst/>
                        <a:latin typeface="Arial" panose="020B0604020202020204" pitchFamily="34" charset="0"/>
                        <a:ea typeface="Aptos" panose="020B0004020202020204" pitchFamily="34" charset="0"/>
                      </a:endParaRPr>
                    </a:p>
                  </a:txBody>
                  <a:tcPr marL="28575" marR="28575" marT="28575" marB="28575"/>
                </a:tc>
                <a:tc>
                  <a:txBody>
                    <a:bodyPr/>
                    <a:lstStyle/>
                    <a:p>
                      <a:pPr algn="ctr">
                        <a:lnSpc>
                          <a:spcPct val="107000"/>
                        </a:lnSpc>
                        <a:buNone/>
                      </a:pPr>
                      <a:r>
                        <a:rPr lang="en-GB" sz="1800" kern="100">
                          <a:effectLst/>
                        </a:rPr>
                        <a:t>110</a:t>
                      </a:r>
                      <a:endParaRPr lang="en-GB" sz="2400" kern="100">
                        <a:effectLst/>
                        <a:latin typeface="Arial" panose="020B0604020202020204" pitchFamily="34" charset="0"/>
                        <a:ea typeface="Aptos" panose="020B0004020202020204" pitchFamily="34" charset="0"/>
                      </a:endParaRPr>
                    </a:p>
                  </a:txBody>
                  <a:tcPr marL="28575" marR="28575" marT="28575" marB="28575"/>
                </a:tc>
                <a:tc>
                  <a:txBody>
                    <a:bodyPr/>
                    <a:lstStyle/>
                    <a:p>
                      <a:pPr algn="ctr">
                        <a:lnSpc>
                          <a:spcPct val="107000"/>
                        </a:lnSpc>
                        <a:buNone/>
                      </a:pPr>
                      <a:r>
                        <a:rPr lang="en-GB" sz="1800" kern="100" dirty="0">
                          <a:effectLst/>
                        </a:rPr>
                        <a:t>11110011</a:t>
                      </a:r>
                      <a:endParaRPr lang="en-GB" sz="2400" kern="100" dirty="0">
                        <a:effectLst/>
                        <a:latin typeface="Arial" panose="020B0604020202020204" pitchFamily="34" charset="0"/>
                        <a:ea typeface="Aptos" panose="020B0004020202020204" pitchFamily="34" charset="0"/>
                      </a:endParaRPr>
                    </a:p>
                  </a:txBody>
                  <a:tcPr marL="28575" marR="28575" marT="28575" marB="28575"/>
                </a:tc>
                <a:extLst>
                  <a:ext uri="{0D108BD9-81ED-4DB2-BD59-A6C34878D82A}">
                    <a16:rowId xmlns:a16="http://schemas.microsoft.com/office/drawing/2014/main" val="1957529906"/>
                  </a:ext>
                </a:extLst>
              </a:tr>
              <a:tr h="360775">
                <a:tc>
                  <a:txBody>
                    <a:bodyPr/>
                    <a:lstStyle/>
                    <a:p>
                      <a:pPr algn="ctr">
                        <a:lnSpc>
                          <a:spcPct val="107000"/>
                        </a:lnSpc>
                        <a:buNone/>
                      </a:pPr>
                      <a:r>
                        <a:rPr lang="en-GB" sz="1800" kern="100">
                          <a:effectLst/>
                        </a:rPr>
                        <a:t>7</a:t>
                      </a:r>
                      <a:endParaRPr lang="en-GB" sz="2400" kern="100">
                        <a:effectLst/>
                        <a:latin typeface="Arial" panose="020B0604020202020204" pitchFamily="34" charset="0"/>
                        <a:ea typeface="Aptos" panose="020B0004020202020204" pitchFamily="34" charset="0"/>
                      </a:endParaRPr>
                    </a:p>
                  </a:txBody>
                  <a:tcPr marL="28575" marR="28575" marT="28575" marB="28575"/>
                </a:tc>
                <a:tc>
                  <a:txBody>
                    <a:bodyPr/>
                    <a:lstStyle/>
                    <a:p>
                      <a:pPr algn="ctr">
                        <a:lnSpc>
                          <a:spcPct val="107000"/>
                        </a:lnSpc>
                        <a:buNone/>
                      </a:pPr>
                      <a:r>
                        <a:rPr lang="en-GB" sz="1800" kern="100">
                          <a:effectLst/>
                        </a:rPr>
                        <a:t>111</a:t>
                      </a:r>
                      <a:endParaRPr lang="en-GB" sz="2400" kern="100">
                        <a:effectLst/>
                        <a:latin typeface="Arial" panose="020B0604020202020204" pitchFamily="34" charset="0"/>
                        <a:ea typeface="Aptos" panose="020B0004020202020204" pitchFamily="34" charset="0"/>
                      </a:endParaRPr>
                    </a:p>
                  </a:txBody>
                  <a:tcPr marL="28575" marR="28575" marT="28575" marB="28575"/>
                </a:tc>
                <a:tc>
                  <a:txBody>
                    <a:bodyPr/>
                    <a:lstStyle/>
                    <a:p>
                      <a:pPr algn="ctr">
                        <a:lnSpc>
                          <a:spcPct val="107000"/>
                        </a:lnSpc>
                        <a:buNone/>
                      </a:pPr>
                      <a:r>
                        <a:rPr lang="en-GB" sz="1800" kern="100" dirty="0">
                          <a:effectLst/>
                        </a:rPr>
                        <a:t>10000101</a:t>
                      </a:r>
                      <a:endParaRPr lang="en-GB" sz="2400" kern="100" dirty="0">
                        <a:effectLst/>
                        <a:latin typeface="Arial" panose="020B0604020202020204" pitchFamily="34" charset="0"/>
                        <a:ea typeface="Aptos" panose="020B0004020202020204" pitchFamily="34" charset="0"/>
                      </a:endParaRPr>
                    </a:p>
                  </a:txBody>
                  <a:tcPr marL="28575" marR="28575" marT="28575" marB="28575"/>
                </a:tc>
                <a:extLst>
                  <a:ext uri="{0D108BD9-81ED-4DB2-BD59-A6C34878D82A}">
                    <a16:rowId xmlns:a16="http://schemas.microsoft.com/office/drawing/2014/main" val="1126724846"/>
                  </a:ext>
                </a:extLst>
              </a:tr>
            </a:tbl>
          </a:graphicData>
        </a:graphic>
      </p:graphicFrame>
      <p:sp>
        <p:nvSpPr>
          <p:cNvPr id="4" name="TextBox 3">
            <a:extLst>
              <a:ext uri="{FF2B5EF4-FFF2-40B4-BE49-F238E27FC236}">
                <a16:creationId xmlns:a16="http://schemas.microsoft.com/office/drawing/2014/main" id="{E4F5B830-894A-18ED-118C-AC066FFAE5B1}"/>
              </a:ext>
            </a:extLst>
          </p:cNvPr>
          <p:cNvSpPr txBox="1"/>
          <p:nvPr/>
        </p:nvSpPr>
        <p:spPr>
          <a:xfrm>
            <a:off x="304800" y="1111186"/>
            <a:ext cx="6096000" cy="5355312"/>
          </a:xfrm>
          <a:prstGeom prst="rect">
            <a:avLst/>
          </a:prstGeom>
          <a:noFill/>
        </p:spPr>
        <p:txBody>
          <a:bodyPr wrap="square">
            <a:spAutoFit/>
          </a:bodyPr>
          <a:lstStyle/>
          <a:p>
            <a:r>
              <a:rPr lang="en-GB" dirty="0">
                <a:latin typeface="Arial" panose="020B0604020202020204" pitchFamily="34" charset="0"/>
                <a:cs typeface="Arial" panose="020B0604020202020204" pitchFamily="34" charset="0"/>
              </a:rPr>
              <a:t>Electronic sub-systems that store data are known as ‘memory’. They can store only digital data. </a:t>
            </a:r>
          </a:p>
          <a:p>
            <a:r>
              <a:rPr lang="en-GB" dirty="0">
                <a:latin typeface="Arial" panose="020B0604020202020204" pitchFamily="34" charset="0"/>
                <a:cs typeface="Arial" panose="020B0604020202020204" pitchFamily="34" charset="0"/>
              </a:rPr>
              <a:t> </a:t>
            </a:r>
          </a:p>
          <a:p>
            <a:r>
              <a:rPr lang="en-GB" dirty="0">
                <a:latin typeface="Arial" panose="020B0604020202020204" pitchFamily="34" charset="0"/>
                <a:cs typeface="Arial" panose="020B0604020202020204" pitchFamily="34" charset="0"/>
              </a:rPr>
              <a:t>One item of data is stored in one location in the memory. This data could be the correct combination to disarm a burglar alarm, or the target temperature of a car engine block. </a:t>
            </a:r>
          </a:p>
          <a:p>
            <a:r>
              <a:rPr lang="en-GB" dirty="0">
                <a:latin typeface="Arial" panose="020B0604020202020204" pitchFamily="34" charset="0"/>
                <a:cs typeface="Arial" panose="020B0604020202020204" pitchFamily="34" charset="0"/>
              </a:rPr>
              <a:t> </a:t>
            </a:r>
          </a:p>
          <a:p>
            <a:r>
              <a:rPr lang="en-GB" dirty="0">
                <a:latin typeface="Arial" panose="020B0604020202020204" pitchFamily="34" charset="0"/>
                <a:cs typeface="Arial" panose="020B0604020202020204" pitchFamily="34" charset="0"/>
              </a:rPr>
              <a:t>Each memory location has a unique address, a number used to identify the particular location. This means that we can draw up a map of the memory, showing what data is held in each location. </a:t>
            </a:r>
          </a:p>
          <a:p>
            <a:r>
              <a:rPr lang="en-GB" dirty="0">
                <a:latin typeface="Arial" panose="020B0604020202020204" pitchFamily="34" charset="0"/>
                <a:cs typeface="Arial" panose="020B0604020202020204" pitchFamily="34" charset="0"/>
              </a:rPr>
              <a:t> </a:t>
            </a:r>
          </a:p>
          <a:p>
            <a:r>
              <a:rPr lang="en-GB" dirty="0">
                <a:latin typeface="Arial" panose="020B0604020202020204" pitchFamily="34" charset="0"/>
                <a:cs typeface="Arial" panose="020B0604020202020204" pitchFamily="34" charset="0"/>
              </a:rPr>
              <a:t>The decimal version of the address is included to make the table easier to read.</a:t>
            </a:r>
          </a:p>
          <a:p>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This very small memory has eight locations.</a:t>
            </a:r>
          </a:p>
          <a:p>
            <a:r>
              <a:rPr lang="en-GB" dirty="0">
                <a:latin typeface="Arial" panose="020B0604020202020204" pitchFamily="34" charset="0"/>
                <a:cs typeface="Arial" panose="020B0604020202020204" pitchFamily="34" charset="0"/>
              </a:rPr>
              <a:t> </a:t>
            </a:r>
          </a:p>
          <a:p>
            <a:r>
              <a:rPr lang="en-GB" dirty="0">
                <a:latin typeface="Arial" panose="020B0604020202020204" pitchFamily="34" charset="0"/>
                <a:cs typeface="Arial" panose="020B0604020202020204" pitchFamily="34" charset="0"/>
              </a:rPr>
              <a:t> </a:t>
            </a:r>
          </a:p>
        </p:txBody>
      </p:sp>
      <p:sp>
        <p:nvSpPr>
          <p:cNvPr id="5" name="TextBox 4">
            <a:extLst>
              <a:ext uri="{FF2B5EF4-FFF2-40B4-BE49-F238E27FC236}">
                <a16:creationId xmlns:a16="http://schemas.microsoft.com/office/drawing/2014/main" id="{2CD8B88E-10D0-A82E-3CAB-1231BCA9C63C}"/>
              </a:ext>
            </a:extLst>
          </p:cNvPr>
          <p:cNvSpPr txBox="1"/>
          <p:nvPr/>
        </p:nvSpPr>
        <p:spPr>
          <a:xfrm>
            <a:off x="4857667" y="106044"/>
            <a:ext cx="7058233" cy="523220"/>
          </a:xfrm>
          <a:prstGeom prst="rect">
            <a:avLst/>
          </a:prstGeom>
          <a:noFill/>
        </p:spPr>
        <p:txBody>
          <a:bodyPr wrap="square" anchor="ctr">
            <a:spAutoFit/>
          </a:bodyPr>
          <a:lstStyle/>
          <a:p>
            <a:pPr algn="r"/>
            <a:r>
              <a:rPr lang="en-GB" sz="2800" b="1" dirty="0">
                <a:solidFill>
                  <a:schemeClr val="bg1"/>
                </a:solidFill>
                <a:latin typeface="Segoe UI" panose="020B0502040204020203" pitchFamily="34" charset="0"/>
                <a:ea typeface="Calibri" panose="020F0502020204030204" pitchFamily="34" charset="0"/>
                <a:cs typeface="Segoe UI" panose="020B0502040204020203" pitchFamily="34" charset="0"/>
              </a:rPr>
              <a:t>Storing data</a:t>
            </a:r>
          </a:p>
        </p:txBody>
      </p:sp>
    </p:spTree>
    <p:extLst>
      <p:ext uri="{BB962C8B-B14F-4D97-AF65-F5344CB8AC3E}">
        <p14:creationId xmlns:p14="http://schemas.microsoft.com/office/powerpoint/2010/main" val="13190548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ABC7054-A9EE-8FCC-F108-B46942FE922D}"/>
              </a:ext>
            </a:extLst>
          </p:cNvPr>
          <p:cNvPicPr>
            <a:picLocks noChangeAspect="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7141028" y="1016760"/>
            <a:ext cx="4354286" cy="5431544"/>
          </a:xfrm>
          <a:prstGeom prst="rect">
            <a:avLst/>
          </a:prstGeom>
          <a:noFill/>
          <a:ln>
            <a:noFill/>
          </a:ln>
          <a:effectLst/>
        </p:spPr>
      </p:pic>
      <p:sp>
        <p:nvSpPr>
          <p:cNvPr id="4" name="TextBox 3">
            <a:extLst>
              <a:ext uri="{FF2B5EF4-FFF2-40B4-BE49-F238E27FC236}">
                <a16:creationId xmlns:a16="http://schemas.microsoft.com/office/drawing/2014/main" id="{4D229E52-E04D-5701-8D2F-EEFC8322594B}"/>
              </a:ext>
            </a:extLst>
          </p:cNvPr>
          <p:cNvSpPr txBox="1"/>
          <p:nvPr/>
        </p:nvSpPr>
        <p:spPr>
          <a:xfrm>
            <a:off x="377371" y="1193375"/>
            <a:ext cx="6096000" cy="5909310"/>
          </a:xfrm>
          <a:prstGeom prst="rect">
            <a:avLst/>
          </a:prstGeom>
          <a:noFill/>
        </p:spPr>
        <p:txBody>
          <a:bodyPr wrap="square">
            <a:spAutoFit/>
          </a:bodyPr>
          <a:lstStyle/>
          <a:p>
            <a:r>
              <a:rPr lang="en-GB" dirty="0">
                <a:latin typeface="Arial" panose="020B0604020202020204" pitchFamily="34" charset="0"/>
                <a:cs typeface="Arial" panose="020B0604020202020204" pitchFamily="34" charset="0"/>
              </a:rPr>
              <a:t>Program memory is used to store the program!</a:t>
            </a:r>
          </a:p>
          <a:p>
            <a:r>
              <a:rPr lang="en-GB" dirty="0">
                <a:latin typeface="Arial" panose="020B0604020202020204" pitchFamily="34" charset="0"/>
                <a:cs typeface="Arial" panose="020B0604020202020204" pitchFamily="34" charset="0"/>
              </a:rPr>
              <a:t>In most microcontrollers, such as the 16F18877, this uses ‘Flash’ technology, meaning that it can be programmed and cleared many times. </a:t>
            </a:r>
          </a:p>
          <a:p>
            <a:endParaRPr lang="en-GB" dirty="0"/>
          </a:p>
          <a:p>
            <a:r>
              <a:rPr lang="en-US" dirty="0">
                <a:latin typeface="Arial" panose="020B0604020202020204" pitchFamily="34" charset="0"/>
                <a:cs typeface="Arial" panose="020B0604020202020204" pitchFamily="34" charset="0"/>
              </a:rPr>
              <a:t>Data memory is used to store data! Part of this uses RAM and part uses EEPROM. </a:t>
            </a:r>
          </a:p>
          <a:p>
            <a:endParaRPr lang="en-US"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RAM allows both read and write operations during the running of a program.</a:t>
            </a:r>
          </a:p>
          <a:p>
            <a:endParaRPr lang="en-GB"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The EEPROM allows us to preserve important data even if the power supply to the system is switched off.</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For example, suppose that the PIC is part of a temperature controller that keeps an incubator at a set temperature. It might make sense to store the target temperature value in EEPROM so that we do not have to enter it into the system every time we switch the incubator on. </a:t>
            </a:r>
          </a:p>
          <a:p>
            <a:endParaRPr lang="en-GB" dirty="0"/>
          </a:p>
        </p:txBody>
      </p:sp>
      <p:sp>
        <p:nvSpPr>
          <p:cNvPr id="5" name="TextBox 4">
            <a:extLst>
              <a:ext uri="{FF2B5EF4-FFF2-40B4-BE49-F238E27FC236}">
                <a16:creationId xmlns:a16="http://schemas.microsoft.com/office/drawing/2014/main" id="{ABF06D1C-0C63-70CA-5B16-B19E73200DD2}"/>
              </a:ext>
            </a:extLst>
          </p:cNvPr>
          <p:cNvSpPr txBox="1"/>
          <p:nvPr/>
        </p:nvSpPr>
        <p:spPr>
          <a:xfrm>
            <a:off x="4857667" y="106044"/>
            <a:ext cx="7058233" cy="523220"/>
          </a:xfrm>
          <a:prstGeom prst="rect">
            <a:avLst/>
          </a:prstGeom>
          <a:noFill/>
        </p:spPr>
        <p:txBody>
          <a:bodyPr wrap="square" anchor="ctr">
            <a:spAutoFit/>
          </a:bodyPr>
          <a:lstStyle/>
          <a:p>
            <a:pPr algn="r"/>
            <a:r>
              <a:rPr lang="en-GB" sz="2800" b="1" dirty="0">
                <a:solidFill>
                  <a:schemeClr val="bg1"/>
                </a:solidFill>
                <a:latin typeface="Segoe UI" panose="020B0502040204020203" pitchFamily="34" charset="0"/>
                <a:ea typeface="Calibri" panose="020F0502020204030204" pitchFamily="34" charset="0"/>
                <a:cs typeface="Segoe UI" panose="020B0502040204020203" pitchFamily="34" charset="0"/>
              </a:rPr>
              <a:t>Types of memory</a:t>
            </a:r>
          </a:p>
        </p:txBody>
      </p:sp>
    </p:spTree>
    <p:extLst>
      <p:ext uri="{BB962C8B-B14F-4D97-AF65-F5344CB8AC3E}">
        <p14:creationId xmlns:p14="http://schemas.microsoft.com/office/powerpoint/2010/main" val="28977881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A2C7119-87A0-77B4-58FF-C8ECCD67D591}"/>
              </a:ext>
            </a:extLst>
          </p:cNvPr>
          <p:cNvPicPr>
            <a:picLocks noChangeAspect="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6095999" y="930547"/>
            <a:ext cx="5745825" cy="5412196"/>
          </a:xfrm>
          <a:prstGeom prst="rect">
            <a:avLst/>
          </a:prstGeom>
          <a:noFill/>
          <a:ln>
            <a:noFill/>
          </a:ln>
          <a:effectLst/>
        </p:spPr>
      </p:pic>
      <p:sp>
        <p:nvSpPr>
          <p:cNvPr id="4" name="TextBox 3">
            <a:extLst>
              <a:ext uri="{FF2B5EF4-FFF2-40B4-BE49-F238E27FC236}">
                <a16:creationId xmlns:a16="http://schemas.microsoft.com/office/drawing/2014/main" id="{5171CC32-66BF-F144-3660-2E236DF87A09}"/>
              </a:ext>
            </a:extLst>
          </p:cNvPr>
          <p:cNvSpPr txBox="1"/>
          <p:nvPr/>
        </p:nvSpPr>
        <p:spPr>
          <a:xfrm>
            <a:off x="350176" y="1374487"/>
            <a:ext cx="5034625" cy="4524315"/>
          </a:xfrm>
          <a:prstGeom prst="rect">
            <a:avLst/>
          </a:prstGeom>
          <a:noFill/>
        </p:spPr>
        <p:txBody>
          <a:bodyPr wrap="square">
            <a:spAutoFit/>
          </a:bodyPr>
          <a:lstStyle/>
          <a:p>
            <a:r>
              <a:rPr lang="en-GB" dirty="0">
                <a:latin typeface="Arial" panose="020B0604020202020204" pitchFamily="34" charset="0"/>
                <a:cs typeface="Arial" panose="020B0604020202020204" pitchFamily="34" charset="0"/>
              </a:rPr>
              <a:t>The PIC microcontroller is a digital device, but data can be entered in both analogue and digital forms. Programmers choose whether pins on the PIC are used as analogue inputs, digital inputs or digital outputs. This flexibility leads to complex labelling. </a:t>
            </a:r>
          </a:p>
          <a:p>
            <a:r>
              <a:rPr lang="en-GB" dirty="0">
                <a:latin typeface="Arial" panose="020B0604020202020204" pitchFamily="34" charset="0"/>
                <a:cs typeface="Arial" panose="020B0604020202020204" pitchFamily="34" charset="0"/>
              </a:rPr>
              <a:t> </a:t>
            </a:r>
          </a:p>
          <a:p>
            <a:r>
              <a:rPr lang="en-GB" dirty="0">
                <a:latin typeface="Arial" panose="020B0604020202020204" pitchFamily="34" charset="0"/>
                <a:cs typeface="Arial" panose="020B0604020202020204" pitchFamily="34" charset="0"/>
              </a:rPr>
              <a:t>The diagram shows the pinout for a PIC 16F18877 chip. It has five ports, known as A, B, C, D and E. The pins on port A are labelled RA0 to RA7; pins on port B are labelled RB0 to RB7 etc. Ports A, B, C and D have eight pins but port E has only four.</a:t>
            </a:r>
          </a:p>
          <a:p>
            <a:r>
              <a:rPr lang="en-GB" dirty="0">
                <a:latin typeface="Arial" panose="020B0604020202020204" pitchFamily="34" charset="0"/>
                <a:cs typeface="Arial" panose="020B0604020202020204" pitchFamily="34" charset="0"/>
              </a:rPr>
              <a:t> </a:t>
            </a:r>
          </a:p>
          <a:p>
            <a:r>
              <a:rPr lang="en-GB" dirty="0">
                <a:latin typeface="Arial" panose="020B0604020202020204" pitchFamily="34" charset="0"/>
                <a:cs typeface="Arial" panose="020B0604020202020204" pitchFamily="34" charset="0"/>
              </a:rPr>
              <a:t>For example, up to eight digital sensors can be connected to port A of the 16F18877.</a:t>
            </a:r>
          </a:p>
        </p:txBody>
      </p:sp>
      <p:sp>
        <p:nvSpPr>
          <p:cNvPr id="5" name="TextBox 4">
            <a:extLst>
              <a:ext uri="{FF2B5EF4-FFF2-40B4-BE49-F238E27FC236}">
                <a16:creationId xmlns:a16="http://schemas.microsoft.com/office/drawing/2014/main" id="{ECC2732E-B47E-26D6-5984-5DD001533EB2}"/>
              </a:ext>
            </a:extLst>
          </p:cNvPr>
          <p:cNvSpPr txBox="1"/>
          <p:nvPr/>
        </p:nvSpPr>
        <p:spPr>
          <a:xfrm>
            <a:off x="4857667" y="106044"/>
            <a:ext cx="7058233" cy="523220"/>
          </a:xfrm>
          <a:prstGeom prst="rect">
            <a:avLst/>
          </a:prstGeom>
          <a:noFill/>
        </p:spPr>
        <p:txBody>
          <a:bodyPr wrap="square" anchor="ctr">
            <a:spAutoFit/>
          </a:bodyPr>
          <a:lstStyle/>
          <a:p>
            <a:pPr algn="r"/>
            <a:r>
              <a:rPr lang="en-GB" sz="2800" b="1" dirty="0">
                <a:solidFill>
                  <a:schemeClr val="bg1"/>
                </a:solidFill>
                <a:latin typeface="Segoe UI" panose="020B0502040204020203" pitchFamily="34" charset="0"/>
                <a:ea typeface="Calibri" panose="020F0502020204030204" pitchFamily="34" charset="0"/>
                <a:cs typeface="Segoe UI" panose="020B0502040204020203" pitchFamily="34" charset="0"/>
              </a:rPr>
              <a:t>PIC microcontrollers</a:t>
            </a:r>
          </a:p>
        </p:txBody>
      </p:sp>
    </p:spTree>
    <p:extLst>
      <p:ext uri="{BB962C8B-B14F-4D97-AF65-F5344CB8AC3E}">
        <p14:creationId xmlns:p14="http://schemas.microsoft.com/office/powerpoint/2010/main" val="25020606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D6D0BB-BEA3-58A5-B0B5-8333D20A94C4}"/>
              </a:ext>
            </a:extLst>
          </p:cNvPr>
          <p:cNvPicPr>
            <a:picLocks noChangeAspect="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5358776" y="1461498"/>
            <a:ext cx="6833224" cy="4895760"/>
          </a:xfrm>
          <a:prstGeom prst="rect">
            <a:avLst/>
          </a:prstGeom>
          <a:noFill/>
          <a:ln>
            <a:noFill/>
          </a:ln>
          <a:effectLst/>
        </p:spPr>
      </p:pic>
      <p:sp>
        <p:nvSpPr>
          <p:cNvPr id="4" name="TextBox 3">
            <a:extLst>
              <a:ext uri="{FF2B5EF4-FFF2-40B4-BE49-F238E27FC236}">
                <a16:creationId xmlns:a16="http://schemas.microsoft.com/office/drawing/2014/main" id="{9134C54C-8E66-51CD-36A7-6F72523966C9}"/>
              </a:ext>
            </a:extLst>
          </p:cNvPr>
          <p:cNvSpPr txBox="1"/>
          <p:nvPr/>
        </p:nvSpPr>
        <p:spPr>
          <a:xfrm>
            <a:off x="406399" y="1611086"/>
            <a:ext cx="4412343" cy="4247317"/>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There are different types of microcontroller with different internal architectures.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The diagram shows the internal architecture of a PIC 16F877 microcontroller</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You don't need to understand this in detail.</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You do need to understand the input and output connections of the microcontroller, the memory available and the role of the internal peripherals in the microcontroller.</a:t>
            </a:r>
            <a:endParaRPr lang="en-GB"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FA785B5B-2B89-B3B8-CE08-8704D733950C}"/>
              </a:ext>
            </a:extLst>
          </p:cNvPr>
          <p:cNvSpPr txBox="1"/>
          <p:nvPr/>
        </p:nvSpPr>
        <p:spPr>
          <a:xfrm>
            <a:off x="4857667" y="106044"/>
            <a:ext cx="7058233" cy="523220"/>
          </a:xfrm>
          <a:prstGeom prst="rect">
            <a:avLst/>
          </a:prstGeom>
          <a:noFill/>
        </p:spPr>
        <p:txBody>
          <a:bodyPr wrap="square" anchor="ctr">
            <a:spAutoFit/>
          </a:bodyPr>
          <a:lstStyle/>
          <a:p>
            <a:pPr algn="r"/>
            <a:r>
              <a:rPr lang="en-GB" sz="2800" b="1" dirty="0">
                <a:solidFill>
                  <a:schemeClr val="bg1"/>
                </a:solidFill>
                <a:latin typeface="Segoe UI" panose="020B0502040204020203" pitchFamily="34" charset="0"/>
                <a:ea typeface="Calibri" panose="020F0502020204030204" pitchFamily="34" charset="0"/>
                <a:cs typeface="Segoe UI" panose="020B0502040204020203" pitchFamily="34" charset="0"/>
              </a:rPr>
              <a:t>Microcontroller architecture</a:t>
            </a:r>
          </a:p>
        </p:txBody>
      </p:sp>
    </p:spTree>
    <p:extLst>
      <p:ext uri="{BB962C8B-B14F-4D97-AF65-F5344CB8AC3E}">
        <p14:creationId xmlns:p14="http://schemas.microsoft.com/office/powerpoint/2010/main" val="19323895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0C88BB-767D-147B-4CB1-3577A66222E7}"/>
              </a:ext>
            </a:extLst>
          </p:cNvPr>
          <p:cNvSpPr txBox="1"/>
          <p:nvPr/>
        </p:nvSpPr>
        <p:spPr>
          <a:xfrm>
            <a:off x="4857667" y="106044"/>
            <a:ext cx="7058233" cy="523220"/>
          </a:xfrm>
          <a:prstGeom prst="rect">
            <a:avLst/>
          </a:prstGeom>
          <a:noFill/>
        </p:spPr>
        <p:txBody>
          <a:bodyPr wrap="square" anchor="ctr">
            <a:spAutoFit/>
          </a:bodyPr>
          <a:lstStyle/>
          <a:p>
            <a:pPr algn="r"/>
            <a:r>
              <a:rPr lang="en-GB" sz="2800" b="1" dirty="0">
                <a:solidFill>
                  <a:schemeClr val="bg1"/>
                </a:solidFill>
                <a:latin typeface="Segoe UI" panose="020B0502040204020203" pitchFamily="34" charset="0"/>
                <a:ea typeface="Calibri" panose="020F0502020204030204" pitchFamily="34" charset="0"/>
                <a:cs typeface="Segoe UI" panose="020B0502040204020203" pitchFamily="34" charset="0"/>
              </a:rPr>
              <a:t>Arduino microcontrollers</a:t>
            </a:r>
          </a:p>
        </p:txBody>
      </p:sp>
      <p:sp>
        <p:nvSpPr>
          <p:cNvPr id="3" name="TextBox 2">
            <a:extLst>
              <a:ext uri="{FF2B5EF4-FFF2-40B4-BE49-F238E27FC236}">
                <a16:creationId xmlns:a16="http://schemas.microsoft.com/office/drawing/2014/main" id="{D6CA266D-32DD-5AC1-6D86-E4E0F31B642A}"/>
              </a:ext>
            </a:extLst>
          </p:cNvPr>
          <p:cNvSpPr txBox="1"/>
          <p:nvPr/>
        </p:nvSpPr>
        <p:spPr>
          <a:xfrm>
            <a:off x="350176" y="1374487"/>
            <a:ext cx="5034625" cy="3139321"/>
          </a:xfrm>
          <a:prstGeom prst="rect">
            <a:avLst/>
          </a:prstGeom>
          <a:noFill/>
        </p:spPr>
        <p:txBody>
          <a:bodyPr wrap="square">
            <a:spAutoFit/>
          </a:bodyPr>
          <a:lstStyle/>
          <a:p>
            <a:r>
              <a:rPr lang="en-GB" dirty="0">
                <a:latin typeface="Arial" panose="020B0604020202020204" pitchFamily="34" charset="0"/>
                <a:cs typeface="Arial" panose="020B0604020202020204" pitchFamily="34" charset="0"/>
              </a:rPr>
              <a:t>Original Arduino microcontrollers were based on the 8 bit AVR microcontroller.</a:t>
            </a:r>
          </a:p>
          <a:p>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Arduino changed the pin numbering and presented the chip on a small PCB which saved set up time for hobbyists.</a:t>
            </a:r>
          </a:p>
          <a:p>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There are now many variants of Arduino boards with different features and capabilities.</a:t>
            </a:r>
          </a:p>
          <a:p>
            <a:endParaRPr lang="en-GB" dirty="0">
              <a:latin typeface="Arial" panose="020B0604020202020204" pitchFamily="34" charset="0"/>
              <a:cs typeface="Arial" panose="020B0604020202020204" pitchFamily="34" charset="0"/>
            </a:endParaRPr>
          </a:p>
          <a:p>
            <a:endParaRPr lang="en-GB"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BDB49F50-992C-6336-A769-D899940454DB}"/>
              </a:ext>
            </a:extLst>
          </p:cNvPr>
          <p:cNvPicPr>
            <a:picLocks noChangeAspect="1"/>
          </p:cNvPicPr>
          <p:nvPr/>
        </p:nvPicPr>
        <p:blipFill>
          <a:blip r:embed="rId2"/>
          <a:stretch>
            <a:fillRect/>
          </a:stretch>
        </p:blipFill>
        <p:spPr>
          <a:xfrm>
            <a:off x="6519065" y="1533260"/>
            <a:ext cx="4683606" cy="3401597"/>
          </a:xfrm>
          <a:prstGeom prst="rect">
            <a:avLst/>
          </a:prstGeom>
        </p:spPr>
      </p:pic>
    </p:spTree>
    <p:extLst>
      <p:ext uri="{BB962C8B-B14F-4D97-AF65-F5344CB8AC3E}">
        <p14:creationId xmlns:p14="http://schemas.microsoft.com/office/powerpoint/2010/main" val="26552619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1B671C7-C959-3034-99D7-58D94CCFDB68}"/>
              </a:ext>
            </a:extLst>
          </p:cNvPr>
          <p:cNvSpPr txBox="1"/>
          <p:nvPr/>
        </p:nvSpPr>
        <p:spPr>
          <a:xfrm>
            <a:off x="4857667" y="106044"/>
            <a:ext cx="7058233" cy="523220"/>
          </a:xfrm>
          <a:prstGeom prst="rect">
            <a:avLst/>
          </a:prstGeom>
          <a:noFill/>
        </p:spPr>
        <p:txBody>
          <a:bodyPr wrap="square" anchor="ctr">
            <a:spAutoFit/>
          </a:bodyPr>
          <a:lstStyle/>
          <a:p>
            <a:pPr algn="r"/>
            <a:r>
              <a:rPr lang="en-GB" sz="2800" b="1" dirty="0">
                <a:solidFill>
                  <a:schemeClr val="bg1"/>
                </a:solidFill>
                <a:latin typeface="Segoe UI" panose="020B0502040204020203" pitchFamily="34" charset="0"/>
                <a:ea typeface="Calibri" panose="020F0502020204030204" pitchFamily="34" charset="0"/>
                <a:cs typeface="Segoe UI" panose="020B0502040204020203" pitchFamily="34" charset="0"/>
              </a:rPr>
              <a:t>ESP32 microcontrollers</a:t>
            </a:r>
          </a:p>
        </p:txBody>
      </p:sp>
      <p:pic>
        <p:nvPicPr>
          <p:cNvPr id="16386" name="Picture 2" descr="Waveshare ESP32-S3 Development Board (with Headers) by Waveshare - The Pi Hut">
            <a:extLst>
              <a:ext uri="{FF2B5EF4-FFF2-40B4-BE49-F238E27FC236}">
                <a16:creationId xmlns:a16="http://schemas.microsoft.com/office/drawing/2014/main" id="{2024C338-6A60-53D4-DD5D-9FF19C83F9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7799" y="994228"/>
            <a:ext cx="4869543" cy="486954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BEB6C7C-0BDB-37AC-8CC6-B29541AD12C5}"/>
              </a:ext>
            </a:extLst>
          </p:cNvPr>
          <p:cNvSpPr txBox="1"/>
          <p:nvPr/>
        </p:nvSpPr>
        <p:spPr>
          <a:xfrm>
            <a:off x="350176" y="1374487"/>
            <a:ext cx="5034625" cy="3970318"/>
          </a:xfrm>
          <a:prstGeom prst="rect">
            <a:avLst/>
          </a:prstGeom>
          <a:noFill/>
        </p:spPr>
        <p:txBody>
          <a:bodyPr wrap="square">
            <a:spAutoFit/>
          </a:bodyPr>
          <a:lstStyle/>
          <a:p>
            <a:r>
              <a:rPr lang="en-GB" dirty="0">
                <a:latin typeface="Arial" panose="020B0604020202020204" pitchFamily="34" charset="0"/>
                <a:cs typeface="Arial" panose="020B0604020202020204" pitchFamily="34" charset="0"/>
              </a:rPr>
              <a:t>ESP32 microcontrollers use a 32 bit processor. </a:t>
            </a:r>
          </a:p>
          <a:p>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ESP32 has the great advantage that it includes Bluetooth and Wi-fi – so its great for web enabled projects.</a:t>
            </a:r>
          </a:p>
          <a:p>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Beware: the memory mapping and internal architecture means that this does not behave like a 8 bit system and this requires more experience to use.</a:t>
            </a:r>
          </a:p>
          <a:p>
            <a:endParaRPr lang="en-GB" dirty="0">
              <a:latin typeface="Arial" panose="020B0604020202020204" pitchFamily="34" charset="0"/>
              <a:cs typeface="Arial" panose="020B0604020202020204" pitchFamily="34" charset="0"/>
            </a:endParaRPr>
          </a:p>
          <a:p>
            <a:endParaRPr lang="en-GB" dirty="0">
              <a:latin typeface="Arial" panose="020B0604020202020204" pitchFamily="34" charset="0"/>
              <a:cs typeface="Arial" panose="020B0604020202020204" pitchFamily="34" charset="0"/>
            </a:endParaRPr>
          </a:p>
          <a:p>
            <a:endParaRPr lang="en-GB" dirty="0">
              <a:latin typeface="Arial" panose="020B0604020202020204" pitchFamily="34" charset="0"/>
              <a:cs typeface="Arial" panose="020B0604020202020204" pitchFamily="34" charset="0"/>
            </a:endParaRPr>
          </a:p>
          <a:p>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830037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 shot of a device&#10;&#10;AI-generated content may be incorrect.">
            <a:extLst>
              <a:ext uri="{FF2B5EF4-FFF2-40B4-BE49-F238E27FC236}">
                <a16:creationId xmlns:a16="http://schemas.microsoft.com/office/drawing/2014/main" id="{CF6AE0DB-3E4D-D635-0559-AFC7FBB5EE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9315" y="1654519"/>
            <a:ext cx="10353368" cy="2727512"/>
          </a:xfrm>
          <a:prstGeom prst="rect">
            <a:avLst/>
          </a:prstGeom>
        </p:spPr>
      </p:pic>
      <p:pic>
        <p:nvPicPr>
          <p:cNvPr id="3" name="Picture 2">
            <a:extLst>
              <a:ext uri="{FF2B5EF4-FFF2-40B4-BE49-F238E27FC236}">
                <a16:creationId xmlns:a16="http://schemas.microsoft.com/office/drawing/2014/main" id="{82A9EFBD-753A-CF8C-B230-FD8702DCEA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63398" y="1021773"/>
            <a:ext cx="1895740" cy="438211"/>
          </a:xfrm>
          <a:prstGeom prst="rect">
            <a:avLst/>
          </a:prstGeom>
        </p:spPr>
      </p:pic>
      <p:pic>
        <p:nvPicPr>
          <p:cNvPr id="4" name="Picture 3" descr="A blue and white logo&#10;&#10;AI-generated content may be incorrect.">
            <a:extLst>
              <a:ext uri="{FF2B5EF4-FFF2-40B4-BE49-F238E27FC236}">
                <a16:creationId xmlns:a16="http://schemas.microsoft.com/office/drawing/2014/main" id="{7D7C2DBF-5E6C-603C-B4BB-7503EFBE86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63388" y="1021773"/>
            <a:ext cx="665269" cy="438211"/>
          </a:xfrm>
          <a:prstGeom prst="rect">
            <a:avLst/>
          </a:prstGeom>
        </p:spPr>
      </p:pic>
      <p:pic>
        <p:nvPicPr>
          <p:cNvPr id="5" name="Picture 4">
            <a:extLst>
              <a:ext uri="{FF2B5EF4-FFF2-40B4-BE49-F238E27FC236}">
                <a16:creationId xmlns:a16="http://schemas.microsoft.com/office/drawing/2014/main" id="{CE5CD7A6-9C1A-800A-D419-294075C0D2D8}"/>
              </a:ext>
            </a:extLst>
          </p:cNvPr>
          <p:cNvPicPr>
            <a:picLocks noChangeAspect="1"/>
          </p:cNvPicPr>
          <p:nvPr/>
        </p:nvPicPr>
        <p:blipFill>
          <a:blip r:embed="rId5"/>
          <a:stretch>
            <a:fillRect/>
          </a:stretch>
        </p:blipFill>
        <p:spPr>
          <a:xfrm>
            <a:off x="5264503" y="1018466"/>
            <a:ext cx="1724126" cy="441517"/>
          </a:xfrm>
          <a:prstGeom prst="rect">
            <a:avLst/>
          </a:prstGeom>
        </p:spPr>
      </p:pic>
      <p:sp>
        <p:nvSpPr>
          <p:cNvPr id="6" name="TextBox 5">
            <a:extLst>
              <a:ext uri="{FF2B5EF4-FFF2-40B4-BE49-F238E27FC236}">
                <a16:creationId xmlns:a16="http://schemas.microsoft.com/office/drawing/2014/main" id="{856A45CF-B5B5-E7A3-F9CB-79A365EAAE39}"/>
              </a:ext>
            </a:extLst>
          </p:cNvPr>
          <p:cNvSpPr txBox="1"/>
          <p:nvPr/>
        </p:nvSpPr>
        <p:spPr>
          <a:xfrm>
            <a:off x="245028" y="4576568"/>
            <a:ext cx="3709275" cy="2308324"/>
          </a:xfrm>
          <a:prstGeom prst="rect">
            <a:avLst/>
          </a:prstGeom>
          <a:noFill/>
        </p:spPr>
        <p:txBody>
          <a:bodyPr wrap="square" rtlCol="0">
            <a:spAutoFit/>
          </a:bodyPr>
          <a:lstStyle/>
          <a:p>
            <a:pPr marL="285750" indent="-285750">
              <a:buFont typeface="Arial" panose="020B0604020202020204" pitchFamily="34" charset="0"/>
              <a:buChar char="•"/>
            </a:pPr>
            <a:r>
              <a:rPr lang="en-GB" sz="1800" dirty="0">
                <a:effectLst/>
                <a:latin typeface="Segoe UI" panose="020B0502040204020203" pitchFamily="34" charset="0"/>
                <a:ea typeface="Calibri" panose="020F0502020204030204" pitchFamily="34" charset="0"/>
                <a:cs typeface="Segoe UI" panose="020B0502040204020203" pitchFamily="34" charset="0"/>
              </a:rPr>
              <a:t>ESP32S3 </a:t>
            </a:r>
            <a:r>
              <a:rPr lang="en-GB" dirty="0">
                <a:latin typeface="Segoe UI" panose="020B0502040204020203" pitchFamily="34" charset="0"/>
                <a:ea typeface="Calibri" panose="020F0502020204030204" pitchFamily="34" charset="0"/>
                <a:cs typeface="Segoe UI" panose="020B0502040204020203" pitchFamily="34" charset="0"/>
              </a:rPr>
              <a:t>32 bit microcontroller</a:t>
            </a:r>
          </a:p>
          <a:p>
            <a:pPr marL="285750" indent="-285750">
              <a:buFont typeface="Arial" panose="020B0604020202020204" pitchFamily="34" charset="0"/>
              <a:buChar char="•"/>
            </a:pPr>
            <a:r>
              <a:rPr lang="en-GB" dirty="0">
                <a:latin typeface="Segoe UI" panose="020B0502040204020203" pitchFamily="34" charset="0"/>
                <a:ea typeface="Calibri" panose="020F0502020204030204" pitchFamily="34" charset="0"/>
                <a:cs typeface="Segoe UI" panose="020B0502040204020203" pitchFamily="34" charset="0"/>
              </a:rPr>
              <a:t>Digital I/O on all pins</a:t>
            </a:r>
          </a:p>
          <a:p>
            <a:pPr marL="285750" indent="-285750">
              <a:buFont typeface="Arial" panose="020B0604020202020204" pitchFamily="34" charset="0"/>
              <a:buChar char="•"/>
            </a:pPr>
            <a:r>
              <a:rPr lang="en-GB" dirty="0">
                <a:latin typeface="Segoe UI" panose="020B0502040204020203" pitchFamily="34" charset="0"/>
                <a:ea typeface="Calibri" panose="020F0502020204030204" pitchFamily="34" charset="0"/>
                <a:cs typeface="Segoe UI" panose="020B0502040204020203" pitchFamily="34" charset="0"/>
              </a:rPr>
              <a:t>A/D on all ports A and B</a:t>
            </a:r>
          </a:p>
          <a:p>
            <a:pPr marL="285750" indent="-285750">
              <a:buFont typeface="Arial" panose="020B0604020202020204" pitchFamily="34" charset="0"/>
              <a:buChar char="•"/>
            </a:pPr>
            <a:r>
              <a:rPr lang="en-GB" dirty="0">
                <a:latin typeface="Segoe UI" panose="020B0502040204020203" pitchFamily="34" charset="0"/>
                <a:ea typeface="Calibri" panose="020F0502020204030204" pitchFamily="34" charset="0"/>
                <a:cs typeface="Segoe UI" panose="020B0502040204020203" pitchFamily="34" charset="0"/>
              </a:rPr>
              <a:t>Motor function on all pins</a:t>
            </a:r>
          </a:p>
          <a:p>
            <a:pPr marL="285750" indent="-285750">
              <a:buFont typeface="Arial" panose="020B0604020202020204" pitchFamily="34" charset="0"/>
              <a:buChar char="•"/>
            </a:pPr>
            <a:r>
              <a:rPr lang="en-GB" dirty="0">
                <a:latin typeface="Segoe UI" panose="020B0502040204020203" pitchFamily="34" charset="0"/>
                <a:ea typeface="Calibri" panose="020F0502020204030204" pitchFamily="34" charset="0"/>
                <a:cs typeface="Segoe UI" panose="020B0502040204020203" pitchFamily="34" charset="0"/>
              </a:rPr>
              <a:t>Comms functions on all pins</a:t>
            </a:r>
          </a:p>
          <a:p>
            <a:pPr marL="285750" indent="-285750">
              <a:buFont typeface="Arial" panose="020B0604020202020204" pitchFamily="34" charset="0"/>
              <a:buChar char="•"/>
            </a:pPr>
            <a:r>
              <a:rPr lang="en-GB" dirty="0">
                <a:latin typeface="Segoe UI" panose="020B0502040204020203" pitchFamily="34" charset="0"/>
                <a:ea typeface="Calibri" panose="020F0502020204030204" pitchFamily="34" charset="0"/>
                <a:cs typeface="Segoe UI" panose="020B0502040204020203" pitchFamily="34" charset="0"/>
              </a:rPr>
              <a:t>Interrupts on all pins</a:t>
            </a:r>
          </a:p>
          <a:p>
            <a:pPr marL="285750" indent="-285750">
              <a:buFont typeface="Arial" panose="020B0604020202020204" pitchFamily="34" charset="0"/>
              <a:buChar char="•"/>
            </a:pPr>
            <a:endParaRPr lang="en-GB" dirty="0">
              <a:latin typeface="Segoe UI" panose="020B0502040204020203" pitchFamily="34" charset="0"/>
              <a:ea typeface="Calibri" panose="020F0502020204030204" pitchFamily="34" charset="0"/>
              <a:cs typeface="Segoe UI" panose="020B0502040204020203" pitchFamily="34" charset="0"/>
            </a:endParaRPr>
          </a:p>
          <a:p>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AC625329-DFF1-DA35-6818-68B051FFE896}"/>
              </a:ext>
            </a:extLst>
          </p:cNvPr>
          <p:cNvSpPr txBox="1"/>
          <p:nvPr/>
        </p:nvSpPr>
        <p:spPr>
          <a:xfrm>
            <a:off x="4241362" y="4576568"/>
            <a:ext cx="3709275" cy="2308324"/>
          </a:xfrm>
          <a:prstGeom prst="rect">
            <a:avLst/>
          </a:prstGeom>
          <a:noFill/>
        </p:spPr>
        <p:txBody>
          <a:bodyPr wrap="square" rtlCol="0">
            <a:spAutoFit/>
          </a:bodyPr>
          <a:lstStyle/>
          <a:p>
            <a:pPr marL="285750" indent="-285750">
              <a:buFont typeface="Arial" panose="020B0604020202020204" pitchFamily="34" charset="0"/>
              <a:buChar char="•"/>
            </a:pPr>
            <a:r>
              <a:rPr lang="en-GB" sz="1800" dirty="0">
                <a:effectLst/>
                <a:latin typeface="Segoe UI" panose="020B0502040204020203" pitchFamily="34" charset="0"/>
                <a:ea typeface="Calibri" panose="020F0502020204030204" pitchFamily="34" charset="0"/>
                <a:cs typeface="Segoe UI" panose="020B0502040204020203" pitchFamily="34" charset="0"/>
              </a:rPr>
              <a:t>PIC16F18877 8 bit device</a:t>
            </a:r>
          </a:p>
          <a:p>
            <a:pPr marL="285750" indent="-285750">
              <a:buFont typeface="Arial" panose="020B0604020202020204" pitchFamily="34" charset="0"/>
              <a:buChar char="•"/>
            </a:pPr>
            <a:r>
              <a:rPr lang="en-GB" dirty="0">
                <a:latin typeface="Segoe UI" panose="020B0502040204020203" pitchFamily="34" charset="0"/>
                <a:ea typeface="Calibri" panose="020F0502020204030204" pitchFamily="34" charset="0"/>
                <a:cs typeface="Segoe UI" panose="020B0502040204020203" pitchFamily="34" charset="0"/>
              </a:rPr>
              <a:t>Digital I/O on all pins</a:t>
            </a:r>
          </a:p>
          <a:p>
            <a:pPr marL="285750" indent="-285750">
              <a:buFont typeface="Arial" panose="020B0604020202020204" pitchFamily="34" charset="0"/>
              <a:buChar char="•"/>
            </a:pPr>
            <a:r>
              <a:rPr lang="en-GB" dirty="0">
                <a:latin typeface="Segoe UI" panose="020B0502040204020203" pitchFamily="34" charset="0"/>
                <a:ea typeface="Calibri" panose="020F0502020204030204" pitchFamily="34" charset="0"/>
                <a:cs typeface="Segoe UI" panose="020B0502040204020203" pitchFamily="34" charset="0"/>
              </a:rPr>
              <a:t>A/D on all pins</a:t>
            </a:r>
          </a:p>
          <a:p>
            <a:pPr marL="285750" indent="-285750">
              <a:buFont typeface="Arial" panose="020B0604020202020204" pitchFamily="34" charset="0"/>
              <a:buChar char="•"/>
            </a:pPr>
            <a:r>
              <a:rPr lang="en-GB" dirty="0">
                <a:latin typeface="Segoe UI" panose="020B0502040204020203" pitchFamily="34" charset="0"/>
                <a:ea typeface="Calibri" panose="020F0502020204030204" pitchFamily="34" charset="0"/>
                <a:cs typeface="Segoe UI" panose="020B0502040204020203" pitchFamily="34" charset="0"/>
              </a:rPr>
              <a:t>Motor/PWM function on most pins</a:t>
            </a:r>
          </a:p>
          <a:p>
            <a:pPr marL="285750" indent="-285750">
              <a:buFont typeface="Arial" panose="020B0604020202020204" pitchFamily="34" charset="0"/>
              <a:buChar char="•"/>
            </a:pPr>
            <a:r>
              <a:rPr lang="en-GB" dirty="0">
                <a:latin typeface="Segoe UI" panose="020B0502040204020203" pitchFamily="34" charset="0"/>
                <a:ea typeface="Calibri" panose="020F0502020204030204" pitchFamily="34" charset="0"/>
                <a:cs typeface="Segoe UI" panose="020B0502040204020203" pitchFamily="34" charset="0"/>
              </a:rPr>
              <a:t>Comms function on all pins</a:t>
            </a:r>
          </a:p>
          <a:p>
            <a:pPr marL="285750" indent="-285750">
              <a:buFont typeface="Arial" panose="020B0604020202020204" pitchFamily="34" charset="0"/>
              <a:buChar char="•"/>
            </a:pPr>
            <a:r>
              <a:rPr lang="en-GB" dirty="0">
                <a:latin typeface="Segoe UI" panose="020B0502040204020203" pitchFamily="34" charset="0"/>
                <a:ea typeface="Calibri" panose="020F0502020204030204" pitchFamily="34" charset="0"/>
                <a:cs typeface="Segoe UI" panose="020B0502040204020203" pitchFamily="34" charset="0"/>
              </a:rPr>
              <a:t>Interrupts on most pins</a:t>
            </a:r>
          </a:p>
          <a:p>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1B9504AB-104E-E66F-C276-61EBE952436D}"/>
              </a:ext>
            </a:extLst>
          </p:cNvPr>
          <p:cNvSpPr txBox="1"/>
          <p:nvPr/>
        </p:nvSpPr>
        <p:spPr>
          <a:xfrm>
            <a:off x="7981203" y="4576568"/>
            <a:ext cx="3709275" cy="2308324"/>
          </a:xfrm>
          <a:prstGeom prst="rect">
            <a:avLst/>
          </a:prstGeom>
          <a:noFill/>
        </p:spPr>
        <p:txBody>
          <a:bodyPr wrap="square" rtlCol="0">
            <a:spAutoFit/>
          </a:bodyPr>
          <a:lstStyle/>
          <a:p>
            <a:pPr marL="285750" indent="-285750">
              <a:buFont typeface="Arial" panose="020B0604020202020204" pitchFamily="34" charset="0"/>
              <a:buChar char="•"/>
            </a:pPr>
            <a:r>
              <a:rPr lang="en-GB" sz="1800" dirty="0">
                <a:effectLst/>
                <a:latin typeface="Segoe UI" panose="020B0502040204020203" pitchFamily="34" charset="0"/>
                <a:ea typeface="Calibri" panose="020F0502020204030204" pitchFamily="34" charset="0"/>
                <a:cs typeface="Segoe UI" panose="020B0502040204020203" pitchFamily="34" charset="0"/>
              </a:rPr>
              <a:t>Arduino  / AT 2650 8 bit device</a:t>
            </a:r>
          </a:p>
          <a:p>
            <a:pPr marL="285750" indent="-285750">
              <a:buFont typeface="Arial" panose="020B0604020202020204" pitchFamily="34" charset="0"/>
              <a:buChar char="•"/>
            </a:pPr>
            <a:r>
              <a:rPr lang="en-GB" dirty="0">
                <a:latin typeface="Segoe UI" panose="020B0502040204020203" pitchFamily="34" charset="0"/>
                <a:ea typeface="Calibri" panose="020F0502020204030204" pitchFamily="34" charset="0"/>
                <a:cs typeface="Segoe UI" panose="020B0502040204020203" pitchFamily="34" charset="0"/>
              </a:rPr>
              <a:t>Digital I/O on all pins</a:t>
            </a:r>
          </a:p>
          <a:p>
            <a:pPr marL="285750" indent="-285750">
              <a:buFont typeface="Arial" panose="020B0604020202020204" pitchFamily="34" charset="0"/>
              <a:buChar char="•"/>
            </a:pPr>
            <a:r>
              <a:rPr lang="en-GB" dirty="0">
                <a:latin typeface="Segoe UI" panose="020B0502040204020203" pitchFamily="34" charset="0"/>
                <a:ea typeface="Calibri" panose="020F0502020204030204" pitchFamily="34" charset="0"/>
                <a:cs typeface="Segoe UI" panose="020B0502040204020203" pitchFamily="34" charset="0"/>
              </a:rPr>
              <a:t>A/D only on port F</a:t>
            </a:r>
          </a:p>
          <a:p>
            <a:pPr marL="285750" indent="-285750">
              <a:buFont typeface="Arial" panose="020B0604020202020204" pitchFamily="34" charset="0"/>
              <a:buChar char="•"/>
            </a:pPr>
            <a:r>
              <a:rPr lang="en-GB" dirty="0">
                <a:latin typeface="Segoe UI" panose="020B0502040204020203" pitchFamily="34" charset="0"/>
                <a:ea typeface="Calibri" panose="020F0502020204030204" pitchFamily="34" charset="0"/>
                <a:cs typeface="Segoe UI" panose="020B0502040204020203" pitchFamily="34" charset="0"/>
              </a:rPr>
              <a:t>Limited motor/PWM support – see datasheet</a:t>
            </a:r>
          </a:p>
          <a:p>
            <a:pPr marL="285750" indent="-285750">
              <a:buFont typeface="Arial" panose="020B0604020202020204" pitchFamily="34" charset="0"/>
              <a:buChar char="•"/>
            </a:pPr>
            <a:r>
              <a:rPr lang="en-GB" dirty="0">
                <a:latin typeface="Segoe UI" panose="020B0502040204020203" pitchFamily="34" charset="0"/>
                <a:ea typeface="Calibri" panose="020F0502020204030204" pitchFamily="34" charset="0"/>
                <a:cs typeface="Segoe UI" panose="020B0502040204020203" pitchFamily="34" charset="0"/>
              </a:rPr>
              <a:t>Limited interrupt support</a:t>
            </a:r>
          </a:p>
          <a:p>
            <a:pPr marL="285750" indent="-285750">
              <a:buFont typeface="Arial" panose="020B0604020202020204" pitchFamily="34" charset="0"/>
              <a:buChar char="•"/>
            </a:pPr>
            <a:endParaRPr lang="en-GB" dirty="0">
              <a:latin typeface="Segoe UI" panose="020B0502040204020203" pitchFamily="34" charset="0"/>
              <a:ea typeface="Calibri" panose="020F0502020204030204" pitchFamily="34" charset="0"/>
              <a:cs typeface="Segoe UI" panose="020B0502040204020203" pitchFamily="34" charset="0"/>
            </a:endParaRPr>
          </a:p>
          <a:p>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8B4918BC-2425-9616-63DF-4341A817935B}"/>
              </a:ext>
            </a:extLst>
          </p:cNvPr>
          <p:cNvSpPr txBox="1"/>
          <p:nvPr/>
        </p:nvSpPr>
        <p:spPr>
          <a:xfrm>
            <a:off x="4857667" y="106044"/>
            <a:ext cx="7058233" cy="523220"/>
          </a:xfrm>
          <a:prstGeom prst="rect">
            <a:avLst/>
          </a:prstGeom>
          <a:noFill/>
        </p:spPr>
        <p:txBody>
          <a:bodyPr wrap="square" anchor="ctr">
            <a:spAutoFit/>
          </a:bodyPr>
          <a:lstStyle/>
          <a:p>
            <a:pPr algn="r"/>
            <a:r>
              <a:rPr lang="en-GB" sz="2800" b="1" dirty="0">
                <a:solidFill>
                  <a:schemeClr val="bg1"/>
                </a:solidFill>
                <a:latin typeface="Segoe UI" panose="020B0502040204020203" pitchFamily="34" charset="0"/>
                <a:ea typeface="Calibri" panose="020F0502020204030204" pitchFamily="34" charset="0"/>
                <a:cs typeface="Segoe UI" panose="020B0502040204020203" pitchFamily="34" charset="0"/>
              </a:rPr>
              <a:t>Microcontroller pins on E-blocks</a:t>
            </a:r>
          </a:p>
        </p:txBody>
      </p:sp>
    </p:spTree>
    <p:extLst>
      <p:ext uri="{BB962C8B-B14F-4D97-AF65-F5344CB8AC3E}">
        <p14:creationId xmlns:p14="http://schemas.microsoft.com/office/powerpoint/2010/main" val="7002824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A29CE8-7346-1EDC-BC1A-A6B63283BBE5}"/>
              </a:ext>
            </a:extLst>
          </p:cNvPr>
          <p:cNvSpPr txBox="1"/>
          <p:nvPr/>
        </p:nvSpPr>
        <p:spPr>
          <a:xfrm>
            <a:off x="4857667" y="106044"/>
            <a:ext cx="7058233" cy="523220"/>
          </a:xfrm>
          <a:prstGeom prst="rect">
            <a:avLst/>
          </a:prstGeom>
          <a:noFill/>
        </p:spPr>
        <p:txBody>
          <a:bodyPr wrap="square" anchor="ctr">
            <a:spAutoFit/>
          </a:bodyPr>
          <a:lstStyle/>
          <a:p>
            <a:pPr algn="r"/>
            <a:r>
              <a:rPr lang="en-GB" sz="2800" b="1" dirty="0">
                <a:solidFill>
                  <a:schemeClr val="bg1"/>
                </a:solidFill>
                <a:latin typeface="Segoe UI" panose="020B0502040204020203" pitchFamily="34" charset="0"/>
                <a:ea typeface="Calibri" panose="020F0502020204030204" pitchFamily="34" charset="0"/>
                <a:cs typeface="Segoe UI" panose="020B0502040204020203" pitchFamily="34" charset="0"/>
              </a:rPr>
              <a:t>Microcontroller pin functions</a:t>
            </a:r>
          </a:p>
        </p:txBody>
      </p:sp>
      <p:pic>
        <p:nvPicPr>
          <p:cNvPr id="5" name="Picture 4">
            <a:extLst>
              <a:ext uri="{FF2B5EF4-FFF2-40B4-BE49-F238E27FC236}">
                <a16:creationId xmlns:a16="http://schemas.microsoft.com/office/drawing/2014/main" id="{E0FBD86A-9F49-0A71-FBD3-9A771B88A979}"/>
              </a:ext>
            </a:extLst>
          </p:cNvPr>
          <p:cNvPicPr>
            <a:picLocks noChangeAspect="1"/>
          </p:cNvPicPr>
          <p:nvPr/>
        </p:nvPicPr>
        <p:blipFill>
          <a:blip r:embed="rId2"/>
          <a:stretch>
            <a:fillRect/>
          </a:stretch>
        </p:blipFill>
        <p:spPr>
          <a:xfrm>
            <a:off x="5690801" y="1028342"/>
            <a:ext cx="6225099" cy="4801315"/>
          </a:xfrm>
          <a:prstGeom prst="rect">
            <a:avLst/>
          </a:prstGeom>
        </p:spPr>
      </p:pic>
      <p:sp>
        <p:nvSpPr>
          <p:cNvPr id="6" name="TextBox 5">
            <a:extLst>
              <a:ext uri="{FF2B5EF4-FFF2-40B4-BE49-F238E27FC236}">
                <a16:creationId xmlns:a16="http://schemas.microsoft.com/office/drawing/2014/main" id="{976155F5-953F-A05B-6E49-E5F3F9A17198}"/>
              </a:ext>
            </a:extLst>
          </p:cNvPr>
          <p:cNvSpPr txBox="1"/>
          <p:nvPr/>
        </p:nvSpPr>
        <p:spPr>
          <a:xfrm>
            <a:off x="174171" y="1028343"/>
            <a:ext cx="5297715" cy="4524315"/>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Pin functions vary across microcontrollers. If you are only using digital input output then this is not a problem</a:t>
            </a:r>
            <a:r>
              <a:rPr lang="en-GB" dirty="0">
                <a:latin typeface="Arial" panose="020B0604020202020204" pitchFamily="34" charset="0"/>
                <a:cs typeface="Arial" panose="020B0604020202020204" pitchFamily="34" charset="0"/>
              </a:rPr>
              <a:t>.</a:t>
            </a:r>
          </a:p>
          <a:p>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If you are using A/D, interrupts or motor functions then you need to be aware of the capabilities and pin connections of your microcontroller. </a:t>
            </a:r>
          </a:p>
          <a:p>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The examples in </a:t>
            </a:r>
            <a:r>
              <a:rPr lang="en-GB" dirty="0" err="1">
                <a:latin typeface="Arial" panose="020B0604020202020204" pitchFamily="34" charset="0"/>
                <a:cs typeface="Arial" panose="020B0604020202020204" pitchFamily="34" charset="0"/>
              </a:rPr>
              <a:t>Flowcode</a:t>
            </a:r>
            <a:r>
              <a:rPr lang="en-GB" dirty="0">
                <a:latin typeface="Arial" panose="020B0604020202020204" pitchFamily="34" charset="0"/>
                <a:cs typeface="Arial" panose="020B0604020202020204" pitchFamily="34" charset="0"/>
              </a:rPr>
              <a:t> show you the port connections for each example.</a:t>
            </a:r>
          </a:p>
          <a:p>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In </a:t>
            </a:r>
            <a:r>
              <a:rPr lang="en-GB" dirty="0" err="1">
                <a:latin typeface="Arial" panose="020B0604020202020204" pitchFamily="34" charset="0"/>
                <a:cs typeface="Arial" panose="020B0604020202020204" pitchFamily="34" charset="0"/>
              </a:rPr>
              <a:t>Flowcode</a:t>
            </a:r>
            <a:r>
              <a:rPr lang="en-GB" dirty="0">
                <a:latin typeface="Arial" panose="020B0604020202020204" pitchFamily="34" charset="0"/>
                <a:cs typeface="Arial" panose="020B0604020202020204" pitchFamily="34" charset="0"/>
              </a:rPr>
              <a:t> if you select ONLINE STUFF…TARGET CHIP PERIPHERAL </a:t>
            </a:r>
            <a:r>
              <a:rPr lang="en-GB" dirty="0" err="1">
                <a:latin typeface="Arial" panose="020B0604020202020204" pitchFamily="34" charset="0"/>
                <a:cs typeface="Arial" panose="020B0604020202020204" pitchFamily="34" charset="0"/>
              </a:rPr>
              <a:t>PINSyou</a:t>
            </a:r>
            <a:r>
              <a:rPr lang="en-GB" dirty="0">
                <a:latin typeface="Arial" panose="020B0604020202020204" pitchFamily="34" charset="0"/>
                <a:cs typeface="Arial" panose="020B0604020202020204" pitchFamily="34" charset="0"/>
              </a:rPr>
              <a:t> can see the capabilities of the chip you are using.</a:t>
            </a:r>
          </a:p>
          <a:p>
            <a:endParaRPr lang="en-GB"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E0AA09E6-02FC-6E15-E5CB-FAEE84B235F2}"/>
              </a:ext>
            </a:extLst>
          </p:cNvPr>
          <p:cNvPicPr>
            <a:picLocks noChangeAspect="1"/>
          </p:cNvPicPr>
          <p:nvPr/>
        </p:nvPicPr>
        <p:blipFill>
          <a:blip r:embed="rId3"/>
          <a:stretch>
            <a:fillRect/>
          </a:stretch>
        </p:blipFill>
        <p:spPr>
          <a:xfrm>
            <a:off x="696726" y="5209988"/>
            <a:ext cx="3864132" cy="1613898"/>
          </a:xfrm>
          <a:prstGeom prst="rect">
            <a:avLst/>
          </a:prstGeom>
        </p:spPr>
      </p:pic>
      <p:sp>
        <p:nvSpPr>
          <p:cNvPr id="9" name="TextBox 8">
            <a:extLst>
              <a:ext uri="{FF2B5EF4-FFF2-40B4-BE49-F238E27FC236}">
                <a16:creationId xmlns:a16="http://schemas.microsoft.com/office/drawing/2014/main" id="{AD400EAE-6695-23E9-9195-3BA79101ADA6}"/>
              </a:ext>
            </a:extLst>
          </p:cNvPr>
          <p:cNvSpPr txBox="1"/>
          <p:nvPr/>
        </p:nvSpPr>
        <p:spPr>
          <a:xfrm>
            <a:off x="8098972" y="6044069"/>
            <a:ext cx="2689069" cy="369332"/>
          </a:xfrm>
          <a:prstGeom prst="rect">
            <a:avLst/>
          </a:prstGeom>
          <a:noFill/>
        </p:spPr>
        <p:txBody>
          <a:bodyPr wrap="none" rtlCol="0">
            <a:spAutoFit/>
          </a:bodyPr>
          <a:lstStyle/>
          <a:p>
            <a:r>
              <a:rPr lang="en-GB" dirty="0"/>
              <a:t>E-blocks 3 datasheet detail</a:t>
            </a:r>
          </a:p>
        </p:txBody>
      </p:sp>
    </p:spTree>
    <p:extLst>
      <p:ext uri="{BB962C8B-B14F-4D97-AF65-F5344CB8AC3E}">
        <p14:creationId xmlns:p14="http://schemas.microsoft.com/office/powerpoint/2010/main" val="25944011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048491-2276-A654-38D4-6B2E0464D7A7}"/>
              </a:ext>
            </a:extLst>
          </p:cNvPr>
          <p:cNvPicPr>
            <a:picLocks noChangeAspect="1"/>
          </p:cNvPicPr>
          <p:nvPr/>
        </p:nvPicPr>
        <p:blipFill>
          <a:blip r:embed="rId2" r:link="rId3" cstate="print">
            <a:extLst>
              <a:ext uri="{28A0092B-C50C-407E-A947-70E740481C1C}">
                <a14:useLocalDpi xmlns:a14="http://schemas.microsoft.com/office/drawing/2010/main" val="0"/>
              </a:ext>
            </a:extLst>
          </a:blip>
          <a:srcRect/>
          <a:stretch>
            <a:fillRect/>
          </a:stretch>
        </p:blipFill>
        <p:spPr bwMode="auto">
          <a:xfrm>
            <a:off x="6468154" y="1445078"/>
            <a:ext cx="5296317" cy="4288064"/>
          </a:xfrm>
          <a:prstGeom prst="rect">
            <a:avLst/>
          </a:prstGeom>
          <a:noFill/>
          <a:ln>
            <a:noFill/>
          </a:ln>
          <a:effectLst/>
        </p:spPr>
      </p:pic>
      <p:sp>
        <p:nvSpPr>
          <p:cNvPr id="3" name="TextBox 2">
            <a:extLst>
              <a:ext uri="{FF2B5EF4-FFF2-40B4-BE49-F238E27FC236}">
                <a16:creationId xmlns:a16="http://schemas.microsoft.com/office/drawing/2014/main" id="{7C23FBA0-E87C-2B59-8537-FFB74A5A0F6B}"/>
              </a:ext>
            </a:extLst>
          </p:cNvPr>
          <p:cNvSpPr txBox="1"/>
          <p:nvPr/>
        </p:nvSpPr>
        <p:spPr>
          <a:xfrm>
            <a:off x="427529" y="1008682"/>
            <a:ext cx="5436242" cy="5509200"/>
          </a:xfrm>
          <a:prstGeom prst="rect">
            <a:avLst/>
          </a:prstGeom>
          <a:noFill/>
        </p:spPr>
        <p:txBody>
          <a:bodyPr wrap="square" anchor="ctr">
            <a:spAutoFit/>
          </a:bodyPr>
          <a:lstStyle/>
          <a:p>
            <a:r>
              <a:rPr lang="en-GB" dirty="0" err="1">
                <a:latin typeface="Arial" panose="020B0604020202020204" pitchFamily="34" charset="0"/>
                <a:cs typeface="Arial" panose="020B0604020202020204" pitchFamily="34" charset="0"/>
              </a:rPr>
              <a:t>Flowcode</a:t>
            </a:r>
            <a:r>
              <a:rPr lang="en-GB" dirty="0">
                <a:latin typeface="Arial" panose="020B0604020202020204" pitchFamily="34" charset="0"/>
                <a:cs typeface="Arial" panose="020B0604020202020204" pitchFamily="34" charset="0"/>
              </a:rPr>
              <a:t> offers an easy way to program microcontroller chips. Once the flowchart is designed on-screen, one press of a button causes the software to translate it into numerical code!</a:t>
            </a:r>
          </a:p>
          <a:p>
            <a:r>
              <a:rPr lang="en-GB" dirty="0">
                <a:latin typeface="Arial" panose="020B0604020202020204" pitchFamily="34" charset="0"/>
                <a:cs typeface="Arial" panose="020B0604020202020204" pitchFamily="34" charset="0"/>
              </a:rPr>
              <a:t> </a:t>
            </a:r>
          </a:p>
          <a:p>
            <a:r>
              <a:rPr lang="en-GB" dirty="0" err="1">
                <a:latin typeface="Arial" panose="020B0604020202020204" pitchFamily="34" charset="0"/>
                <a:cs typeface="Arial" panose="020B0604020202020204" pitchFamily="34" charset="0"/>
              </a:rPr>
              <a:t>Flowcode</a:t>
            </a:r>
            <a:r>
              <a:rPr lang="en-GB" dirty="0">
                <a:latin typeface="Arial" panose="020B0604020202020204" pitchFamily="34" charset="0"/>
                <a:cs typeface="Arial" panose="020B0604020202020204" pitchFamily="34" charset="0"/>
              </a:rPr>
              <a:t> passes the program through a number of processes before it gets sent into the microcontroller. The flowchart is processed:</a:t>
            </a:r>
          </a:p>
          <a:p>
            <a:endParaRPr lang="en-GB"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first into C code, </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then into Assembler, </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and finally into hexadecimal numbers or ‘Hex’, which the microcontroller ‘understands’.</a:t>
            </a:r>
          </a:p>
          <a:p>
            <a:pPr marL="285750" indent="-285750">
              <a:buFont typeface="Arial" panose="020B0604020202020204" pitchFamily="34" charset="0"/>
              <a:buChar char="•"/>
            </a:pPr>
            <a:endParaRPr lang="en-GB" dirty="0">
              <a:latin typeface="Arial" panose="020B0604020202020204" pitchFamily="34" charset="0"/>
              <a:cs typeface="Arial" panose="020B0604020202020204" pitchFamily="34" charset="0"/>
            </a:endParaRPr>
          </a:p>
          <a:p>
            <a:r>
              <a:rPr lang="en-GB" dirty="0" err="1">
                <a:latin typeface="Arial" panose="020B0604020202020204" pitchFamily="34" charset="0"/>
                <a:cs typeface="Arial" panose="020B0604020202020204" pitchFamily="34" charset="0"/>
              </a:rPr>
              <a:t>Flowcode</a:t>
            </a:r>
            <a:r>
              <a:rPr lang="en-GB" dirty="0">
                <a:latin typeface="Arial" panose="020B0604020202020204" pitchFamily="34" charset="0"/>
                <a:cs typeface="Arial" panose="020B0604020202020204" pitchFamily="34" charset="0"/>
              </a:rPr>
              <a:t> allows you to use the same program on PIC, Arduino and ESP32 microcontrollers – you will need to change the pins and some internal peripheral settings.</a:t>
            </a:r>
          </a:p>
          <a:p>
            <a:pPr algn="r"/>
            <a:endParaRPr lang="en-GB" sz="2800" b="1" dirty="0">
              <a:solidFill>
                <a:schemeClr val="bg1"/>
              </a:solidFill>
              <a:latin typeface="Segoe UI" panose="020B0502040204020203" pitchFamily="34" charset="0"/>
              <a:ea typeface="Calibri" panose="020F0502020204030204" pitchFamily="34" charset="0"/>
              <a:cs typeface="Segoe UI" panose="020B0502040204020203" pitchFamily="34" charset="0"/>
            </a:endParaRPr>
          </a:p>
        </p:txBody>
      </p:sp>
      <p:sp>
        <p:nvSpPr>
          <p:cNvPr id="4" name="TextBox 3">
            <a:extLst>
              <a:ext uri="{FF2B5EF4-FFF2-40B4-BE49-F238E27FC236}">
                <a16:creationId xmlns:a16="http://schemas.microsoft.com/office/drawing/2014/main" id="{13A32064-FAF3-2DBC-3C1A-C5D12B03626E}"/>
              </a:ext>
            </a:extLst>
          </p:cNvPr>
          <p:cNvSpPr txBox="1"/>
          <p:nvPr/>
        </p:nvSpPr>
        <p:spPr>
          <a:xfrm>
            <a:off x="4857667" y="106044"/>
            <a:ext cx="7058233" cy="523220"/>
          </a:xfrm>
          <a:prstGeom prst="rect">
            <a:avLst/>
          </a:prstGeom>
          <a:noFill/>
        </p:spPr>
        <p:txBody>
          <a:bodyPr wrap="square" anchor="ctr">
            <a:spAutoFit/>
          </a:bodyPr>
          <a:lstStyle/>
          <a:p>
            <a:pPr algn="r"/>
            <a:r>
              <a:rPr lang="en-GB" sz="2800" b="1" dirty="0">
                <a:solidFill>
                  <a:schemeClr val="bg1"/>
                </a:solidFill>
                <a:latin typeface="Segoe UI" panose="020B0502040204020203" pitchFamily="34" charset="0"/>
                <a:ea typeface="Calibri" panose="020F0502020204030204" pitchFamily="34" charset="0"/>
                <a:cs typeface="Segoe UI" panose="020B0502040204020203" pitchFamily="34" charset="0"/>
              </a:rPr>
              <a:t>The </a:t>
            </a:r>
            <a:r>
              <a:rPr lang="en-GB" sz="2800" b="1" dirty="0" err="1">
                <a:solidFill>
                  <a:schemeClr val="bg1"/>
                </a:solidFill>
                <a:latin typeface="Segoe UI" panose="020B0502040204020203" pitchFamily="34" charset="0"/>
                <a:ea typeface="Calibri" panose="020F0502020204030204" pitchFamily="34" charset="0"/>
                <a:cs typeface="Segoe UI" panose="020B0502040204020203" pitchFamily="34" charset="0"/>
              </a:rPr>
              <a:t>Flowcode</a:t>
            </a:r>
            <a:r>
              <a:rPr lang="en-GB" sz="2800" b="1" dirty="0">
                <a:solidFill>
                  <a:schemeClr val="bg1"/>
                </a:solidFill>
                <a:latin typeface="Segoe UI" panose="020B0502040204020203" pitchFamily="34" charset="0"/>
                <a:ea typeface="Calibri" panose="020F0502020204030204" pitchFamily="34" charset="0"/>
                <a:cs typeface="Segoe UI" panose="020B0502040204020203" pitchFamily="34" charset="0"/>
              </a:rPr>
              <a:t> process</a:t>
            </a:r>
          </a:p>
        </p:txBody>
      </p:sp>
    </p:spTree>
    <p:extLst>
      <p:ext uri="{BB962C8B-B14F-4D97-AF65-F5344CB8AC3E}">
        <p14:creationId xmlns:p14="http://schemas.microsoft.com/office/powerpoint/2010/main" val="13548962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2099</Words>
  <Application>Microsoft Office PowerPoint</Application>
  <PresentationFormat>Widescreen</PresentationFormat>
  <Paragraphs>239</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Arial</vt:lpstr>
      <vt:lpstr>Calibri</vt:lpstr>
      <vt:lpstr>Calibri Light</vt:lpstr>
      <vt:lpstr>Segoe UI</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Alyce Holt</dc:creator>
  <cp:lastModifiedBy>John Dobson</cp:lastModifiedBy>
  <cp:revision>174</cp:revision>
  <cp:lastPrinted>2024-07-24T17:03:27Z</cp:lastPrinted>
  <dcterms:created xsi:type="dcterms:W3CDTF">2023-10-05T11:55:27Z</dcterms:created>
  <dcterms:modified xsi:type="dcterms:W3CDTF">2026-02-24T11:00:08Z</dcterms:modified>
</cp:coreProperties>
</file>