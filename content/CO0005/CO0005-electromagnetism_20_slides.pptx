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6720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Electromagnetism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713232" y="2157984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Forces • magnetic circuits • induced voltage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5074920"/>
            <a:ext cx="7955280" cy="713232"/>
          </a:xfrm>
          <a:prstGeom prst="roundRect">
            <a:avLst>
              <a:gd name="adj" fmla="val 10256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184648"/>
            <a:ext cx="773582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 = B I l      e = −N dΦ/dt      E = B l v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458200" y="1353312"/>
            <a:ext cx="210312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458200" y="1645920"/>
            <a:ext cx="210312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458200" y="1938528"/>
            <a:ext cx="210312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458200" y="2231136"/>
            <a:ext cx="210312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458200" y="2523744"/>
            <a:ext cx="210312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458200" y="2816352"/>
            <a:ext cx="210312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458200" y="3108960"/>
            <a:ext cx="210312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458200" y="3401568"/>
            <a:ext cx="210312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89520" y="1097280"/>
            <a:ext cx="594360" cy="2926080"/>
          </a:xfrm>
          <a:prstGeom prst="rect">
            <a:avLst/>
          </a:prstGeom>
          <a:solidFill>
            <a:srgbClr val="DCEB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0" y="2395728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835640" y="1097280"/>
            <a:ext cx="594360" cy="2926080"/>
          </a:xfrm>
          <a:prstGeom prst="rect">
            <a:avLst/>
          </a:prstGeom>
          <a:solidFill>
            <a:srgbClr val="FFE5E5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35640" y="2395728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281160" y="2148840"/>
            <a:ext cx="457200" cy="914400"/>
          </a:xfrm>
          <a:prstGeom prst="roundRect">
            <a:avLst>
              <a:gd name="adj" fmla="val 6000"/>
            </a:avLst>
          </a:prstGeom>
          <a:solidFill>
            <a:srgbClr val="FB850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09760" y="1874520"/>
            <a:ext cx="0" cy="-731520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8458200" y="4279392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 effect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5234940"/>
            <a:ext cx="3383280" cy="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818120" y="5852160"/>
            <a:ext cx="0" cy="-123444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955280" y="5212080"/>
            <a:ext cx="48623" cy="-4588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03903" y="5166193"/>
            <a:ext cx="48623" cy="-4543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52526" y="5120763"/>
            <a:ext cx="48623" cy="-4452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01149" y="5076240"/>
            <a:ext cx="48623" cy="-4317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49771" y="5033067"/>
            <a:ext cx="48623" cy="-4139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98394" y="4991673"/>
            <a:ext cx="48623" cy="-392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47017" y="4952470"/>
            <a:ext cx="48623" cy="-3662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5640" y="4915846"/>
            <a:ext cx="48623" cy="-3367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44263" y="4882167"/>
            <a:ext cx="48623" cy="-3040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92886" y="4851767"/>
            <a:ext cx="48623" cy="-2681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41509" y="4824948"/>
            <a:ext cx="48623" cy="-2297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90131" y="4801976"/>
            <a:ext cx="48623" cy="-1889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38754" y="4783080"/>
            <a:ext cx="48623" cy="-1463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587377" y="4768447"/>
            <a:ext cx="48623" cy="-1022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36000" y="4758224"/>
            <a:ext cx="48623" cy="-57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84623" y="4752511"/>
            <a:ext cx="48623" cy="-114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733246" y="4751366"/>
            <a:ext cx="48623" cy="343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81869" y="4754799"/>
            <a:ext cx="48623" cy="797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830491" y="4762777"/>
            <a:ext cx="48623" cy="1244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879114" y="4775220"/>
            <a:ext cx="48623" cy="1678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27737" y="4792006"/>
            <a:ext cx="48623" cy="2096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976360" y="4812966"/>
            <a:ext cx="48623" cy="2492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24983" y="4837892"/>
            <a:ext cx="48623" cy="2864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73606" y="4866538"/>
            <a:ext cx="48623" cy="3208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122229" y="4898617"/>
            <a:ext cx="48623" cy="3519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70851" y="4933812"/>
            <a:ext cx="48623" cy="3796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19474" y="4971773"/>
            <a:ext cx="48623" cy="4034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268097" y="5012121"/>
            <a:ext cx="48623" cy="4233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316720" y="5054457"/>
            <a:ext cx="48623" cy="439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365343" y="5098360"/>
            <a:ext cx="48623" cy="4503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413966" y="5143393"/>
            <a:ext cx="48623" cy="4571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462589" y="5189108"/>
            <a:ext cx="48623" cy="4594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11211" y="5235052"/>
            <a:ext cx="48623" cy="4571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59834" y="5280767"/>
            <a:ext cx="48623" cy="4503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608457" y="5325800"/>
            <a:ext cx="48623" cy="439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57080" y="5369703"/>
            <a:ext cx="48623" cy="4233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705703" y="5412039"/>
            <a:ext cx="48623" cy="4034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754326" y="5452387"/>
            <a:ext cx="48623" cy="3796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802949" y="5490348"/>
            <a:ext cx="48623" cy="3519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851571" y="5525543"/>
            <a:ext cx="48623" cy="3208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900194" y="5557622"/>
            <a:ext cx="48623" cy="2864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948817" y="5586268"/>
            <a:ext cx="48623" cy="2492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997440" y="5611194"/>
            <a:ext cx="48623" cy="2096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046063" y="5632154"/>
            <a:ext cx="48623" cy="1678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094686" y="5648940"/>
            <a:ext cx="48623" cy="1244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43309" y="5661383"/>
            <a:ext cx="48623" cy="797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91931" y="5669361"/>
            <a:ext cx="48623" cy="343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240554" y="5672794"/>
            <a:ext cx="48623" cy="-114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289177" y="5671649"/>
            <a:ext cx="48623" cy="-57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337800" y="5665936"/>
            <a:ext cx="48623" cy="-1022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386423" y="5655713"/>
            <a:ext cx="48623" cy="-1463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435046" y="5641080"/>
            <a:ext cx="48623" cy="-1889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483669" y="5622184"/>
            <a:ext cx="48623" cy="-2297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32291" y="5599212"/>
            <a:ext cx="48623" cy="-2681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580914" y="5572393"/>
            <a:ext cx="48623" cy="-3040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629537" y="5541993"/>
            <a:ext cx="48623" cy="-3367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678160" y="5508314"/>
            <a:ext cx="48623" cy="-3662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726783" y="5471690"/>
            <a:ext cx="48623" cy="-392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775406" y="5432487"/>
            <a:ext cx="48623" cy="-4139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824029" y="5391093"/>
            <a:ext cx="48623" cy="-4317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872651" y="5347920"/>
            <a:ext cx="48623" cy="-4452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921274" y="5303397"/>
            <a:ext cx="48623" cy="-4543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969897" y="5257967"/>
            <a:ext cx="48623" cy="-4588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electromagnetism story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linked ideas appear again and again in machines, generators and transformers.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2880360"/>
            <a:ext cx="1828800" cy="0"/>
          </a:xfrm>
          <a:prstGeom prst="line">
            <a:avLst/>
          </a:prstGeom>
          <a:noFill/>
          <a:ln w="33020">
            <a:solidFill>
              <a:srgbClr val="2EC4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669280" y="2880360"/>
            <a:ext cx="1828800" cy="0"/>
          </a:xfrm>
          <a:prstGeom prst="line">
            <a:avLst/>
          </a:prstGeom>
          <a:noFill/>
          <a:ln w="33020">
            <a:solidFill>
              <a:srgbClr val="2EC4FF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006840" y="3520440"/>
            <a:ext cx="-6583680" cy="1143000"/>
          </a:xfrm>
          <a:prstGeom prst="line">
            <a:avLst/>
          </a:prstGeom>
          <a:noFill/>
          <a:ln w="2540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7240" y="18745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23047"/>
          </a:solidFill>
          <a:ln w="16510">
            <a:solidFill>
              <a:srgbClr val="2EC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2057400"/>
            <a:ext cx="2231136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005840" y="2587752"/>
            <a:ext cx="2103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creates magnetic field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1560" y="3063240"/>
            <a:ext cx="20116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coil or conductor produces flux Φ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06240" y="18745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C2E2D"/>
          </a:solidFill>
          <a:ln w="16510">
            <a:solidFill>
              <a:srgbClr val="38B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70832" y="2057400"/>
            <a:ext cx="2231136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Magnetic field B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434840" y="2587752"/>
            <a:ext cx="2103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pushes current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80560" y="3063240"/>
            <a:ext cx="20116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current in a field experiences force F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35240" y="18745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2D2546"/>
          </a:solidFill>
          <a:ln w="1651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99832" y="2057400"/>
            <a:ext cx="2231136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Changing flux Φ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7863840" y="2587752"/>
            <a:ext cx="2103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induces voltage 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909560" y="3063240"/>
            <a:ext cx="20116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changing flux linkage creates EMF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4400" y="5074920"/>
            <a:ext cx="3154680" cy="566928"/>
          </a:xfrm>
          <a:prstGeom prst="roundRect">
            <a:avLst>
              <a:gd name="adj" fmla="val 12903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5184648"/>
            <a:ext cx="293522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Motor effect: F = B I l sinθ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26280" y="5074920"/>
            <a:ext cx="3154680" cy="566928"/>
          </a:xfrm>
          <a:prstGeom prst="roundRect">
            <a:avLst>
              <a:gd name="adj" fmla="val 12903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5184648"/>
            <a:ext cx="293522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Faraday: e = −N dΦ/dt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8160" y="5074920"/>
            <a:ext cx="2788920" cy="566928"/>
          </a:xfrm>
          <a:prstGeom prst="roundRect">
            <a:avLst>
              <a:gd name="adj" fmla="val 12903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47888" y="5184648"/>
            <a:ext cx="256946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Motion EMF: E = B l v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Force on a current-carrying conductor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conductor carrying current at right angles to a magnetic field experiences a mechanical force.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537960" y="1600200"/>
            <a:ext cx="27432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537960" y="1938528"/>
            <a:ext cx="27432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537960" y="2276856"/>
            <a:ext cx="27432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537960" y="2615184"/>
            <a:ext cx="27432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537960" y="2953512"/>
            <a:ext cx="27432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37960" y="3291840"/>
            <a:ext cx="27432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537960" y="3630168"/>
            <a:ext cx="27432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537960" y="3968496"/>
            <a:ext cx="27432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623560" y="1325880"/>
            <a:ext cx="658368" cy="3154680"/>
          </a:xfrm>
          <a:prstGeom prst="rect">
            <a:avLst/>
          </a:prstGeom>
          <a:solidFill>
            <a:srgbClr val="DCEB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273862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8048" y="1325880"/>
            <a:ext cx="658368" cy="3154680"/>
          </a:xfrm>
          <a:prstGeom prst="rect">
            <a:avLst/>
          </a:prstGeom>
          <a:solidFill>
            <a:srgbClr val="FFE5E5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28048" y="273862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671816" y="2459736"/>
            <a:ext cx="566928" cy="566928"/>
          </a:xfrm>
          <a:prstGeom prst="ellipse">
            <a:avLst/>
          </a:prstGeom>
          <a:solidFill>
            <a:srgbClr val="FB8500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47564" y="2635484"/>
            <a:ext cx="215433" cy="21543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0" y="2423160"/>
            <a:ext cx="0" cy="-914400"/>
          </a:xfrm>
          <a:prstGeom prst="line">
            <a:avLst/>
          </a:prstGeom>
          <a:noFill/>
          <a:ln w="4318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812280" y="4480560"/>
            <a:ext cx="23774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field: N → 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23760" y="3127248"/>
            <a:ext cx="1463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out of slide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11312" y="1901952"/>
            <a:ext cx="1097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Force 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" y="1508760"/>
            <a:ext cx="3886200" cy="822960"/>
          </a:xfrm>
          <a:prstGeom prst="roundRect">
            <a:avLst>
              <a:gd name="adj" fmla="val 8889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1618488"/>
            <a:ext cx="3666744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 = B × I × l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22960" y="2788920"/>
            <a:ext cx="397764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 = magnetic flux density in tesla (T)</a:t>
            </a:r>
            <a:endParaRPr lang="en-US" sz="1580" dirty="0"/>
          </a:p>
          <a:p>
            <a:pPr indent="0" marL="0">
              <a:buNone/>
            </a:pPr>
            <a:r>
              <a:rPr lang="en-US" sz="158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 = current in amperes (A)</a:t>
            </a:r>
            <a:endParaRPr lang="en-US" sz="1580" dirty="0"/>
          </a:p>
          <a:p>
            <a:pPr indent="0" marL="0">
              <a:buNone/>
            </a:pPr>
            <a:r>
              <a:rPr lang="en-US" sz="158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 = active conductor length in metres (m)</a:t>
            </a:r>
            <a:endParaRPr lang="en-US" sz="1580" dirty="0"/>
          </a:p>
          <a:p>
            <a:pPr indent="0" marL="0">
              <a:buNone/>
            </a:pPr>
            <a:r>
              <a:rPr lang="en-US" sz="158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This form assumes the conductor is perpendicular to B</a:t>
            </a:r>
            <a:endParaRPr lang="en-US" sz="15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Direction of force: Fleming’s left-hand rule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three directions are mutually at right angles.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675120" y="3931920"/>
            <a:ext cx="2194560" cy="0"/>
          </a:xfrm>
          <a:prstGeom prst="line">
            <a:avLst/>
          </a:prstGeom>
          <a:noFill/>
          <a:ln w="4064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675120" y="3931920"/>
            <a:ext cx="0" cy="-2103120"/>
          </a:xfrm>
          <a:prstGeom prst="line">
            <a:avLst/>
          </a:prstGeom>
          <a:noFill/>
          <a:ln w="40640">
            <a:solidFill>
              <a:srgbClr val="FB850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75120" y="3931920"/>
            <a:ext cx="-1600200" cy="1325880"/>
          </a:xfrm>
          <a:prstGeom prst="line">
            <a:avLst/>
          </a:prstGeom>
          <a:noFill/>
          <a:ln w="4064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55080" y="3611880"/>
            <a:ext cx="640080" cy="640080"/>
          </a:xfrm>
          <a:prstGeom prst="ellipse">
            <a:avLst/>
          </a:prstGeom>
          <a:solidFill>
            <a:srgbClr val="1E293B"/>
          </a:solidFill>
          <a:ln w="15240">
            <a:solidFill>
              <a:srgbClr val="7DD3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06840" y="3767328"/>
            <a:ext cx="5486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1417320"/>
            <a:ext cx="5486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45152" y="5257800"/>
            <a:ext cx="5486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1417320"/>
            <a:ext cx="438912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finger: field B (N to S)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Second finger: conventional current I (+ to −)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Thumb: force or motion 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Reverse the current or field and the force reverses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68680" y="5596128"/>
            <a:ext cx="4206240" cy="530352"/>
          </a:xfrm>
          <a:prstGeom prst="roundRect">
            <a:avLst>
              <a:gd name="adj" fmla="val 13793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" y="5705856"/>
            <a:ext cx="3986784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Field × Current → Force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Force calculation: worked example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consistent SI units before substituting into the equation.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325880"/>
            <a:ext cx="2926080" cy="713232"/>
          </a:xfrm>
          <a:prstGeom prst="roundRect">
            <a:avLst>
              <a:gd name="adj" fmla="val 10256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435608"/>
            <a:ext cx="270662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 = B I l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6868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DD3FC"/>
                </a:solidFill>
              </a:rPr>
              <a:t>Given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788920"/>
            <a:ext cx="210312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 = 0.8 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 = 5 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 = 0.12 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2423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DD3FC"/>
                </a:solidFill>
              </a:rPr>
              <a:t>Substitute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520440" y="2761488"/>
            <a:ext cx="3474720" cy="594360"/>
          </a:xfrm>
          <a:prstGeom prst="roundRect">
            <a:avLst>
              <a:gd name="adj" fmla="val 12308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871216"/>
            <a:ext cx="32552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 = 0.8 × 5 × 0.12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635240" y="2423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DD3FC"/>
                </a:solidFill>
              </a:rPr>
              <a:t>Answer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0" y="2761488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1C2E2D"/>
          </a:solidFill>
          <a:ln w="15240">
            <a:solidFill>
              <a:srgbClr val="38B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24928" y="2871216"/>
            <a:ext cx="270662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 = 0.48 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583680" y="4681728"/>
            <a:ext cx="23774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83680" y="4919472"/>
            <a:ext cx="23774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583680" y="5157216"/>
            <a:ext cx="23774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0" y="5394960"/>
            <a:ext cx="23774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680960" y="4343400"/>
            <a:ext cx="310896" cy="1143000"/>
          </a:xfrm>
          <a:prstGeom prst="roundRect">
            <a:avLst>
              <a:gd name="adj" fmla="val 8824"/>
            </a:avLst>
          </a:prstGeom>
          <a:solidFill>
            <a:srgbClr val="FB850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36408" y="4261104"/>
            <a:ext cx="0" cy="-640080"/>
          </a:xfrm>
          <a:prstGeom prst="line">
            <a:avLst/>
          </a:prstGeom>
          <a:noFill/>
          <a:ln w="2794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903720" y="5559552"/>
            <a:ext cx="2377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length l = 0.12 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88720" y="4846320"/>
            <a:ext cx="42976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43000" y="5074920"/>
            <a:ext cx="443484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Tip: use only the conductor length inside the magnetic field.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Force on a conductor at an angle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the component of conductor length perpendicular to the field contributes to force.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92240" y="1600200"/>
            <a:ext cx="292608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92240" y="1911096"/>
            <a:ext cx="292608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92240" y="2221992"/>
            <a:ext cx="292608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492240" y="2532888"/>
            <a:ext cx="292608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92240" y="2843784"/>
            <a:ext cx="292608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92240" y="3154680"/>
            <a:ext cx="292608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92240" y="3465576"/>
            <a:ext cx="292608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92240" y="3776472"/>
            <a:ext cx="292608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92240" y="4087368"/>
            <a:ext cx="292608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0" y="4160520"/>
            <a:ext cx="1737360" cy="-2011680"/>
          </a:xfrm>
          <a:prstGeom prst="line">
            <a:avLst/>
          </a:prstGeom>
          <a:noFill/>
          <a:ln w="139700">
            <a:solidFill>
              <a:srgbClr val="FB850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315200" y="4160520"/>
            <a:ext cx="1737360" cy="-2011680"/>
          </a:xfrm>
          <a:prstGeom prst="line">
            <a:avLst/>
          </a:prstGeom>
          <a:noFill/>
          <a:ln w="19050">
            <a:solidFill>
              <a:srgbClr val="FFD1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3880" y="3154680"/>
            <a:ext cx="0" cy="-960120"/>
          </a:xfrm>
          <a:prstGeom prst="line">
            <a:avLst/>
          </a:prstGeom>
          <a:noFill/>
          <a:ln w="4064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60920" y="3657600"/>
            <a:ext cx="822960" cy="822960"/>
          </a:xfrm>
          <a:prstGeom prst="arc">
            <a:avLst/>
          </a:prstGeom>
          <a:noFill/>
          <a:ln w="25400">
            <a:solidFill>
              <a:srgbClr val="7DD3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3977640"/>
            <a:ext cx="2743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464040" y="1828800"/>
            <a:ext cx="4572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909560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B85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along conductor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" y="1417320"/>
            <a:ext cx="4297680" cy="804672"/>
          </a:xfrm>
          <a:prstGeom prst="roundRect">
            <a:avLst>
              <a:gd name="adj" fmla="val 9091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" y="1527048"/>
            <a:ext cx="4078224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 = B × I × l × sinθ</a:t>
            </a:r>
            <a:endParaRPr lang="en-US" sz="2500" dirty="0"/>
          </a:p>
        </p:txBody>
      </p:sp>
      <p:sp>
        <p:nvSpPr>
          <p:cNvPr id="26" name="Text 24"/>
          <p:cNvSpPr/>
          <p:nvPr/>
        </p:nvSpPr>
        <p:spPr>
          <a:xfrm>
            <a:off x="822960" y="2743200"/>
            <a:ext cx="425196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θ is the angle between conductor and magnetic field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At θ = 0°, sinθ = 0, so force is zero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At θ = 90°, sinθ = 1, giving maximum force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Angle dependence: sinθ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magnetic force is proportional to the perpendicular component.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51560" y="3543300"/>
            <a:ext cx="5669280" cy="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051560" y="5257800"/>
            <a:ext cx="0" cy="-342900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51560" y="5349240"/>
            <a:ext cx="188976" cy="-17946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40536" y="5169780"/>
            <a:ext cx="188976" cy="-178968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29512" y="4990812"/>
            <a:ext cx="188976" cy="-17798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812826"/>
            <a:ext cx="188976" cy="-176515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07464" y="4636311"/>
            <a:ext cx="188976" cy="-174561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6440" y="4461749"/>
            <a:ext cx="188976" cy="-172129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85416" y="4289621"/>
            <a:ext cx="188976" cy="-169224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74392" y="4120396"/>
            <a:ext cx="188976" cy="-16585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3368" y="3954540"/>
            <a:ext cx="188976" cy="-162033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52344" y="3792507"/>
            <a:ext cx="188976" cy="-157767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41320" y="3634740"/>
            <a:ext cx="188976" cy="-153067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0296" y="3481673"/>
            <a:ext cx="188976" cy="-147948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9272" y="3333724"/>
            <a:ext cx="188976" cy="-142424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08248" y="3191300"/>
            <a:ext cx="188976" cy="-136509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97224" y="3054791"/>
            <a:ext cx="188976" cy="-13022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86200" y="2924571"/>
            <a:ext cx="188976" cy="-123574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75176" y="2800996"/>
            <a:ext cx="188976" cy="-11659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64152" y="2684406"/>
            <a:ext cx="188976" cy="-10928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53128" y="2575121"/>
            <a:ext cx="188976" cy="-101682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42104" y="2473439"/>
            <a:ext cx="188976" cy="-9380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31080" y="2379639"/>
            <a:ext cx="188976" cy="-8566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0056" y="2293979"/>
            <a:ext cx="188976" cy="-7728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09032" y="2216693"/>
            <a:ext cx="188976" cy="-6870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98008" y="2147993"/>
            <a:ext cx="188976" cy="-5992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86984" y="2088067"/>
            <a:ext cx="188976" cy="-50987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75960" y="2037080"/>
            <a:ext cx="188976" cy="-41908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64936" y="1995172"/>
            <a:ext cx="188976" cy="-32715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53912" y="1962457"/>
            <a:ext cx="188976" cy="-23432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888" y="1939024"/>
            <a:ext cx="188976" cy="-14085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31864" y="1924939"/>
            <a:ext cx="188976" cy="-4699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6696" y="5294376"/>
            <a:ext cx="109728" cy="109728"/>
          </a:xfrm>
          <a:prstGeom prst="ellips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" y="5495544"/>
            <a:ext cx="45720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0°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886456" y="3579876"/>
            <a:ext cx="109728" cy="109728"/>
          </a:xfrm>
          <a:prstGeom prst="ellips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12720" y="5495544"/>
            <a:ext cx="45720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76216" y="2324775"/>
            <a:ext cx="109728" cy="109728"/>
          </a:xfrm>
          <a:prstGeom prst="ellips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02480" y="5495544"/>
            <a:ext cx="45720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60°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665976" y="1865376"/>
            <a:ext cx="109728" cy="109728"/>
          </a:xfrm>
          <a:prstGeom prst="ellips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5495544"/>
            <a:ext cx="45720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1691640"/>
            <a:ext cx="6400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sinθ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086600" y="5394960"/>
            <a:ext cx="3200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θ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452360" y="1645920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62088" y="1755648"/>
            <a:ext cx="3118104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Fθ = Fmax × sinθ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754380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</a:rPr>
              <a:t>Example when Fmax = 0.48 N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635240" y="3154680"/>
            <a:ext cx="219456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30°: 0.24 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60°: 0.42 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90°: 0.48 N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Magnetic flux density B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 density describes how concentrated the magnetic flux is through an area.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675120" y="1645920"/>
            <a:ext cx="2651760" cy="0"/>
          </a:xfrm>
          <a:prstGeom prst="line">
            <a:avLst/>
          </a:prstGeom>
          <a:noFill/>
          <a:ln w="2159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675120" y="1901952"/>
            <a:ext cx="2651760" cy="0"/>
          </a:xfrm>
          <a:prstGeom prst="line">
            <a:avLst/>
          </a:prstGeom>
          <a:noFill/>
          <a:ln w="2159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75120" y="2157984"/>
            <a:ext cx="2651760" cy="0"/>
          </a:xfrm>
          <a:prstGeom prst="line">
            <a:avLst/>
          </a:prstGeom>
          <a:noFill/>
          <a:ln w="2159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75120" y="2414016"/>
            <a:ext cx="2651760" cy="0"/>
          </a:xfrm>
          <a:prstGeom prst="line">
            <a:avLst/>
          </a:prstGeom>
          <a:noFill/>
          <a:ln w="2159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675120" y="2670048"/>
            <a:ext cx="2651760" cy="0"/>
          </a:xfrm>
          <a:prstGeom prst="line">
            <a:avLst/>
          </a:prstGeom>
          <a:noFill/>
          <a:ln w="2159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75120" y="2926080"/>
            <a:ext cx="2651760" cy="0"/>
          </a:xfrm>
          <a:prstGeom prst="line">
            <a:avLst/>
          </a:prstGeom>
          <a:noFill/>
          <a:ln w="2159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675120" y="3182112"/>
            <a:ext cx="2651760" cy="0"/>
          </a:xfrm>
          <a:prstGeom prst="line">
            <a:avLst/>
          </a:prstGeom>
          <a:noFill/>
          <a:ln w="2159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675120" y="4069080"/>
            <a:ext cx="2651760" cy="0"/>
          </a:xfrm>
          <a:prstGeom prst="line">
            <a:avLst/>
          </a:prstGeom>
          <a:noFill/>
          <a:ln w="1524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675120" y="4453128"/>
            <a:ext cx="2651760" cy="0"/>
          </a:xfrm>
          <a:prstGeom prst="line">
            <a:avLst/>
          </a:prstGeom>
          <a:noFill/>
          <a:ln w="1524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675120" y="4837176"/>
            <a:ext cx="2651760" cy="0"/>
          </a:xfrm>
          <a:prstGeom prst="line">
            <a:avLst/>
          </a:prstGeom>
          <a:noFill/>
          <a:ln w="1524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675120" y="5221224"/>
            <a:ext cx="2651760" cy="0"/>
          </a:xfrm>
          <a:prstGeom prst="line">
            <a:avLst/>
          </a:prstGeom>
          <a:noFill/>
          <a:ln w="1524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35240" y="1417320"/>
            <a:ext cx="777240" cy="1828800"/>
          </a:xfrm>
          <a:prstGeom prst="rect">
            <a:avLst/>
          </a:prstGeom>
          <a:solidFill>
            <a:srgbClr val="233044">
              <a:alpha val="65000"/>
            </a:srgbClr>
          </a:solidFill>
          <a:ln w="15240">
            <a:solidFill>
              <a:srgbClr val="7DD3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35240" y="3749040"/>
            <a:ext cx="777240" cy="1828800"/>
          </a:xfrm>
          <a:prstGeom prst="rect">
            <a:avLst/>
          </a:prstGeom>
          <a:solidFill>
            <a:srgbClr val="233044">
              <a:alpha val="65000"/>
            </a:srgbClr>
          </a:solidFill>
          <a:ln w="15240">
            <a:solidFill>
              <a:srgbClr val="7DD3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00032" y="2148840"/>
            <a:ext cx="10058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8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400032" y="4572000"/>
            <a:ext cx="10058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B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141732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968" y="1527048"/>
            <a:ext cx="2889504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 = Φ / A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822960" y="2560320"/>
            <a:ext cx="4160520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Φ = magnetic flux in webers (Wb)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= cross-sectional area in m²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 = tesla (T) = Wb/m²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smaller area gives greater flux density for the same flux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Magnetic flux density in an air gap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near-uniform field lets us estimate force and induced EMF from B.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26480" y="1463040"/>
            <a:ext cx="777240" cy="3337560"/>
          </a:xfrm>
          <a:prstGeom prst="rect">
            <a:avLst/>
          </a:prstGeom>
          <a:solidFill>
            <a:srgbClr val="DCEB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296722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012680" y="1463040"/>
            <a:ext cx="777240" cy="3337560"/>
          </a:xfrm>
          <a:prstGeom prst="rect">
            <a:avLst/>
          </a:prstGeom>
          <a:solidFill>
            <a:srgbClr val="FFE5E5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12680" y="296722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086600" y="1874520"/>
            <a:ext cx="22860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86600" y="2240280"/>
            <a:ext cx="22860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086600" y="2606040"/>
            <a:ext cx="22860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086600" y="2971800"/>
            <a:ext cx="22860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086600" y="3337560"/>
            <a:ext cx="22860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086600" y="3703320"/>
            <a:ext cx="22860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086600" y="4069080"/>
            <a:ext cx="228600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43800" y="2103120"/>
            <a:ext cx="1143000" cy="1417320"/>
          </a:xfrm>
          <a:prstGeom prst="rect">
            <a:avLst/>
          </a:prstGeom>
          <a:solidFill>
            <a:srgbClr val="233044">
              <a:alpha val="45000"/>
            </a:srgbClr>
          </a:solidFill>
          <a:ln w="15240">
            <a:solidFill>
              <a:srgbClr val="7DD3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43216" y="3639312"/>
            <a:ext cx="13716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uniform gap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1536192"/>
            <a:ext cx="434340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 is stronger when flux is forced through a small gap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 is weaker when flux leaks or spreads out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 motors and generators, air-gap B is a key design value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Education labs often use measured B from a gaussmeter / teslameter</a:t>
            </a:r>
            <a:endParaRPr lang="en-US" sz="1540" dirty="0"/>
          </a:p>
        </p:txBody>
      </p:sp>
      <p:sp>
        <p:nvSpPr>
          <p:cNvPr id="22" name="Shape 20"/>
          <p:cNvSpPr/>
          <p:nvPr/>
        </p:nvSpPr>
        <p:spPr>
          <a:xfrm>
            <a:off x="868680" y="5138928"/>
            <a:ext cx="4709160" cy="566928"/>
          </a:xfrm>
          <a:prstGeom prst="roundRect">
            <a:avLst>
              <a:gd name="adj" fmla="val 12903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8408" y="5248656"/>
            <a:ext cx="44897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Force and EMF calculations both need B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Magnetic circuit: flux, MMF and reluctance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magnetic circuit behaves like an electrical circuit analogy.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68880" y="3063240"/>
            <a:ext cx="1280160" cy="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74920" y="3063240"/>
            <a:ext cx="1280160" cy="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680960" y="3063240"/>
            <a:ext cx="1280160" cy="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94360" y="210312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395728"/>
            <a:ext cx="16459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2788920"/>
            <a:ext cx="1645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Fₘ = N 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95528" y="3255264"/>
            <a:ext cx="151790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magnetic “push”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210312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111827"/>
          </a:solidFill>
          <a:ln w="15240">
            <a:solidFill>
              <a:srgbClr val="FFB70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2395728"/>
            <a:ext cx="16459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Reluctance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37560" y="2788920"/>
            <a:ext cx="1645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B70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01568" y="3255264"/>
            <a:ext cx="151790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opposes flux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806440" y="210312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2395728"/>
            <a:ext cx="16459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0" y="2788920"/>
            <a:ext cx="1645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Φ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07608" y="3255264"/>
            <a:ext cx="151790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magnetic flow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412480" y="210312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49640" y="2395728"/>
            <a:ext cx="16459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/ gap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49640" y="2788920"/>
            <a:ext cx="1645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+ geometry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13648" y="3255264"/>
            <a:ext cx="151790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sets 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11880" y="507492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1A263B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21608" y="5184648"/>
            <a:ext cx="453542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Φ = MMF / R</a:t>
            </a:r>
            <a:endParaRPr lang="en-US" sz="2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Magnetic circuit – reluctance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Reluctance depends on path length, material permeability and area.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325880"/>
            <a:ext cx="4663440" cy="786384"/>
          </a:xfrm>
          <a:prstGeom prst="roundRect">
            <a:avLst>
              <a:gd name="adj" fmla="val 9302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435608"/>
            <a:ext cx="444398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 = l / (μ₀ × μᵣ × A)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2468880"/>
            <a:ext cx="429768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 = magnetic path length (m)</a:t>
            </a:r>
            <a:endParaRPr lang="en-US" sz="1560" dirty="0"/>
          </a:p>
          <a:p>
            <a:pPr indent="0" marL="0">
              <a:buNone/>
            </a:pPr>
            <a:r>
              <a:rPr lang="en-US" sz="156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μ₀ = permeability of free space</a:t>
            </a:r>
            <a:endParaRPr lang="en-US" sz="1560" dirty="0"/>
          </a:p>
          <a:p>
            <a:pPr indent="0" marL="0">
              <a:buNone/>
            </a:pPr>
            <a:r>
              <a:rPr lang="en-US" sz="156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μᵣ = relative permeability of the material</a:t>
            </a:r>
            <a:endParaRPr lang="en-US" sz="1560" dirty="0"/>
          </a:p>
          <a:p>
            <a:pPr indent="0" marL="0">
              <a:buNone/>
            </a:pPr>
            <a:r>
              <a:rPr lang="en-US" sz="156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= cross-sectional area (m²)</a:t>
            </a:r>
            <a:endParaRPr lang="en-US" sz="1560" dirty="0"/>
          </a:p>
          <a:p>
            <a:pPr indent="0" marL="0">
              <a:buNone/>
            </a:pPr>
            <a:r>
              <a:rPr lang="en-US" sz="156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Unit: ampere-turns per weber (A/Wb)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6492240" y="1554480"/>
            <a:ext cx="3474720" cy="475488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4553712"/>
            <a:ext cx="3474720" cy="475488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2029968"/>
            <a:ext cx="475488" cy="2523744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91472" y="2029968"/>
            <a:ext cx="475488" cy="2523744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5394960"/>
            <a:ext cx="3474720" cy="0"/>
          </a:xfrm>
          <a:prstGeom prst="line">
            <a:avLst/>
          </a:prstGeom>
          <a:noFill/>
          <a:ln w="21590">
            <a:solidFill>
              <a:srgbClr val="FFB703"/>
            </a:solidFill>
            <a:prstDash val="solid"/>
            <a:headEnd type="triangl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7498080" y="5614416"/>
            <a:ext cx="146304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70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length 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332720" y="2103120"/>
            <a:ext cx="347472" cy="1417320"/>
          </a:xfrm>
          <a:prstGeom prst="rect">
            <a:avLst/>
          </a:prstGeom>
          <a:solidFill>
            <a:srgbClr val="7DD3FC">
              <a:alpha val="80000"/>
            </a:srgbClr>
          </a:solidFill>
          <a:ln w="1524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44200" y="2651760"/>
            <a:ext cx="8686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area A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Reluctance and the air gap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Air has low permeability, so a small air gap can dominate total reluctance.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26480" y="1325880"/>
            <a:ext cx="3886200" cy="475488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4599432"/>
            <a:ext cx="3886200" cy="475488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1801368"/>
            <a:ext cx="475488" cy="2798064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37192" y="1801368"/>
            <a:ext cx="475488" cy="1097280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37192" y="3502152"/>
            <a:ext cx="475488" cy="1097280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92056" y="3200400"/>
            <a:ext cx="347472" cy="0"/>
          </a:xfrm>
          <a:prstGeom prst="line">
            <a:avLst/>
          </a:prstGeom>
          <a:noFill/>
          <a:ln w="22860">
            <a:solidFill>
              <a:srgbClr val="FFB703"/>
            </a:solidFill>
            <a:prstDash val="solid"/>
            <a:headEnd type="triangl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0149840" y="3072384"/>
            <a:ext cx="1005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FFB70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air gap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9320" y="2240280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89320" y="2478024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89320" y="2715768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9320" y="2953512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3191256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89320" y="3429000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1828800"/>
            <a:ext cx="2377440" cy="0"/>
          </a:xfrm>
          <a:prstGeom prst="line">
            <a:avLst/>
          </a:prstGeom>
          <a:noFill/>
          <a:ln w="2794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44000" y="1828800"/>
            <a:ext cx="0" cy="2377440"/>
          </a:xfrm>
          <a:prstGeom prst="line">
            <a:avLst/>
          </a:prstGeom>
          <a:noFill/>
          <a:ln w="2794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44000" y="4206240"/>
            <a:ext cx="-2377440" cy="0"/>
          </a:xfrm>
          <a:prstGeom prst="line">
            <a:avLst/>
          </a:prstGeom>
          <a:noFill/>
          <a:ln w="2794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66560" y="4206240"/>
            <a:ext cx="0" cy="-2377440"/>
          </a:xfrm>
          <a:prstGeom prst="line">
            <a:avLst/>
          </a:prstGeom>
          <a:noFill/>
          <a:ln w="2794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77240" y="1371600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" y="1481328"/>
            <a:ext cx="3758184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Rtotal = Rcore + Rgap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22960" y="2441448"/>
            <a:ext cx="4251960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Core: high μᵣ → low reluctance</a:t>
            </a:r>
            <a:endParaRPr lang="en-US" sz="1560" dirty="0"/>
          </a:p>
          <a:p>
            <a:pPr indent="0" marL="0">
              <a:buNone/>
            </a:pPr>
            <a:r>
              <a:rPr lang="en-US" sz="156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Air gap: μᵣ ≈ 1 → high reluctance</a:t>
            </a:r>
            <a:endParaRPr lang="en-US" sz="1560" dirty="0"/>
          </a:p>
          <a:p>
            <a:pPr indent="0" marL="0">
              <a:buNone/>
            </a:pPr>
            <a:r>
              <a:rPr lang="en-US" sz="156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Increasing the gap reduces flux for the same coil current</a:t>
            </a:r>
            <a:endParaRPr lang="en-US" sz="1560" dirty="0"/>
          </a:p>
          <a:p>
            <a:pPr indent="0" marL="0">
              <a:buNone/>
            </a:pPr>
            <a:r>
              <a:rPr lang="en-US" sz="156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Gaps are important in motors, solenoids and transformers</a:t>
            </a:r>
            <a:endParaRPr lang="en-US" sz="15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Magnetic circuit – magnetising force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Magnetising force H is the MMF per unit magnetic path length.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3200400" cy="731520"/>
          </a:xfrm>
          <a:prstGeom prst="roundRect">
            <a:avLst>
              <a:gd name="adj" fmla="val 10000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481328"/>
            <a:ext cx="2980944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 = N I / l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02336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 = number of turns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 = coil current (A)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 = magnetic path length (m)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 is measured in A/m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turns or current gives a stronger magnetising field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0" y="1508760"/>
            <a:ext cx="3566160" cy="475488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4416552"/>
            <a:ext cx="3566160" cy="475488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984248"/>
            <a:ext cx="475488" cy="2432304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91472" y="1984248"/>
            <a:ext cx="475488" cy="2432304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91072" y="2148840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91072" y="2386584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91072" y="2624328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91072" y="2862072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91072" y="3099816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1072" y="3337560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91072" y="3575304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32120" y="2514600"/>
            <a:ext cx="822960" cy="0"/>
          </a:xfrm>
          <a:prstGeom prst="line">
            <a:avLst/>
          </a:prstGeom>
          <a:noFill/>
          <a:ln w="26670">
            <a:solidFill>
              <a:srgbClr val="FB8500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355080" y="3840480"/>
            <a:ext cx="-822960" cy="0"/>
          </a:xfrm>
          <a:prstGeom prst="line">
            <a:avLst/>
          </a:prstGeom>
          <a:noFill/>
          <a:ln w="26670">
            <a:solidFill>
              <a:srgbClr val="FB8500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144768" y="5074920"/>
            <a:ext cx="1005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turns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74920" y="2176272"/>
            <a:ext cx="1005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5285232"/>
            <a:ext cx="3566160" cy="0"/>
          </a:xfrm>
          <a:prstGeom prst="line">
            <a:avLst/>
          </a:prstGeom>
          <a:noFill/>
          <a:ln w="21590">
            <a:solidFill>
              <a:srgbClr val="FFB703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543800" y="5504688"/>
            <a:ext cx="13716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FB70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length l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magnetising force to flux density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Permeability links H to B, but real iron saturates at high flux density.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5800" y="1261872"/>
            <a:ext cx="3931920" cy="713232"/>
          </a:xfrm>
          <a:prstGeom prst="roundRect">
            <a:avLst>
              <a:gd name="adj" fmla="val 10256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71600"/>
            <a:ext cx="371246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 = μ₀ × μᵣ × 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425196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Permeability tells us how easily a material supports flux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Higher μᵣ gives more B for the same H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 saturation, extra current gives little extra flux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 avoids excessive current and overheating</a:t>
            </a:r>
            <a:endParaRPr lang="en-US" sz="1540" dirty="0"/>
          </a:p>
        </p:txBody>
      </p:sp>
      <p:sp>
        <p:nvSpPr>
          <p:cNvPr id="11" name="Shape 9"/>
          <p:cNvSpPr/>
          <p:nvPr/>
        </p:nvSpPr>
        <p:spPr>
          <a:xfrm>
            <a:off x="6400800" y="3451860"/>
            <a:ext cx="4114800" cy="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0" y="5074920"/>
            <a:ext cx="0" cy="-324612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0" y="5257800"/>
            <a:ext cx="83976" cy="-205093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84776" y="5052707"/>
            <a:ext cx="83976" cy="-203462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68751" y="4849244"/>
            <a:ext cx="83976" cy="-200252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52727" y="4648992"/>
            <a:ext cx="83976" cy="-195562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36702" y="4453431"/>
            <a:ext cx="83976" cy="-189533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20678" y="4263898"/>
            <a:ext cx="83976" cy="-182339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4653" y="4081559"/>
            <a:ext cx="83976" cy="-174177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88629" y="3907382"/>
            <a:ext cx="83976" cy="-165255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72604" y="3742127"/>
            <a:ext cx="83976" cy="-155785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56580" y="3586342"/>
            <a:ext cx="83976" cy="-145968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40555" y="3440374"/>
            <a:ext cx="83976" cy="-135994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24531" y="3304380"/>
            <a:ext cx="83976" cy="-126031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8506" y="3178349"/>
            <a:ext cx="83976" cy="-11622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2482" y="3062122"/>
            <a:ext cx="83976" cy="-10670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76457" y="2955423"/>
            <a:ext cx="83976" cy="-97547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60433" y="2857876"/>
            <a:ext cx="83976" cy="-8884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44408" y="2769036"/>
            <a:ext cx="83976" cy="-80631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28384" y="2688405"/>
            <a:ext cx="83976" cy="-72951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12359" y="2615454"/>
            <a:ext cx="83976" cy="-65814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96335" y="2549640"/>
            <a:ext cx="83976" cy="-59223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80310" y="2490417"/>
            <a:ext cx="83976" cy="-53169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64286" y="2437247"/>
            <a:ext cx="83976" cy="-47635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48261" y="2389612"/>
            <a:ext cx="83976" cy="-42598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2237" y="2347014"/>
            <a:ext cx="83976" cy="-3803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16212" y="2308983"/>
            <a:ext cx="83976" cy="-33902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00188" y="2275082"/>
            <a:ext cx="83976" cy="-30181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84163" y="2244900"/>
            <a:ext cx="83976" cy="-26838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668139" y="2218062"/>
            <a:ext cx="83976" cy="-23839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52114" y="2194223"/>
            <a:ext cx="83976" cy="-2115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836090" y="2173067"/>
            <a:ext cx="83976" cy="-18760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20065" y="2154307"/>
            <a:ext cx="83976" cy="-16623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004041" y="2137684"/>
            <a:ext cx="83976" cy="-14719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088016" y="2122965"/>
            <a:ext cx="83976" cy="-1302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71992" y="2109939"/>
            <a:ext cx="83976" cy="-11522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255967" y="2098416"/>
            <a:ext cx="83976" cy="-10187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339943" y="2088229"/>
            <a:ext cx="83976" cy="-9003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423918" y="2079226"/>
            <a:ext cx="83976" cy="-7954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07894" y="2071271"/>
            <a:ext cx="83976" cy="-7025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591869" y="2064246"/>
            <a:ext cx="83976" cy="-6203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675845" y="2058043"/>
            <a:ext cx="83976" cy="-547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759820" y="2052567"/>
            <a:ext cx="83976" cy="-4833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843796" y="2047735"/>
            <a:ext cx="83976" cy="-4264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27771" y="2043471"/>
            <a:ext cx="83976" cy="-3762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011747" y="2039708"/>
            <a:ext cx="83976" cy="-3319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095722" y="2036390"/>
            <a:ext cx="83976" cy="-2927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179698" y="2033463"/>
            <a:ext cx="83976" cy="-2581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263673" y="2030882"/>
            <a:ext cx="83976" cy="-2276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347649" y="2028605"/>
            <a:ext cx="83976" cy="-2007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431624" y="2026598"/>
            <a:ext cx="83976" cy="-1769"/>
          </a:xfrm>
          <a:prstGeom prst="line">
            <a:avLst/>
          </a:prstGeom>
          <a:noFill/>
          <a:ln w="30480">
            <a:solidFill>
              <a:srgbClr val="2EC4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80760" y="1700784"/>
            <a:ext cx="274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469880" y="5330952"/>
            <a:ext cx="274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9372600" y="1828800"/>
            <a:ext cx="1097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70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saturation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778240" y="2148840"/>
            <a:ext cx="731520" cy="137160"/>
          </a:xfrm>
          <a:prstGeom prst="line">
            <a:avLst/>
          </a:prstGeom>
          <a:noFill/>
          <a:ln w="19050">
            <a:solidFill>
              <a:srgbClr val="FFB703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Induced voltage: Faraday’s law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voltage is induced when flux linkage changes. The minus sign indicates Lenz’s law.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98448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408176"/>
            <a:ext cx="3712464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 = −N × dΦ/dt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2487168"/>
            <a:ext cx="4160520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 = number of turns linked by the flux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Φ = magnetic flux in webers (Wb)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dΦ/dt = rate of change of flux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Lenz’s law: induced current opposes the change causing 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0" y="2834640"/>
            <a:ext cx="1097280" cy="0"/>
          </a:xfrm>
          <a:prstGeom prst="line">
            <a:avLst/>
          </a:prstGeom>
          <a:noFill/>
          <a:ln w="3048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32120" y="2176272"/>
            <a:ext cx="530352" cy="1298448"/>
          </a:xfrm>
          <a:prstGeom prst="rect">
            <a:avLst/>
          </a:prstGeom>
          <a:solidFill>
            <a:srgbClr val="DCEB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59552" y="2633472"/>
            <a:ext cx="47548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62472" y="2176272"/>
            <a:ext cx="530352" cy="1298448"/>
          </a:xfrm>
          <a:prstGeom prst="rect">
            <a:avLst/>
          </a:prstGeom>
          <a:solidFill>
            <a:srgbClr val="FFE5E5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9904" y="2633472"/>
            <a:ext cx="47548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18120" y="2121408"/>
            <a:ext cx="310896" cy="1408176"/>
          </a:xfrm>
          <a:prstGeom prst="arc">
            <a:avLst/>
          </a:prstGeom>
          <a:noFill/>
          <a:ln w="30480">
            <a:solidFill>
              <a:srgbClr val="F9731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2121408"/>
            <a:ext cx="310896" cy="1408176"/>
          </a:xfrm>
          <a:prstGeom prst="arc">
            <a:avLst/>
          </a:prstGeom>
          <a:noFill/>
          <a:ln w="30480">
            <a:solidFill>
              <a:srgbClr val="F973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95944" y="2121408"/>
            <a:ext cx="310896" cy="1408176"/>
          </a:xfrm>
          <a:prstGeom prst="arc">
            <a:avLst/>
          </a:prstGeom>
          <a:noFill/>
          <a:ln w="30480">
            <a:solidFill>
              <a:srgbClr val="F973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4856" y="2121408"/>
            <a:ext cx="310896" cy="1408176"/>
          </a:xfrm>
          <a:prstGeom prst="arc">
            <a:avLst/>
          </a:prstGeom>
          <a:noFill/>
          <a:ln w="3048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73768" y="2121408"/>
            <a:ext cx="310896" cy="1408176"/>
          </a:xfrm>
          <a:prstGeom prst="arc">
            <a:avLst/>
          </a:prstGeom>
          <a:noFill/>
          <a:ln w="30480">
            <a:solidFill>
              <a:srgbClr val="F973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12680" y="2121408"/>
            <a:ext cx="310896" cy="1408176"/>
          </a:xfrm>
          <a:prstGeom prst="arc">
            <a:avLst/>
          </a:prstGeom>
          <a:noFill/>
          <a:ln w="30480">
            <a:solidFill>
              <a:srgbClr val="F973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4754880"/>
            <a:ext cx="49349" cy="-3823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64549" y="4716641"/>
            <a:ext cx="49349" cy="-3785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13897" y="4678782"/>
            <a:ext cx="49349" cy="-371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63246" y="4641680"/>
            <a:ext cx="49349" cy="-3597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12594" y="4605702"/>
            <a:ext cx="49349" cy="-3449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61943" y="4571208"/>
            <a:ext cx="49349" cy="-3266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11291" y="4538538"/>
            <a:ext cx="49349" cy="-3051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60640" y="4508019"/>
            <a:ext cx="49349" cy="-2806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09989" y="4479953"/>
            <a:ext cx="49349" cy="-2533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59337" y="4454619"/>
            <a:ext cx="49349" cy="-2234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08686" y="4432270"/>
            <a:ext cx="49349" cy="-1914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58034" y="4413127"/>
            <a:ext cx="49349" cy="-1574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07383" y="4397380"/>
            <a:ext cx="49349" cy="-1219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56731" y="4385186"/>
            <a:ext cx="49349" cy="-852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6080" y="4376667"/>
            <a:ext cx="49349" cy="-476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55429" y="4371906"/>
            <a:ext cx="49349" cy="-95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04777" y="4370951"/>
            <a:ext cx="49349" cy="286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54126" y="4373813"/>
            <a:ext cx="49349" cy="664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03474" y="4380461"/>
            <a:ext cx="49349" cy="1037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52823" y="4390830"/>
            <a:ext cx="49349" cy="1398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02171" y="4404818"/>
            <a:ext cx="49349" cy="1746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51520" y="4422285"/>
            <a:ext cx="49349" cy="2077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00869" y="4443057"/>
            <a:ext cx="49349" cy="2387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50217" y="4466928"/>
            <a:ext cx="49349" cy="2673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99566" y="4493661"/>
            <a:ext cx="49349" cy="2932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548914" y="4522990"/>
            <a:ext cx="49349" cy="3163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98263" y="4554624"/>
            <a:ext cx="49349" cy="3362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647611" y="4588248"/>
            <a:ext cx="49349" cy="3528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696960" y="4623528"/>
            <a:ext cx="49349" cy="3658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746309" y="4660113"/>
            <a:ext cx="49349" cy="3752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795657" y="4697641"/>
            <a:ext cx="49349" cy="3809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45006" y="4735737"/>
            <a:ext cx="49349" cy="3828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94354" y="4774023"/>
            <a:ext cx="49349" cy="3809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943703" y="4812119"/>
            <a:ext cx="49349" cy="3752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993051" y="4849647"/>
            <a:ext cx="49349" cy="3658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42400" y="4886232"/>
            <a:ext cx="49349" cy="3528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091749" y="4921512"/>
            <a:ext cx="49349" cy="3362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41097" y="4955136"/>
            <a:ext cx="49349" cy="3163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190446" y="4986770"/>
            <a:ext cx="49349" cy="2932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239794" y="5016099"/>
            <a:ext cx="49349" cy="2673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89143" y="5042832"/>
            <a:ext cx="49349" cy="2387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338491" y="5066703"/>
            <a:ext cx="49349" cy="2077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387840" y="5087475"/>
            <a:ext cx="49349" cy="1746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437189" y="5104942"/>
            <a:ext cx="49349" cy="1398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486537" y="5118930"/>
            <a:ext cx="49349" cy="1037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535886" y="5129299"/>
            <a:ext cx="49349" cy="664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585234" y="5135947"/>
            <a:ext cx="49349" cy="286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634583" y="5138809"/>
            <a:ext cx="49349" cy="-95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83931" y="5137854"/>
            <a:ext cx="49349" cy="-476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733280" y="5133093"/>
            <a:ext cx="49349" cy="-852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782629" y="5124574"/>
            <a:ext cx="49349" cy="-1219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31977" y="5112380"/>
            <a:ext cx="49349" cy="-1574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81326" y="5096633"/>
            <a:ext cx="49349" cy="-1914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930674" y="5077490"/>
            <a:ext cx="49349" cy="-2234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980023" y="5055141"/>
            <a:ext cx="49349" cy="-2533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029371" y="5029807"/>
            <a:ext cx="49349" cy="-2806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078720" y="5001741"/>
            <a:ext cx="49349" cy="-3051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28069" y="4971222"/>
            <a:ext cx="49349" cy="-3266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77417" y="4938552"/>
            <a:ext cx="49349" cy="-3449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26766" y="4904058"/>
            <a:ext cx="49349" cy="-3597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276114" y="4868080"/>
            <a:ext cx="49349" cy="-371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325463" y="4830978"/>
            <a:ext cx="49349" cy="-3785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374811" y="4793119"/>
            <a:ext cx="49349" cy="-3823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178040" y="4754880"/>
            <a:ext cx="3337560" cy="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7178040" y="5257800"/>
            <a:ext cx="0" cy="-100584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87" name="Text 85"/>
          <p:cNvSpPr/>
          <p:nvPr/>
        </p:nvSpPr>
        <p:spPr>
          <a:xfrm>
            <a:off x="7315200" y="1847088"/>
            <a:ext cx="22860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changing Φ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8065008" y="5340096"/>
            <a:ext cx="1188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induced 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Generator EMF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rotating coil changes its flux linkage, producing an alternating voltage.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7240" y="1426464"/>
            <a:ext cx="4343400" cy="2487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Coil rotates in a magnetic field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Flux linkage varies sinusoidally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EMF is greatest when the coil sides cut the field fastest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Output frequency depends on rotational speed and pole count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68680" y="4773168"/>
            <a:ext cx="3657600" cy="603504"/>
          </a:xfrm>
          <a:prstGeom prst="roundRect">
            <a:avLst>
              <a:gd name="adj" fmla="val 12121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4882896"/>
            <a:ext cx="3438144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e(t) is sinusoidal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400800" y="1417320"/>
            <a:ext cx="713232" cy="2606040"/>
          </a:xfrm>
          <a:prstGeom prst="rect">
            <a:avLst/>
          </a:prstGeom>
          <a:solidFill>
            <a:srgbClr val="DCEB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555748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268712" y="1417320"/>
            <a:ext cx="713232" cy="2606040"/>
          </a:xfrm>
          <a:prstGeom prst="rect">
            <a:avLst/>
          </a:prstGeom>
          <a:solidFill>
            <a:srgbClr val="FFE5E5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68712" y="2555748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269480" y="1783080"/>
            <a:ext cx="219456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2112264"/>
            <a:ext cx="219456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69480" y="2441448"/>
            <a:ext cx="219456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69480" y="2770632"/>
            <a:ext cx="219456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269480" y="3099816"/>
            <a:ext cx="219456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69480" y="3429000"/>
            <a:ext cx="219456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863840" y="3154680"/>
            <a:ext cx="1051560" cy="-1051560"/>
          </a:xfrm>
          <a:prstGeom prst="line">
            <a:avLst/>
          </a:prstGeom>
          <a:noFill/>
          <a:ln w="50800">
            <a:solidFill>
              <a:srgbClr val="FB85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83880" y="3474720"/>
            <a:ext cx="1051560" cy="-1051560"/>
          </a:xfrm>
          <a:prstGeom prst="line">
            <a:avLst/>
          </a:prstGeom>
          <a:noFill/>
          <a:ln w="50800">
            <a:solidFill>
              <a:srgbClr val="FB85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3154680"/>
            <a:ext cx="320040" cy="320040"/>
          </a:xfrm>
          <a:prstGeom prst="line">
            <a:avLst/>
          </a:prstGeom>
          <a:noFill/>
          <a:ln w="50800">
            <a:solidFill>
              <a:srgbClr val="FB85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15400" y="2103120"/>
            <a:ext cx="320040" cy="320040"/>
          </a:xfrm>
          <a:prstGeom prst="line">
            <a:avLst/>
          </a:prstGeom>
          <a:noFill/>
          <a:ln w="50800">
            <a:solidFill>
              <a:srgbClr val="FB85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15400" y="1938528"/>
            <a:ext cx="-502920" cy="-365760"/>
          </a:xfrm>
          <a:prstGeom prst="line">
            <a:avLst/>
          </a:prstGeom>
          <a:noFill/>
          <a:ln w="25400">
            <a:solidFill>
              <a:srgbClr val="FFB70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720840" y="5006340"/>
            <a:ext cx="3383280" cy="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720840" y="5577840"/>
            <a:ext cx="0" cy="-1143000"/>
          </a:xfrm>
          <a:prstGeom prst="line">
            <a:avLst/>
          </a:prstGeom>
          <a:noFill/>
          <a:ln w="15240">
            <a:solidFill>
              <a:srgbClr val="A9B8C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58000" y="4983480"/>
            <a:ext cx="48623" cy="-4206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06623" y="4941417"/>
            <a:ext cx="48623" cy="-4164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55246" y="4899773"/>
            <a:ext cx="48623" cy="-408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03869" y="4858960"/>
            <a:ext cx="48623" cy="-3957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2491" y="4819385"/>
            <a:ext cx="48623" cy="-3794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01114" y="4781440"/>
            <a:ext cx="48623" cy="-3593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49737" y="4745504"/>
            <a:ext cx="48623" cy="-3357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98360" y="4711933"/>
            <a:ext cx="48623" cy="-3087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6983" y="4681060"/>
            <a:ext cx="48623" cy="-2786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95606" y="4653193"/>
            <a:ext cx="48623" cy="-2458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44229" y="4628609"/>
            <a:ext cx="48623" cy="-2105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92851" y="4607551"/>
            <a:ext cx="48623" cy="-1732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41474" y="4590230"/>
            <a:ext cx="48623" cy="-134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90097" y="4576817"/>
            <a:ext cx="48623" cy="-937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38720" y="4567445"/>
            <a:ext cx="48623" cy="-523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87343" y="4562208"/>
            <a:ext cx="48623" cy="-105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966" y="4561159"/>
            <a:ext cx="48623" cy="314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84589" y="4564306"/>
            <a:ext cx="48623" cy="73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33211" y="4571619"/>
            <a:ext cx="48623" cy="1140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81834" y="4583025"/>
            <a:ext cx="48623" cy="1538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830457" y="4598412"/>
            <a:ext cx="48623" cy="192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79080" y="4617625"/>
            <a:ext cx="48623" cy="2284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27703" y="4640475"/>
            <a:ext cx="48623" cy="2625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76326" y="4666733"/>
            <a:ext cx="48623" cy="2940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024949" y="4696139"/>
            <a:ext cx="48623" cy="3226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073571" y="4728401"/>
            <a:ext cx="48623" cy="3479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122194" y="4763198"/>
            <a:ext cx="48623" cy="3698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70817" y="4800185"/>
            <a:ext cx="48623" cy="3880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19440" y="4838993"/>
            <a:ext cx="48623" cy="4024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68063" y="4879237"/>
            <a:ext cx="48623" cy="4128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316686" y="4920517"/>
            <a:ext cx="48623" cy="4190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65309" y="4962422"/>
            <a:ext cx="48623" cy="4211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3931" y="5004538"/>
            <a:ext cx="48623" cy="4190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62554" y="5046443"/>
            <a:ext cx="48623" cy="4128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11177" y="5087723"/>
            <a:ext cx="48623" cy="4024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559800" y="5127967"/>
            <a:ext cx="48623" cy="3880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608423" y="5166775"/>
            <a:ext cx="48623" cy="3698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57046" y="5203762"/>
            <a:ext cx="48623" cy="3479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05669" y="5238559"/>
            <a:ext cx="48623" cy="3226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754291" y="5270821"/>
            <a:ext cx="48623" cy="2940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02914" y="5300227"/>
            <a:ext cx="48623" cy="2625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851537" y="5326485"/>
            <a:ext cx="48623" cy="2284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00160" y="5349335"/>
            <a:ext cx="48623" cy="192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948783" y="5368548"/>
            <a:ext cx="48623" cy="1538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97406" y="5383935"/>
            <a:ext cx="48623" cy="1140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046029" y="5395341"/>
            <a:ext cx="48623" cy="73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94651" y="5402654"/>
            <a:ext cx="48623" cy="314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143274" y="5405801"/>
            <a:ext cx="48623" cy="-105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191897" y="5404752"/>
            <a:ext cx="48623" cy="-523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40520" y="5399515"/>
            <a:ext cx="48623" cy="-937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89143" y="5390143"/>
            <a:ext cx="48623" cy="-134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337766" y="5376730"/>
            <a:ext cx="48623" cy="-1732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386389" y="5359409"/>
            <a:ext cx="48623" cy="-2105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435011" y="5338351"/>
            <a:ext cx="48623" cy="-2458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483634" y="5313767"/>
            <a:ext cx="48623" cy="-2786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532257" y="5285900"/>
            <a:ext cx="48623" cy="-3087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580880" y="5255027"/>
            <a:ext cx="48623" cy="-3357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29503" y="5221456"/>
            <a:ext cx="48623" cy="-3593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678126" y="5185520"/>
            <a:ext cx="48623" cy="-3794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726749" y="5147575"/>
            <a:ext cx="48623" cy="-3957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775371" y="5108000"/>
            <a:ext cx="48623" cy="-4081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823994" y="5067187"/>
            <a:ext cx="48623" cy="-4164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872617" y="5025543"/>
            <a:ext cx="48623" cy="-4206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863840" y="5687568"/>
            <a:ext cx="12801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output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Generator EMF from straight-line motion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conductor moving through a magnetic field cuts flux and generates a motional EMF.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5800" y="1298448"/>
            <a:ext cx="3474720" cy="777240"/>
          </a:xfrm>
          <a:prstGeom prst="roundRect">
            <a:avLst>
              <a:gd name="adj" fmla="val 9412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408176"/>
            <a:ext cx="3255264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 = B × l × v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77240" y="2487168"/>
            <a:ext cx="4480560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 = flux density (T)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 = active conductor length (m)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 = velocity at right angles to the field (m/s)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Maximum when conductor, motion and field are mutually perpendicular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0" y="1463040"/>
            <a:ext cx="777240" cy="3246120"/>
          </a:xfrm>
          <a:prstGeom prst="rect">
            <a:avLst/>
          </a:prstGeom>
          <a:solidFill>
            <a:srgbClr val="DCEB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92150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241280" y="1463040"/>
            <a:ext cx="777240" cy="3246120"/>
          </a:xfrm>
          <a:prstGeom prst="rect">
            <a:avLst/>
          </a:prstGeom>
          <a:solidFill>
            <a:srgbClr val="FFE5E5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0" y="292150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315200" y="1828800"/>
            <a:ext cx="21488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15200" y="2185416"/>
            <a:ext cx="21488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0" y="2542032"/>
            <a:ext cx="21488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315200" y="2898648"/>
            <a:ext cx="21488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315200" y="3255264"/>
            <a:ext cx="21488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15200" y="3611880"/>
            <a:ext cx="21488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15200" y="3968496"/>
            <a:ext cx="2148840" cy="0"/>
          </a:xfrm>
          <a:prstGeom prst="line">
            <a:avLst/>
          </a:prstGeom>
          <a:noFill/>
          <a:ln w="2286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148840"/>
            <a:ext cx="274320" cy="1508760"/>
          </a:xfrm>
          <a:prstGeom prst="roundRect">
            <a:avLst>
              <a:gd name="adj" fmla="val 10000"/>
            </a:avLst>
          </a:prstGeom>
          <a:solidFill>
            <a:srgbClr val="FB850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1938528"/>
            <a:ext cx="0" cy="-731520"/>
          </a:xfrm>
          <a:prstGeom prst="line">
            <a:avLst/>
          </a:prstGeom>
          <a:noFill/>
          <a:ln w="3302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8394192" y="1645920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09560" y="2148840"/>
            <a:ext cx="0" cy="1508760"/>
          </a:xfrm>
          <a:prstGeom prst="line">
            <a:avLst/>
          </a:prstGeom>
          <a:noFill/>
          <a:ln w="19050">
            <a:solidFill>
              <a:srgbClr val="FFB703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7635240" y="2724912"/>
            <a:ext cx="2286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B70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72200" y="5166360"/>
            <a:ext cx="4480560" cy="566928"/>
          </a:xfrm>
          <a:prstGeom prst="roundRect">
            <a:avLst>
              <a:gd name="adj" fmla="val 12903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81928" y="5276088"/>
            <a:ext cx="4261104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Example: 0.6 × 0.15 × 8 = 0.72 V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 induced voltage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sinusoidal core flux induces voltage in each winding.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94360" y="123444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101B2F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344168"/>
            <a:ext cx="448970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Emax = N × A × B × ω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94360" y="2176272"/>
            <a:ext cx="4709160" cy="603504"/>
          </a:xfrm>
          <a:prstGeom prst="roundRect">
            <a:avLst>
              <a:gd name="adj" fmla="val 12121"/>
            </a:avLst>
          </a:prstGeom>
          <a:solidFill>
            <a:srgbClr val="111827"/>
          </a:solidFill>
          <a:ln w="15240">
            <a:solidFill>
              <a:srgbClr val="2EC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286000"/>
            <a:ext cx="4489704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ω = (2 × π × n) / 60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85800" y="3063240"/>
            <a:ext cx="452628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47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 = turns on the winding</a:t>
            </a:r>
            <a:endParaRPr lang="en-US" sz="1470" dirty="0"/>
          </a:p>
          <a:p>
            <a:pPr indent="0" marL="0">
              <a:buNone/>
            </a:pPr>
            <a:r>
              <a:rPr lang="en-US" sz="147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= core cross-sectional area (m²)</a:t>
            </a:r>
            <a:endParaRPr lang="en-US" sz="1470" dirty="0"/>
          </a:p>
          <a:p>
            <a:pPr indent="0" marL="0">
              <a:buNone/>
            </a:pPr>
            <a:r>
              <a:rPr lang="en-US" sz="147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 = peak flux density (T)</a:t>
            </a:r>
            <a:endParaRPr lang="en-US" sz="1470" dirty="0"/>
          </a:p>
          <a:p>
            <a:pPr indent="0" marL="0">
              <a:buNone/>
            </a:pPr>
            <a:r>
              <a:rPr lang="en-US" sz="147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ω = angular speed in rad/s</a:t>
            </a:r>
            <a:endParaRPr lang="en-US" sz="1470" dirty="0"/>
          </a:p>
          <a:p>
            <a:pPr indent="0" marL="0">
              <a:buNone/>
            </a:pPr>
            <a:r>
              <a:rPr lang="en-US" sz="147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 = rotational speed in rpm for the equivalent rotating field</a:t>
            </a:r>
            <a:endParaRPr lang="en-US" sz="1470" dirty="0"/>
          </a:p>
        </p:txBody>
      </p:sp>
      <p:sp>
        <p:nvSpPr>
          <p:cNvPr id="13" name="Shape 11"/>
          <p:cNvSpPr/>
          <p:nvPr/>
        </p:nvSpPr>
        <p:spPr>
          <a:xfrm>
            <a:off x="6629400" y="1417320"/>
            <a:ext cx="3246120" cy="475488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9400" y="4553712"/>
            <a:ext cx="3246120" cy="475488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1892808"/>
            <a:ext cx="475488" cy="2660904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00032" y="1892808"/>
            <a:ext cx="475488" cy="2660904"/>
          </a:xfrm>
          <a:prstGeom prst="rect">
            <a:avLst/>
          </a:prstGeom>
          <a:solidFill>
            <a:srgbClr val="64748B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2139696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82512" y="2377440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82512" y="2615184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82512" y="2852928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090672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3328416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00032" y="2139696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00032" y="2377440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00032" y="2615184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00032" y="2852928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00032" y="3090672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00032" y="3328416"/>
            <a:ext cx="749808" cy="0"/>
          </a:xfrm>
          <a:prstGeom prst="line">
            <a:avLst/>
          </a:prstGeom>
          <a:noFill/>
          <a:ln w="50800">
            <a:solidFill>
              <a:srgbClr val="F973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89320" y="5756148"/>
            <a:ext cx="22497" cy="-21031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11817" y="5735117"/>
            <a:ext cx="22497" cy="-20822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4314" y="5714294"/>
            <a:ext cx="22497" cy="-20406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56811" y="5693888"/>
            <a:ext cx="22497" cy="-19788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79309" y="5674100"/>
            <a:ext cx="22497" cy="-18972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01806" y="5655128"/>
            <a:ext cx="22497" cy="-17968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4303" y="5637160"/>
            <a:ext cx="22497" cy="-16786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46800" y="5620374"/>
            <a:ext cx="22497" cy="-15436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69297" y="5604938"/>
            <a:ext cx="22497" cy="-1393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91794" y="5591005"/>
            <a:ext cx="22497" cy="-12292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4291" y="5578712"/>
            <a:ext cx="22497" cy="-10529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36789" y="5568184"/>
            <a:ext cx="22497" cy="-8661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59286" y="5559523"/>
            <a:ext cx="22497" cy="-6707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81783" y="5552816"/>
            <a:ext cx="22497" cy="-4686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4280" y="5548131"/>
            <a:ext cx="22497" cy="-2618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26777" y="5545512"/>
            <a:ext cx="22497" cy="-525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49274" y="5544987"/>
            <a:ext cx="22497" cy="1574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71771" y="5546561"/>
            <a:ext cx="22497" cy="3657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94269" y="5550217"/>
            <a:ext cx="22497" cy="570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16766" y="5555921"/>
            <a:ext cx="22497" cy="769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39263" y="5563614"/>
            <a:ext cx="22497" cy="9607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61760" y="5573221"/>
            <a:ext cx="22497" cy="11425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84257" y="5584645"/>
            <a:ext cx="22497" cy="13129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506754" y="5597774"/>
            <a:ext cx="22497" cy="1470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529251" y="5612478"/>
            <a:ext cx="22497" cy="16131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51749" y="5628609"/>
            <a:ext cx="22497" cy="17399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74246" y="5646007"/>
            <a:ext cx="22497" cy="1849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596743" y="5664500"/>
            <a:ext cx="22497" cy="19404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619240" y="5683904"/>
            <a:ext cx="22497" cy="20122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641737" y="5704026"/>
            <a:ext cx="22497" cy="20640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664234" y="5724666"/>
            <a:ext cx="22497" cy="2095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686731" y="5745619"/>
            <a:ext cx="22497" cy="21058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09229" y="5766677"/>
            <a:ext cx="22497" cy="2095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731726" y="5787630"/>
            <a:ext cx="22497" cy="20640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54223" y="5808270"/>
            <a:ext cx="22497" cy="20122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776720" y="5828392"/>
            <a:ext cx="22497" cy="19404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799217" y="5847796"/>
            <a:ext cx="22497" cy="1849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821714" y="5866289"/>
            <a:ext cx="22497" cy="17399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844211" y="5883687"/>
            <a:ext cx="22497" cy="16131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866709" y="5899818"/>
            <a:ext cx="22497" cy="1470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889206" y="5914522"/>
            <a:ext cx="22497" cy="13129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911703" y="5927651"/>
            <a:ext cx="22497" cy="11425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934200" y="5939075"/>
            <a:ext cx="22497" cy="9607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956697" y="5948682"/>
            <a:ext cx="22497" cy="769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979194" y="5956375"/>
            <a:ext cx="22497" cy="570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001691" y="5962079"/>
            <a:ext cx="22497" cy="3657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024189" y="5965735"/>
            <a:ext cx="22497" cy="1574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046686" y="5967309"/>
            <a:ext cx="22497" cy="-525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069183" y="5966784"/>
            <a:ext cx="22497" cy="-2618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091680" y="5964165"/>
            <a:ext cx="22497" cy="-4686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114177" y="5959480"/>
            <a:ext cx="22497" cy="-6707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136674" y="5952773"/>
            <a:ext cx="22497" cy="-8661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159171" y="5944112"/>
            <a:ext cx="22497" cy="-10529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181669" y="5933584"/>
            <a:ext cx="22497" cy="-12292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204166" y="5921291"/>
            <a:ext cx="22497" cy="-13933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26663" y="5907358"/>
            <a:ext cx="22497" cy="-15436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249160" y="5891922"/>
            <a:ext cx="22497" cy="-16786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271657" y="5875136"/>
            <a:ext cx="22497" cy="-17968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294154" y="5857168"/>
            <a:ext cx="22497" cy="-18972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316651" y="5838196"/>
            <a:ext cx="22497" cy="-19788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339149" y="5818408"/>
            <a:ext cx="22497" cy="-20406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1646" y="5798002"/>
            <a:ext cx="22497" cy="-20822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84143" y="5777179"/>
            <a:ext cx="22497" cy="-21031"/>
          </a:xfrm>
          <a:prstGeom prst="line">
            <a:avLst/>
          </a:prstGeom>
          <a:noFill/>
          <a:ln w="27940">
            <a:solidFill>
              <a:srgbClr val="FB85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81160" y="5756148"/>
            <a:ext cx="22497" cy="-2103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303657" y="5735117"/>
            <a:ext cx="22497" cy="-2082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326154" y="5714294"/>
            <a:ext cx="22497" cy="-2040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348651" y="5693888"/>
            <a:ext cx="22497" cy="-1978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371149" y="5674100"/>
            <a:ext cx="22497" cy="-1897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93646" y="5655128"/>
            <a:ext cx="22497" cy="-1796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416143" y="5637160"/>
            <a:ext cx="22497" cy="-1678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438640" y="5620374"/>
            <a:ext cx="22497" cy="-1543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461137" y="5604938"/>
            <a:ext cx="22497" cy="-1393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483634" y="5591005"/>
            <a:ext cx="22497" cy="-1229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506131" y="5578712"/>
            <a:ext cx="22497" cy="-1052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28629" y="5568184"/>
            <a:ext cx="22497" cy="-866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551126" y="5559523"/>
            <a:ext cx="22497" cy="-670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573623" y="5552816"/>
            <a:ext cx="22497" cy="-468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596120" y="5548131"/>
            <a:ext cx="22497" cy="-261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618617" y="5545512"/>
            <a:ext cx="22497" cy="-52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641114" y="5544987"/>
            <a:ext cx="22497" cy="157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663611" y="5546561"/>
            <a:ext cx="22497" cy="365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686109" y="5550217"/>
            <a:ext cx="22497" cy="57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708606" y="5555921"/>
            <a:ext cx="22497" cy="769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731103" y="5563614"/>
            <a:ext cx="22497" cy="960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753600" y="5573221"/>
            <a:ext cx="22497" cy="1142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776097" y="5584645"/>
            <a:ext cx="22497" cy="1312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798594" y="5597774"/>
            <a:ext cx="22497" cy="147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821091" y="5612478"/>
            <a:ext cx="22497" cy="1613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843589" y="5628609"/>
            <a:ext cx="22497" cy="1739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866086" y="5646007"/>
            <a:ext cx="22497" cy="1849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888583" y="5664500"/>
            <a:ext cx="22497" cy="1940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911080" y="5683904"/>
            <a:ext cx="22497" cy="2012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933577" y="5704026"/>
            <a:ext cx="22497" cy="2064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956074" y="5724666"/>
            <a:ext cx="22497" cy="2095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978571" y="5745619"/>
            <a:ext cx="22497" cy="2105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001069" y="5766677"/>
            <a:ext cx="22497" cy="2095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023566" y="5787630"/>
            <a:ext cx="22497" cy="20640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046063" y="5808270"/>
            <a:ext cx="22497" cy="2012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068560" y="5828392"/>
            <a:ext cx="22497" cy="1940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091057" y="5847796"/>
            <a:ext cx="22497" cy="1849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113554" y="5866289"/>
            <a:ext cx="22497" cy="1739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0136051" y="5883687"/>
            <a:ext cx="22497" cy="1613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0158549" y="5899818"/>
            <a:ext cx="22497" cy="147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10181046" y="5914522"/>
            <a:ext cx="22497" cy="1312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0203543" y="5927651"/>
            <a:ext cx="22497" cy="1142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0226040" y="5939075"/>
            <a:ext cx="22497" cy="960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10248537" y="5948682"/>
            <a:ext cx="22497" cy="769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271034" y="5956375"/>
            <a:ext cx="22497" cy="570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0293531" y="5962079"/>
            <a:ext cx="22497" cy="365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0316029" y="5965735"/>
            <a:ext cx="22497" cy="1574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0338526" y="5967309"/>
            <a:ext cx="22497" cy="-525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0361023" y="5966784"/>
            <a:ext cx="22497" cy="-261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383520" y="5964165"/>
            <a:ext cx="22497" cy="-468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406017" y="5959480"/>
            <a:ext cx="22497" cy="-6707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0428514" y="5952773"/>
            <a:ext cx="22497" cy="-866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0451011" y="5944112"/>
            <a:ext cx="22497" cy="-10529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0473509" y="5933584"/>
            <a:ext cx="22497" cy="-1229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0496006" y="5921291"/>
            <a:ext cx="22497" cy="-13933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0518503" y="5907358"/>
            <a:ext cx="22497" cy="-1543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0541000" y="5891922"/>
            <a:ext cx="22497" cy="-1678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0563497" y="5875136"/>
            <a:ext cx="22497" cy="-1796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585994" y="5857168"/>
            <a:ext cx="22497" cy="-1897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608491" y="5838196"/>
            <a:ext cx="22497" cy="-19788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630989" y="5818408"/>
            <a:ext cx="22497" cy="-20406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10653486" y="5798002"/>
            <a:ext cx="22497" cy="-20822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675983" y="5777179"/>
            <a:ext cx="22497" cy="-21031"/>
          </a:xfrm>
          <a:prstGeom prst="line">
            <a:avLst/>
          </a:prstGeom>
          <a:noFill/>
          <a:ln w="27940">
            <a:solidFill>
              <a:srgbClr val="2EC4F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5989320" y="5074920"/>
            <a:ext cx="1097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</a:t>
            </a:r>
            <a:endParaRPr lang="en-US" sz="1100" dirty="0"/>
          </a:p>
        </p:txBody>
      </p:sp>
      <p:sp>
        <p:nvSpPr>
          <p:cNvPr id="156" name="Text 154"/>
          <p:cNvSpPr/>
          <p:nvPr/>
        </p:nvSpPr>
        <p:spPr>
          <a:xfrm>
            <a:off x="9235440" y="5074920"/>
            <a:ext cx="1143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7315200" y="1965960"/>
            <a:ext cx="1783080" cy="0"/>
          </a:xfrm>
          <a:prstGeom prst="line">
            <a:avLst/>
          </a:prstGeom>
          <a:noFill/>
          <a:ln w="2667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58" name="Shape 156"/>
          <p:cNvSpPr/>
          <p:nvPr/>
        </p:nvSpPr>
        <p:spPr>
          <a:xfrm>
            <a:off x="9098280" y="1965960"/>
            <a:ext cx="0" cy="2103120"/>
          </a:xfrm>
          <a:prstGeom prst="line">
            <a:avLst/>
          </a:prstGeom>
          <a:noFill/>
          <a:ln w="2667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59" name="Shape 157"/>
          <p:cNvSpPr/>
          <p:nvPr/>
        </p:nvSpPr>
        <p:spPr>
          <a:xfrm>
            <a:off x="9098280" y="4069080"/>
            <a:ext cx="-1783080" cy="0"/>
          </a:xfrm>
          <a:prstGeom prst="line">
            <a:avLst/>
          </a:prstGeom>
          <a:noFill/>
          <a:ln w="26670">
            <a:solidFill>
              <a:srgbClr val="38B000"/>
            </a:solidFill>
            <a:prstDash val="solid"/>
            <a:headEnd type="none"/>
            <a:tailEnd type="triangle"/>
          </a:ln>
        </p:spPr>
      </p:sp>
      <p:sp>
        <p:nvSpPr>
          <p:cNvPr id="160" name="Shape 158"/>
          <p:cNvSpPr/>
          <p:nvPr/>
        </p:nvSpPr>
        <p:spPr>
          <a:xfrm>
            <a:off x="7315200" y="4069080"/>
            <a:ext cx="0" cy="-2103120"/>
          </a:xfrm>
          <a:prstGeom prst="line">
            <a:avLst/>
          </a:prstGeom>
          <a:noFill/>
          <a:ln w="26670">
            <a:solidFill>
              <a:srgbClr val="38B000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Equation summary: choose the right model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physical situation, then select the matching equation.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1234440"/>
            <a:ext cx="10881360" cy="475488"/>
          </a:xfrm>
          <a:prstGeom prst="rect">
            <a:avLst/>
          </a:prstGeom>
          <a:solidFill>
            <a:srgbClr val="111827"/>
          </a:solidFill>
          <a:ln w="6350">
            <a:solidFill>
              <a:srgbClr val="2231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44168"/>
            <a:ext cx="2240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in B field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246120" y="1335024"/>
            <a:ext cx="25146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 = B I 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126480" y="1344168"/>
            <a:ext cx="51206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when conductor is at 90° to B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1764792"/>
            <a:ext cx="10881360" cy="475488"/>
          </a:xfrm>
          <a:prstGeom prst="rect">
            <a:avLst/>
          </a:prstGeom>
          <a:solidFill>
            <a:srgbClr val="0F172A"/>
          </a:solidFill>
          <a:ln w="6350">
            <a:solidFill>
              <a:srgbClr val="2231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874520"/>
            <a:ext cx="2240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Conductor at angle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46120" y="1865376"/>
            <a:ext cx="25146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 = B I l sinθ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126480" y="1874520"/>
            <a:ext cx="51206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θ between conductor and field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295144"/>
            <a:ext cx="10881360" cy="475488"/>
          </a:xfrm>
          <a:prstGeom prst="rect">
            <a:avLst/>
          </a:prstGeom>
          <a:solidFill>
            <a:srgbClr val="111827"/>
          </a:solidFill>
          <a:ln w="6350">
            <a:solidFill>
              <a:srgbClr val="2231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2404872"/>
            <a:ext cx="2240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 density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2395728"/>
            <a:ext cx="25146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Φ / 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26480" y="2404872"/>
            <a:ext cx="51206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 spread over area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2825496"/>
            <a:ext cx="10881360" cy="475488"/>
          </a:xfrm>
          <a:prstGeom prst="rect">
            <a:avLst/>
          </a:prstGeom>
          <a:solidFill>
            <a:srgbClr val="0F172A"/>
          </a:solidFill>
          <a:ln w="6350">
            <a:solidFill>
              <a:srgbClr val="2231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2935224"/>
            <a:ext cx="2240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Reluctance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246120" y="2926080"/>
            <a:ext cx="25146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 = l/(μ₀ μᵣ A)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126480" y="2935224"/>
            <a:ext cx="51206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magnetic path geometry + material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355848"/>
            <a:ext cx="10881360" cy="475488"/>
          </a:xfrm>
          <a:prstGeom prst="rect">
            <a:avLst/>
          </a:prstGeom>
          <a:solidFill>
            <a:srgbClr val="111827"/>
          </a:solidFill>
          <a:ln w="6350">
            <a:solidFill>
              <a:srgbClr val="2231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3465576"/>
            <a:ext cx="2240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Magnetising force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246120" y="3456432"/>
            <a:ext cx="25146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 = N I / l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126480" y="3465576"/>
            <a:ext cx="51206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coil MMF per metre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3886200"/>
            <a:ext cx="10881360" cy="475488"/>
          </a:xfrm>
          <a:prstGeom prst="rect">
            <a:avLst/>
          </a:prstGeom>
          <a:solidFill>
            <a:srgbClr val="0F172A"/>
          </a:solidFill>
          <a:ln w="6350">
            <a:solidFill>
              <a:srgbClr val="2231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3995928"/>
            <a:ext cx="2240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Faraday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246120" y="3986784"/>
            <a:ext cx="25146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= −N dΦ/dt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126480" y="3995928"/>
            <a:ext cx="51206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changing flux linkage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4416552"/>
            <a:ext cx="10881360" cy="475488"/>
          </a:xfrm>
          <a:prstGeom prst="rect">
            <a:avLst/>
          </a:prstGeom>
          <a:solidFill>
            <a:srgbClr val="111827"/>
          </a:solidFill>
          <a:ln w="6350">
            <a:solidFill>
              <a:srgbClr val="22314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526280"/>
            <a:ext cx="2240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Motion EMF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246120" y="4517136"/>
            <a:ext cx="25146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= B l v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126480" y="4526280"/>
            <a:ext cx="51206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conductor cuts flux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946904"/>
            <a:ext cx="10881360" cy="475488"/>
          </a:xfrm>
          <a:prstGeom prst="rect">
            <a:avLst/>
          </a:prstGeom>
          <a:solidFill>
            <a:srgbClr val="0F172A"/>
          </a:solidFill>
          <a:ln w="6350">
            <a:solidFill>
              <a:srgbClr val="22314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5056632"/>
            <a:ext cx="2240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Transformer peak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5047488"/>
            <a:ext cx="25146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Emax = N A B ω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126480" y="5056632"/>
            <a:ext cx="51206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sinusoidal core flux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EC4FF"/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C4FF">
              <a:alpha val="90000"/>
            </a:srgbClr>
          </a:solidFill>
          <a:ln w="12700">
            <a:solidFill>
              <a:srgbClr val="2EC4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01400" y="6428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" y="320040"/>
            <a:ext cx="9692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Learning check and practical notes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questions to test understanding before practical work.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7240" y="1353312"/>
            <a:ext cx="5532120" cy="4069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conductor carries 3 A in a 0.5 T field over 80 mm. What force acts at 90°?</a:t>
            </a:r>
            <a:endParaRPr lang="en-US" sz="1520" dirty="0"/>
          </a:p>
          <a:p>
            <a:pPr indent="0" marL="0">
              <a:buNone/>
            </a:pPr>
            <a:r>
              <a:rPr lang="en-US" sz="152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happens to force when the conductor angle is changed from 90° to 30°?</a:t>
            </a:r>
            <a:endParaRPr lang="en-US" sz="1520" dirty="0"/>
          </a:p>
          <a:p>
            <a:pPr indent="0" marL="0">
              <a:buNone/>
            </a:pPr>
            <a:r>
              <a:rPr lang="en-US" sz="152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Why does a small air gap greatly increase reluctance?</a:t>
            </a:r>
            <a:endParaRPr lang="en-US" sz="1520" dirty="0"/>
          </a:p>
          <a:p>
            <a:pPr indent="0" marL="0">
              <a:buNone/>
            </a:pPr>
            <a:r>
              <a:rPr lang="en-US" sz="152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coil has twice the turns. What happens to induced voltage for the same flux change?</a:t>
            </a:r>
            <a:endParaRPr lang="en-US" sz="1520" dirty="0"/>
          </a:p>
          <a:p>
            <a:pPr indent="0" marL="0">
              <a:buNone/>
            </a:pPr>
            <a:r>
              <a:rPr lang="en-US" sz="152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For E = B l v, which three directions should be perpendicular?</a:t>
            </a:r>
            <a:endParaRPr lang="en-US" sz="1520" dirty="0"/>
          </a:p>
        </p:txBody>
      </p:sp>
      <p:sp>
        <p:nvSpPr>
          <p:cNvPr id="9" name="Shape 7"/>
          <p:cNvSpPr/>
          <p:nvPr/>
        </p:nvSpPr>
        <p:spPr>
          <a:xfrm>
            <a:off x="6995160" y="1417320"/>
            <a:ext cx="3520440" cy="3474720"/>
          </a:xfrm>
          <a:prstGeom prst="roundRect">
            <a:avLst>
              <a:gd name="adj" fmla="val 2632"/>
            </a:avLst>
          </a:prstGeom>
          <a:solidFill>
            <a:srgbClr val="111827"/>
          </a:solidFill>
          <a:ln w="16510">
            <a:solidFill>
              <a:srgbClr val="FFB70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33488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70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safety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0" y="2377440"/>
            <a:ext cx="2834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Keep currents within rated limits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Avoid overheated coils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Secure moving conductors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A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SELV supplies for education work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92240" y="5257800"/>
            <a:ext cx="4709160" cy="603504"/>
          </a:xfrm>
          <a:prstGeom prst="roundRect">
            <a:avLst>
              <a:gd name="adj" fmla="val 12121"/>
            </a:avLst>
          </a:prstGeom>
          <a:solidFill>
            <a:srgbClr val="1C2E2D"/>
          </a:solidFill>
          <a:ln w="15240">
            <a:solidFill>
              <a:srgbClr val="38B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5367528"/>
            <a:ext cx="4489704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F7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Observe → measure → calculate → compare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Electromagnetism</dc:title>
  <dc:subject>Electromagnetism learning slides</dc:subject>
  <dc:creator>OpenAI</dc:creator>
  <cp:lastModifiedBy>OpenAI</cp:lastModifiedBy>
  <cp:revision>1</cp:revision>
  <dcterms:created xsi:type="dcterms:W3CDTF">2026-07-16T09:22:13Z</dcterms:created>
  <dcterms:modified xsi:type="dcterms:W3CDTF">2026-07-16T09:22:13Z</dcterms:modified>
</cp:coreProperties>
</file>