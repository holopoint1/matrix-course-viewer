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4205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C4FF"/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2EC4FF">
              <a:alpha val="90000"/>
            </a:srgbClr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201400" y="6428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6720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Electromagnetism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13232" y="2157984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Forces • magnetic circuits • induced voltage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5074920"/>
            <a:ext cx="7955280" cy="713232"/>
          </a:xfrm>
          <a:prstGeom prst="roundRect">
            <a:avLst>
              <a:gd name="adj" fmla="val 10256"/>
            </a:avLst>
          </a:prstGeom>
          <a:solidFill>
            <a:srgbClr val="111827"/>
          </a:solidFill>
          <a:ln w="152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41248" y="5184648"/>
            <a:ext cx="773582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 = B I l      e = −N dΦ/dt      E = B l v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458200" y="1353312"/>
            <a:ext cx="210312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8458200" y="1645920"/>
            <a:ext cx="210312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8458200" y="1938528"/>
            <a:ext cx="210312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8458200" y="2231136"/>
            <a:ext cx="210312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8458200" y="2523744"/>
            <a:ext cx="210312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8458200" y="2816352"/>
            <a:ext cx="210312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8458200" y="3108960"/>
            <a:ext cx="210312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8458200" y="3401568"/>
            <a:ext cx="210312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7589520" y="1097280"/>
            <a:ext cx="594360" cy="2926080"/>
          </a:xfrm>
          <a:prstGeom prst="rect">
            <a:avLst/>
          </a:prstGeom>
          <a:solidFill>
            <a:srgbClr val="DCEBFF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589520" y="2395728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</a:rPr>
              <a:t>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835640" y="1097280"/>
            <a:ext cx="594360" cy="2926080"/>
          </a:xfrm>
          <a:prstGeom prst="rect">
            <a:avLst/>
          </a:prstGeom>
          <a:solidFill>
            <a:srgbClr val="FFE5E5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10835640" y="2395728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</a:rPr>
              <a:t>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281160" y="2148840"/>
            <a:ext cx="457200" cy="914400"/>
          </a:xfrm>
          <a:prstGeom prst="roundRect">
            <a:avLst>
              <a:gd name="adj" fmla="val 6000"/>
            </a:avLst>
          </a:prstGeom>
          <a:solidFill>
            <a:srgbClr val="FB8500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9509760" y="1874520"/>
            <a:ext cx="0" cy="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458200" y="4279392"/>
            <a:ext cx="2560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 effect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18120" y="5234940"/>
            <a:ext cx="3383280" cy="0"/>
          </a:xfrm>
          <a:prstGeom prst="line">
            <a:avLst/>
          </a:prstGeom>
          <a:noFill/>
          <a:ln w="15240">
            <a:solidFill>
              <a:srgbClr val="A9B8C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7818120" y="5852160"/>
            <a:ext cx="0" cy="0"/>
          </a:xfrm>
          <a:prstGeom prst="line">
            <a:avLst/>
          </a:prstGeom>
          <a:noFill/>
          <a:ln w="15240">
            <a:solidFill>
              <a:srgbClr val="A9B8C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7955280" y="5212080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8003903" y="5166193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8052526" y="5120763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8101149" y="5076240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8149771" y="5033067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8198394" y="4991673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8247017" y="4952470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8295640" y="4915846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8344263" y="4882167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8392886" y="4851767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8441509" y="4824948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8490131" y="4801976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8538754" y="4783080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8587377" y="4768447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8636000" y="4758224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8684623" y="4752511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8733246" y="4751366"/>
            <a:ext cx="48623" cy="3433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8781869" y="4754799"/>
            <a:ext cx="48623" cy="7978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8830491" y="4762777"/>
            <a:ext cx="48623" cy="12443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8879114" y="4775220"/>
            <a:ext cx="48623" cy="16785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8927737" y="4792006"/>
            <a:ext cx="48623" cy="2096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8976360" y="4812966"/>
            <a:ext cx="48623" cy="24927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9024983" y="4837892"/>
            <a:ext cx="48623" cy="28645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9073606" y="4866538"/>
            <a:ext cx="48623" cy="3208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9122229" y="4898617"/>
            <a:ext cx="48623" cy="35195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9170851" y="4933812"/>
            <a:ext cx="48623" cy="3796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9219474" y="4971773"/>
            <a:ext cx="48623" cy="40349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9268097" y="5012121"/>
            <a:ext cx="48623" cy="42336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9316720" y="5054457"/>
            <a:ext cx="48623" cy="43903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9365343" y="5098360"/>
            <a:ext cx="48623" cy="45033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9413966" y="5143393"/>
            <a:ext cx="48623" cy="45715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9462589" y="5189108"/>
            <a:ext cx="48623" cy="45944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7"/>
          <p:cNvSpPr/>
          <p:nvPr/>
        </p:nvSpPr>
        <p:spPr>
          <a:xfrm>
            <a:off x="9511211" y="5235052"/>
            <a:ext cx="48623" cy="45715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8"/>
          <p:cNvSpPr/>
          <p:nvPr/>
        </p:nvSpPr>
        <p:spPr>
          <a:xfrm>
            <a:off x="9559834" y="5280767"/>
            <a:ext cx="48623" cy="45033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9608457" y="5325800"/>
            <a:ext cx="48623" cy="43903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9657080" y="5369703"/>
            <a:ext cx="48623" cy="42336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9705703" y="5412039"/>
            <a:ext cx="48623" cy="40349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9754326" y="5452387"/>
            <a:ext cx="48623" cy="3796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9802949" y="5490348"/>
            <a:ext cx="48623" cy="35195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Shape 64"/>
          <p:cNvSpPr/>
          <p:nvPr/>
        </p:nvSpPr>
        <p:spPr>
          <a:xfrm>
            <a:off x="9851571" y="5525543"/>
            <a:ext cx="48623" cy="3208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65"/>
          <p:cNvSpPr/>
          <p:nvPr/>
        </p:nvSpPr>
        <p:spPr>
          <a:xfrm>
            <a:off x="9900194" y="5557622"/>
            <a:ext cx="48623" cy="28645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Shape 66"/>
          <p:cNvSpPr/>
          <p:nvPr/>
        </p:nvSpPr>
        <p:spPr>
          <a:xfrm>
            <a:off x="9948817" y="5586268"/>
            <a:ext cx="48623" cy="24927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Shape 67"/>
          <p:cNvSpPr/>
          <p:nvPr/>
        </p:nvSpPr>
        <p:spPr>
          <a:xfrm>
            <a:off x="9997440" y="5611194"/>
            <a:ext cx="48623" cy="2096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Shape 68"/>
          <p:cNvSpPr/>
          <p:nvPr/>
        </p:nvSpPr>
        <p:spPr>
          <a:xfrm>
            <a:off x="10046063" y="5632154"/>
            <a:ext cx="48623" cy="16785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Shape 69"/>
          <p:cNvSpPr/>
          <p:nvPr/>
        </p:nvSpPr>
        <p:spPr>
          <a:xfrm>
            <a:off x="10094686" y="5648940"/>
            <a:ext cx="48623" cy="12443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Shape 70"/>
          <p:cNvSpPr/>
          <p:nvPr/>
        </p:nvSpPr>
        <p:spPr>
          <a:xfrm>
            <a:off x="10143309" y="5661383"/>
            <a:ext cx="48623" cy="7978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71"/>
          <p:cNvSpPr/>
          <p:nvPr/>
        </p:nvSpPr>
        <p:spPr>
          <a:xfrm>
            <a:off x="10191931" y="5669361"/>
            <a:ext cx="48623" cy="3433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Shape 72"/>
          <p:cNvSpPr/>
          <p:nvPr/>
        </p:nvSpPr>
        <p:spPr>
          <a:xfrm>
            <a:off x="10240554" y="5672794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3"/>
          <p:cNvSpPr/>
          <p:nvPr/>
        </p:nvSpPr>
        <p:spPr>
          <a:xfrm>
            <a:off x="10289177" y="5671649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Shape 74"/>
          <p:cNvSpPr/>
          <p:nvPr/>
        </p:nvSpPr>
        <p:spPr>
          <a:xfrm>
            <a:off x="10337800" y="5665936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Shape 75"/>
          <p:cNvSpPr/>
          <p:nvPr/>
        </p:nvSpPr>
        <p:spPr>
          <a:xfrm>
            <a:off x="10386423" y="5655713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Shape 76"/>
          <p:cNvSpPr/>
          <p:nvPr/>
        </p:nvSpPr>
        <p:spPr>
          <a:xfrm>
            <a:off x="10435046" y="5641080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Shape 77"/>
          <p:cNvSpPr/>
          <p:nvPr/>
        </p:nvSpPr>
        <p:spPr>
          <a:xfrm>
            <a:off x="10483669" y="5622184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Shape 78"/>
          <p:cNvSpPr/>
          <p:nvPr/>
        </p:nvSpPr>
        <p:spPr>
          <a:xfrm>
            <a:off x="10532291" y="5599212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Shape 79"/>
          <p:cNvSpPr/>
          <p:nvPr/>
        </p:nvSpPr>
        <p:spPr>
          <a:xfrm>
            <a:off x="10580914" y="5572393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Shape 80"/>
          <p:cNvSpPr/>
          <p:nvPr/>
        </p:nvSpPr>
        <p:spPr>
          <a:xfrm>
            <a:off x="10629537" y="5541993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Shape 81"/>
          <p:cNvSpPr/>
          <p:nvPr/>
        </p:nvSpPr>
        <p:spPr>
          <a:xfrm>
            <a:off x="10678160" y="5508314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Shape 82"/>
          <p:cNvSpPr/>
          <p:nvPr/>
        </p:nvSpPr>
        <p:spPr>
          <a:xfrm>
            <a:off x="10726783" y="5471690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Shape 83"/>
          <p:cNvSpPr/>
          <p:nvPr/>
        </p:nvSpPr>
        <p:spPr>
          <a:xfrm>
            <a:off x="10775406" y="5432487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Shape 84"/>
          <p:cNvSpPr/>
          <p:nvPr/>
        </p:nvSpPr>
        <p:spPr>
          <a:xfrm>
            <a:off x="10824029" y="5391093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7" name="Shape 85"/>
          <p:cNvSpPr/>
          <p:nvPr/>
        </p:nvSpPr>
        <p:spPr>
          <a:xfrm>
            <a:off x="10872651" y="5347920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Shape 86"/>
          <p:cNvSpPr/>
          <p:nvPr/>
        </p:nvSpPr>
        <p:spPr>
          <a:xfrm>
            <a:off x="10921274" y="5303397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9" name="Shape 87"/>
          <p:cNvSpPr/>
          <p:nvPr/>
        </p:nvSpPr>
        <p:spPr>
          <a:xfrm>
            <a:off x="10969897" y="5257967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C4FF"/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2EC4FF">
              <a:alpha val="90000"/>
            </a:srgbClr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201400" y="6428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320040"/>
            <a:ext cx="9692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electromagnetism story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804672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linked ideas appear again and again in machines, generators and transformers.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23160" y="2880360"/>
            <a:ext cx="1828800" cy="0"/>
          </a:xfrm>
          <a:prstGeom prst="line">
            <a:avLst/>
          </a:prstGeom>
          <a:noFill/>
          <a:ln w="33020">
            <a:solidFill>
              <a:srgbClr val="2EC4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5669280" y="2880360"/>
            <a:ext cx="1828800" cy="0"/>
          </a:xfrm>
          <a:prstGeom prst="line">
            <a:avLst/>
          </a:prstGeom>
          <a:noFill/>
          <a:ln w="33020">
            <a:solidFill>
              <a:srgbClr val="2EC4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9006840" y="3520440"/>
            <a:ext cx="0" cy="114300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777240" y="187452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23047"/>
          </a:solidFill>
          <a:ln w="1651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941832" y="2057400"/>
            <a:ext cx="223113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I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005840" y="2587752"/>
            <a:ext cx="2103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magnetic field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063240"/>
            <a:ext cx="20116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coil or conductor produces flux Φ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06240" y="187452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C2E2D"/>
          </a:solidFill>
          <a:ln w="16510">
            <a:solidFill>
              <a:srgbClr val="38B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370832" y="2057400"/>
            <a:ext cx="223113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Magnetic field B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434840" y="2587752"/>
            <a:ext cx="2103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pushes current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80560" y="3063240"/>
            <a:ext cx="20116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current in a field experiences force F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635240" y="187452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2D2546"/>
          </a:solidFill>
          <a:ln w="1651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799832" y="2057400"/>
            <a:ext cx="223113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Changing flux Φ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863840" y="2587752"/>
            <a:ext cx="2103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induces voltage 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09560" y="3063240"/>
            <a:ext cx="20116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changing flux linkage creates EMF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4400" y="5074920"/>
            <a:ext cx="315468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52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1024128" y="5184648"/>
            <a:ext cx="293522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Motor effect: F = B I l sinθ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26280" y="5074920"/>
            <a:ext cx="315468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52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636008" y="5184648"/>
            <a:ext cx="293522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Faraday: e = −N dΦ/dt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38160" y="5074920"/>
            <a:ext cx="278892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52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8247888" y="5184648"/>
            <a:ext cx="256946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 EMF: E = B l v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C4FF"/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2EC4FF">
              <a:alpha val="90000"/>
            </a:srgbClr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201400" y="6428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320040"/>
            <a:ext cx="9692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Force on a current-carrying conductor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804672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conductor carrying current at right angles to a magnetic field experiences a mechanical force.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537960" y="1600200"/>
            <a:ext cx="274320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537960" y="1938528"/>
            <a:ext cx="274320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537960" y="2276856"/>
            <a:ext cx="274320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537960" y="2615184"/>
            <a:ext cx="274320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537960" y="2953512"/>
            <a:ext cx="274320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537960" y="3291840"/>
            <a:ext cx="274320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537960" y="3630168"/>
            <a:ext cx="274320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537960" y="3968496"/>
            <a:ext cx="274320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5623560" y="1325880"/>
            <a:ext cx="658368" cy="3154680"/>
          </a:xfrm>
          <a:prstGeom prst="rect">
            <a:avLst/>
          </a:prstGeom>
          <a:solidFill>
            <a:srgbClr val="DCEBFF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623560" y="2738628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</a:rPr>
              <a:t>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8048" y="1325880"/>
            <a:ext cx="658368" cy="3154680"/>
          </a:xfrm>
          <a:prstGeom prst="rect">
            <a:avLst/>
          </a:prstGeom>
          <a:solidFill>
            <a:srgbClr val="FFE5E5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9528048" y="2738628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</a:rPr>
              <a:t>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71816" y="2459736"/>
            <a:ext cx="566928" cy="566928"/>
          </a:xfrm>
          <a:prstGeom prst="ellipse">
            <a:avLst/>
          </a:prstGeom>
          <a:solidFill>
            <a:srgbClr val="FB8500"/>
          </a:solidFill>
          <a:ln w="190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7847564" y="2635484"/>
            <a:ext cx="215433" cy="21543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7955280" y="2423160"/>
            <a:ext cx="0" cy="0"/>
          </a:xfrm>
          <a:prstGeom prst="line">
            <a:avLst/>
          </a:prstGeom>
          <a:noFill/>
          <a:ln w="43180">
            <a:solidFill>
              <a:srgbClr val="EF444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812280" y="4480560"/>
            <a:ext cx="23774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8B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field: N → 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23760" y="3127248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B85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out of slide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11312" y="1901952"/>
            <a:ext cx="1097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Force F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" y="1508760"/>
            <a:ext cx="3886200" cy="822960"/>
          </a:xfrm>
          <a:prstGeom prst="roundRect">
            <a:avLst>
              <a:gd name="adj" fmla="val 8889"/>
            </a:avLst>
          </a:prstGeom>
          <a:solidFill>
            <a:srgbClr val="101B2F"/>
          </a:solidFill>
          <a:ln w="152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886968" y="1618488"/>
            <a:ext cx="366674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 = B × I × l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822960" y="2788920"/>
            <a:ext cx="397764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 = magnetic flux density in tesla (T)</a:t>
            </a:r>
            <a:endParaRPr lang="en-US" sz="1580" dirty="0"/>
          </a:p>
          <a:p>
            <a:pPr marL="0" indent="0">
              <a:buNone/>
            </a:pPr>
            <a:r>
              <a:rPr lang="en-US" sz="158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 = current in amperes (A)</a:t>
            </a:r>
            <a:endParaRPr lang="en-US" sz="1580" dirty="0"/>
          </a:p>
          <a:p>
            <a:pPr marL="0" indent="0">
              <a:buNone/>
            </a:pPr>
            <a:r>
              <a:rPr lang="en-US" sz="158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 = active conductor length in metres (m)</a:t>
            </a:r>
            <a:endParaRPr lang="en-US" sz="1580" dirty="0"/>
          </a:p>
          <a:p>
            <a:pPr marL="0" indent="0">
              <a:buNone/>
            </a:pPr>
            <a:r>
              <a:rPr lang="en-US" sz="158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This form assumes the conductor is perpendicular to B</a:t>
            </a:r>
            <a:endParaRPr lang="en-US" sz="15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C4FF"/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2EC4FF">
              <a:alpha val="90000"/>
            </a:srgbClr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201400" y="6428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320040"/>
            <a:ext cx="9692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Direction of force: Fleming’s left-hand rule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804672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three directions are mutually at right angles.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675120" y="3931920"/>
            <a:ext cx="2194560" cy="0"/>
          </a:xfrm>
          <a:prstGeom prst="line">
            <a:avLst/>
          </a:prstGeom>
          <a:noFill/>
          <a:ln w="4064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675120" y="3931920"/>
            <a:ext cx="0" cy="0"/>
          </a:xfrm>
          <a:prstGeom prst="line">
            <a:avLst/>
          </a:prstGeom>
          <a:noFill/>
          <a:ln w="40640">
            <a:solidFill>
              <a:srgbClr val="FB85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675120" y="3931920"/>
            <a:ext cx="0" cy="1325880"/>
          </a:xfrm>
          <a:prstGeom prst="line">
            <a:avLst/>
          </a:prstGeom>
          <a:noFill/>
          <a:ln w="40640">
            <a:solidFill>
              <a:srgbClr val="EF444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355080" y="3611880"/>
            <a:ext cx="640080" cy="640080"/>
          </a:xfrm>
          <a:prstGeom prst="ellipse">
            <a:avLst/>
          </a:prstGeom>
          <a:solidFill>
            <a:srgbClr val="1E293B"/>
          </a:solidFill>
          <a:ln w="1524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9006840" y="3767328"/>
            <a:ext cx="548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B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1417320"/>
            <a:ext cx="548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85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45152" y="5257800"/>
            <a:ext cx="548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1417320"/>
            <a:ext cx="438912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First finger: field B (N to S)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Second finger: conventional current I (+ to −)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Thumb: force or motion F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Reverse the current or field and the force reverses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8680" y="5596128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111827"/>
          </a:solidFill>
          <a:ln w="152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978408" y="5705856"/>
            <a:ext cx="398678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Field × Current → Force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C4FF"/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2EC4FF">
              <a:alpha val="90000"/>
            </a:srgbClr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201400" y="6428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320040"/>
            <a:ext cx="9692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Force calculation: worked example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804672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consistent SI units before substituting into the equation.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2926080" cy="713232"/>
          </a:xfrm>
          <a:prstGeom prst="roundRect">
            <a:avLst>
              <a:gd name="adj" fmla="val 10256"/>
            </a:avLst>
          </a:prstGeom>
          <a:solidFill>
            <a:srgbClr val="101B2F"/>
          </a:solidFill>
          <a:ln w="152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41248" y="1435608"/>
            <a:ext cx="270662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 = B I l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6868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DD3FC"/>
                </a:solidFill>
              </a:rPr>
              <a:t>Given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2788920"/>
            <a:ext cx="21031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 = 0.8 T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 = 5 A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 = 0.12 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931920" y="2423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DD3FC"/>
                </a:solidFill>
              </a:rPr>
              <a:t>Substitute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520440" y="2761488"/>
            <a:ext cx="3474720" cy="594360"/>
          </a:xfrm>
          <a:prstGeom prst="roundRect">
            <a:avLst>
              <a:gd name="adj" fmla="val 12308"/>
            </a:avLst>
          </a:prstGeom>
          <a:solidFill>
            <a:srgbClr val="111827"/>
          </a:solidFill>
          <a:ln w="152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630168" y="2871216"/>
            <a:ext cx="325526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 = 0.8 × 5 × 0.12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635240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DD3FC"/>
                </a:solidFill>
              </a:rPr>
              <a:t>Answer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15200" y="2761488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1C2E2D"/>
          </a:solidFill>
          <a:ln w="15240">
            <a:solidFill>
              <a:srgbClr val="38B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424928" y="2871216"/>
            <a:ext cx="270662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 = 0.48 N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583680" y="4681728"/>
            <a:ext cx="237744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583680" y="4919472"/>
            <a:ext cx="237744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6583680" y="5157216"/>
            <a:ext cx="237744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6583680" y="5394960"/>
            <a:ext cx="237744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7680960" y="4343400"/>
            <a:ext cx="310896" cy="1143000"/>
          </a:xfrm>
          <a:prstGeom prst="roundRect">
            <a:avLst>
              <a:gd name="adj" fmla="val 8824"/>
            </a:avLst>
          </a:prstGeom>
          <a:solidFill>
            <a:srgbClr val="FB8500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7836408" y="4261104"/>
            <a:ext cx="0" cy="0"/>
          </a:xfrm>
          <a:prstGeom prst="line">
            <a:avLst/>
          </a:prstGeom>
          <a:noFill/>
          <a:ln w="27940">
            <a:solidFill>
              <a:srgbClr val="EF444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903720" y="5559552"/>
            <a:ext cx="2377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length l = 0.12 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88720" y="4846320"/>
            <a:ext cx="42976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143000" y="5074920"/>
            <a:ext cx="44348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Tip: use only the conductor length inside the magnetic field.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C4FF"/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2EC4FF">
              <a:alpha val="90000"/>
            </a:srgbClr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201400" y="6428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320040"/>
            <a:ext cx="9692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Force on a conductor at an angle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804672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the component of conductor length perpendicular to the field contributes to force.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92240" y="1600200"/>
            <a:ext cx="292608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492240" y="1911096"/>
            <a:ext cx="292608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492240" y="2221992"/>
            <a:ext cx="292608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492240" y="2532888"/>
            <a:ext cx="292608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492240" y="2843784"/>
            <a:ext cx="292608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492240" y="3154680"/>
            <a:ext cx="292608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492240" y="3465576"/>
            <a:ext cx="292608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492240" y="3776472"/>
            <a:ext cx="292608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492240" y="4087368"/>
            <a:ext cx="292608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7315200" y="4160520"/>
            <a:ext cx="1737360" cy="0"/>
          </a:xfrm>
          <a:prstGeom prst="line">
            <a:avLst/>
          </a:prstGeom>
          <a:noFill/>
          <a:ln w="139700">
            <a:solidFill>
              <a:srgbClr val="FB85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7315200" y="4160520"/>
            <a:ext cx="1737360" cy="0"/>
          </a:xfrm>
          <a:prstGeom prst="line">
            <a:avLst/>
          </a:prstGeom>
          <a:noFill/>
          <a:ln w="190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8183880" y="3154680"/>
            <a:ext cx="0" cy="0"/>
          </a:xfrm>
          <a:prstGeom prst="line">
            <a:avLst/>
          </a:prstGeom>
          <a:noFill/>
          <a:ln w="40640">
            <a:solidFill>
              <a:srgbClr val="EF444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7360920" y="3657600"/>
            <a:ext cx="822960" cy="822960"/>
          </a:xfrm>
          <a:prstGeom prst="arc">
            <a:avLst/>
          </a:prstGeom>
          <a:noFill/>
          <a:ln w="2540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8275320" y="3977640"/>
            <a:ext cx="274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64040" y="1828800"/>
            <a:ext cx="457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B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90956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B85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along conductor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1520" y="1417320"/>
            <a:ext cx="4297680" cy="804672"/>
          </a:xfrm>
          <a:prstGeom prst="roundRect">
            <a:avLst>
              <a:gd name="adj" fmla="val 9091"/>
            </a:avLst>
          </a:prstGeom>
          <a:solidFill>
            <a:srgbClr val="101B2F"/>
          </a:solidFill>
          <a:ln w="152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841248" y="1527048"/>
            <a:ext cx="407822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 = B × I × l × sinθ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822960" y="2743200"/>
            <a:ext cx="425196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θ is the angle between conductor and magnetic field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At θ = 0°, sinθ = 0, so force is zero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At θ = 90°, sinθ = 1, giving maximum force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C4FF"/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2EC4FF">
              <a:alpha val="90000"/>
            </a:srgbClr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201400" y="6428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320040"/>
            <a:ext cx="9692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Angle dependence: sinθ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804672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magnetic force is proportional to the perpendicular component.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51560" y="3543300"/>
            <a:ext cx="5669280" cy="0"/>
          </a:xfrm>
          <a:prstGeom prst="line">
            <a:avLst/>
          </a:prstGeom>
          <a:noFill/>
          <a:ln w="15240">
            <a:solidFill>
              <a:srgbClr val="A9B8C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051560" y="5257800"/>
            <a:ext cx="0" cy="0"/>
          </a:xfrm>
          <a:prstGeom prst="line">
            <a:avLst/>
          </a:prstGeom>
          <a:noFill/>
          <a:ln w="15240">
            <a:solidFill>
              <a:srgbClr val="A9B8C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051560" y="5349240"/>
            <a:ext cx="188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240536" y="5169780"/>
            <a:ext cx="188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429512" y="4990812"/>
            <a:ext cx="188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618488" y="4812826"/>
            <a:ext cx="188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807464" y="4636311"/>
            <a:ext cx="188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1996440" y="4461749"/>
            <a:ext cx="188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2185416" y="4289621"/>
            <a:ext cx="188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2374392" y="4120396"/>
            <a:ext cx="188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563368" y="3954540"/>
            <a:ext cx="188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2752344" y="3792507"/>
            <a:ext cx="188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941320" y="3634740"/>
            <a:ext cx="188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130296" y="3481673"/>
            <a:ext cx="188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319272" y="3333724"/>
            <a:ext cx="188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3508248" y="3191300"/>
            <a:ext cx="188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3697224" y="3054791"/>
            <a:ext cx="188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3886200" y="2924571"/>
            <a:ext cx="188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4075176" y="2800996"/>
            <a:ext cx="188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264152" y="2684406"/>
            <a:ext cx="188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4453128" y="2575121"/>
            <a:ext cx="188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4642104" y="2473439"/>
            <a:ext cx="188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4831080" y="2379639"/>
            <a:ext cx="188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5020056" y="2293979"/>
            <a:ext cx="188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5209032" y="2216693"/>
            <a:ext cx="188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5398008" y="2147993"/>
            <a:ext cx="188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5586984" y="2088067"/>
            <a:ext cx="188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5775960" y="2037080"/>
            <a:ext cx="188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5964936" y="1995172"/>
            <a:ext cx="188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6153912" y="1962457"/>
            <a:ext cx="188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6342888" y="1939024"/>
            <a:ext cx="188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6531864" y="1924939"/>
            <a:ext cx="188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996696" y="5294376"/>
            <a:ext cx="109728" cy="10972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822960" y="5495544"/>
            <a:ext cx="4572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0°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886456" y="3579876"/>
            <a:ext cx="109728" cy="10972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2712720" y="5495544"/>
            <a:ext cx="4572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30°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76216" y="2324775"/>
            <a:ext cx="109728" cy="10972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4602480" y="5495544"/>
            <a:ext cx="4572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60°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665976" y="1865376"/>
            <a:ext cx="109728" cy="10972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6492240" y="5495544"/>
            <a:ext cx="4572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90°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66928" y="1691640"/>
            <a:ext cx="640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sinθ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086600" y="5394960"/>
            <a:ext cx="320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θ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452360" y="1645920"/>
            <a:ext cx="3337560" cy="685800"/>
          </a:xfrm>
          <a:prstGeom prst="roundRect">
            <a:avLst>
              <a:gd name="adj" fmla="val 10667"/>
            </a:avLst>
          </a:prstGeom>
          <a:solidFill>
            <a:srgbClr val="101B2F"/>
          </a:solidFill>
          <a:ln w="152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7562088" y="1755648"/>
            <a:ext cx="311810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Fθ = Fmax × sinθ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754380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DD3FC"/>
                </a:solidFill>
              </a:rPr>
              <a:t>Example when Fmax = 0.48 N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7635240" y="3154680"/>
            <a:ext cx="219456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30°: 0.24 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60°: 0.42 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90°: 0.48 N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C4FF"/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2EC4FF">
              <a:alpha val="90000"/>
            </a:srgbClr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201400" y="6428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320040"/>
            <a:ext cx="9692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Magnetic flux density B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804672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 density describes how concentrated the magnetic flux is through an area.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675120" y="1645920"/>
            <a:ext cx="2651760" cy="0"/>
          </a:xfrm>
          <a:prstGeom prst="line">
            <a:avLst/>
          </a:prstGeom>
          <a:noFill/>
          <a:ln w="2159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675120" y="1901952"/>
            <a:ext cx="2651760" cy="0"/>
          </a:xfrm>
          <a:prstGeom prst="line">
            <a:avLst/>
          </a:prstGeom>
          <a:noFill/>
          <a:ln w="2159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675120" y="2157984"/>
            <a:ext cx="2651760" cy="0"/>
          </a:xfrm>
          <a:prstGeom prst="line">
            <a:avLst/>
          </a:prstGeom>
          <a:noFill/>
          <a:ln w="2159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675120" y="2414016"/>
            <a:ext cx="2651760" cy="0"/>
          </a:xfrm>
          <a:prstGeom prst="line">
            <a:avLst/>
          </a:prstGeom>
          <a:noFill/>
          <a:ln w="2159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675120" y="2670048"/>
            <a:ext cx="2651760" cy="0"/>
          </a:xfrm>
          <a:prstGeom prst="line">
            <a:avLst/>
          </a:prstGeom>
          <a:noFill/>
          <a:ln w="2159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675120" y="2926080"/>
            <a:ext cx="2651760" cy="0"/>
          </a:xfrm>
          <a:prstGeom prst="line">
            <a:avLst/>
          </a:prstGeom>
          <a:noFill/>
          <a:ln w="2159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675120" y="3182112"/>
            <a:ext cx="2651760" cy="0"/>
          </a:xfrm>
          <a:prstGeom prst="line">
            <a:avLst/>
          </a:prstGeom>
          <a:noFill/>
          <a:ln w="2159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675120" y="4069080"/>
            <a:ext cx="2651760" cy="0"/>
          </a:xfrm>
          <a:prstGeom prst="line">
            <a:avLst/>
          </a:prstGeom>
          <a:noFill/>
          <a:ln w="1524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675120" y="4453128"/>
            <a:ext cx="2651760" cy="0"/>
          </a:xfrm>
          <a:prstGeom prst="line">
            <a:avLst/>
          </a:prstGeom>
          <a:noFill/>
          <a:ln w="1524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675120" y="4837176"/>
            <a:ext cx="2651760" cy="0"/>
          </a:xfrm>
          <a:prstGeom prst="line">
            <a:avLst/>
          </a:prstGeom>
          <a:noFill/>
          <a:ln w="1524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675120" y="5221224"/>
            <a:ext cx="2651760" cy="0"/>
          </a:xfrm>
          <a:prstGeom prst="line">
            <a:avLst/>
          </a:prstGeom>
          <a:noFill/>
          <a:ln w="1524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7635240" y="1417320"/>
            <a:ext cx="777240" cy="1828800"/>
          </a:xfrm>
          <a:prstGeom prst="rect">
            <a:avLst/>
          </a:prstGeom>
          <a:solidFill>
            <a:srgbClr val="233044">
              <a:alpha val="65000"/>
            </a:srgbClr>
          </a:solidFill>
          <a:ln w="1524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7635240" y="3749040"/>
            <a:ext cx="777240" cy="1828800"/>
          </a:xfrm>
          <a:prstGeom prst="rect">
            <a:avLst/>
          </a:prstGeom>
          <a:solidFill>
            <a:srgbClr val="233044">
              <a:alpha val="65000"/>
            </a:srgbClr>
          </a:solidFill>
          <a:ln w="1524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9400032" y="2148840"/>
            <a:ext cx="1005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8B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400032" y="4572000"/>
            <a:ext cx="1005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B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" y="1417320"/>
            <a:ext cx="3108960" cy="731520"/>
          </a:xfrm>
          <a:prstGeom prst="roundRect">
            <a:avLst>
              <a:gd name="adj" fmla="val 10000"/>
            </a:avLst>
          </a:prstGeom>
          <a:solidFill>
            <a:srgbClr val="101B2F"/>
          </a:solidFill>
          <a:ln w="152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86968" y="1527048"/>
            <a:ext cx="288950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 = Φ / A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822960" y="2560320"/>
            <a:ext cx="4160520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Φ = magnetic flux in webers (Wb)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= cross-sectional area in m²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 = tesla (T) = Wb/m²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smaller area gives greater flux density for the same flux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C4FF"/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2EC4FF">
              <a:alpha val="90000"/>
            </a:srgbClr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201400" y="6428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320040"/>
            <a:ext cx="9692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Magnetic flux density in an air gap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804672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near-uniform field lets us estimate force and induced EMF from B.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777240" cy="3337560"/>
          </a:xfrm>
          <a:prstGeom prst="rect">
            <a:avLst/>
          </a:prstGeom>
          <a:solidFill>
            <a:srgbClr val="DCEBFF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126480" y="296722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</a:rPr>
              <a:t>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012680" y="1463040"/>
            <a:ext cx="777240" cy="3337560"/>
          </a:xfrm>
          <a:prstGeom prst="rect">
            <a:avLst/>
          </a:prstGeom>
          <a:solidFill>
            <a:srgbClr val="FFE5E5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0012680" y="296722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</a:rPr>
              <a:t>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086600" y="1874520"/>
            <a:ext cx="228600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7086600" y="2240280"/>
            <a:ext cx="228600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7086600" y="2606040"/>
            <a:ext cx="228600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7086600" y="2971800"/>
            <a:ext cx="228600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7086600" y="3337560"/>
            <a:ext cx="228600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7086600" y="3703320"/>
            <a:ext cx="228600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7086600" y="4069080"/>
            <a:ext cx="228600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7543800" y="2103120"/>
            <a:ext cx="1143000" cy="1417320"/>
          </a:xfrm>
          <a:prstGeom prst="rect">
            <a:avLst/>
          </a:prstGeom>
          <a:solidFill>
            <a:srgbClr val="233044">
              <a:alpha val="45000"/>
            </a:srgbClr>
          </a:solidFill>
          <a:ln w="1524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443216" y="3639312"/>
            <a:ext cx="13716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uniform gap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1536192"/>
            <a:ext cx="434340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 is stronger when flux is forced through a small gap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 is weaker when flux leaks or spreads out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 motors and generators, air-gap B is a key design value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Education labs often use measured B from a gaussmeter / teslameter</a:t>
            </a:r>
            <a:endParaRPr lang="en-US" sz="1540" dirty="0"/>
          </a:p>
        </p:txBody>
      </p:sp>
      <p:sp>
        <p:nvSpPr>
          <p:cNvPr id="22" name="Shape 20"/>
          <p:cNvSpPr/>
          <p:nvPr/>
        </p:nvSpPr>
        <p:spPr>
          <a:xfrm>
            <a:off x="868680" y="5138928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52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978408" y="5248656"/>
            <a:ext cx="448970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Force and EMF calculations both need B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C4FF"/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2EC4FF">
              <a:alpha val="90000"/>
            </a:srgbClr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201400" y="6428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320040"/>
            <a:ext cx="9692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Magnetic circuit: flux, MMF and reluctance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804672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magnetic circuit behaves like an electrical circuit analogy.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3063240"/>
            <a:ext cx="1280160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5074920" y="3063240"/>
            <a:ext cx="1280160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7680960" y="3063240"/>
            <a:ext cx="1280160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594360" y="2103120"/>
            <a:ext cx="1920240" cy="1920240"/>
          </a:xfrm>
          <a:prstGeom prst="roundRect">
            <a:avLst>
              <a:gd name="adj" fmla="val 4762"/>
            </a:avLst>
          </a:prstGeom>
          <a:solidFill>
            <a:srgbClr val="111827"/>
          </a:solidFill>
          <a:ln w="152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31520" y="2395728"/>
            <a:ext cx="1645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MMF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2788920"/>
            <a:ext cx="1645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Fₘ = N 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5528" y="3255264"/>
            <a:ext cx="151790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magnetic “push”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2103120"/>
            <a:ext cx="1920240" cy="1920240"/>
          </a:xfrm>
          <a:prstGeom prst="roundRect">
            <a:avLst>
              <a:gd name="adj" fmla="val 4762"/>
            </a:avLst>
          </a:prstGeom>
          <a:solidFill>
            <a:srgbClr val="111827"/>
          </a:solidFill>
          <a:ln w="1524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337560" y="2395728"/>
            <a:ext cx="1645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Reluctance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37560" y="2788920"/>
            <a:ext cx="1645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FB70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01568" y="3255264"/>
            <a:ext cx="151790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opposes flux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806440" y="2103120"/>
            <a:ext cx="1920240" cy="1920240"/>
          </a:xfrm>
          <a:prstGeom prst="roundRect">
            <a:avLst>
              <a:gd name="adj" fmla="val 4762"/>
            </a:avLst>
          </a:prstGeom>
          <a:solidFill>
            <a:srgbClr val="111827"/>
          </a:solidFill>
          <a:ln w="152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943600" y="2395728"/>
            <a:ext cx="1645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43600" y="2788920"/>
            <a:ext cx="1645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07608" y="3255264"/>
            <a:ext cx="151790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magnetic flow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412480" y="2103120"/>
            <a:ext cx="1920240" cy="1920240"/>
          </a:xfrm>
          <a:prstGeom prst="roundRect">
            <a:avLst>
              <a:gd name="adj" fmla="val 4762"/>
            </a:avLst>
          </a:prstGeom>
          <a:solidFill>
            <a:srgbClr val="111827"/>
          </a:solidFill>
          <a:ln w="152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549640" y="2395728"/>
            <a:ext cx="1645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/ gap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49640" y="2788920"/>
            <a:ext cx="1645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+ geometry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13648" y="3255264"/>
            <a:ext cx="151790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sets 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11880" y="507492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1A263B"/>
          </a:solidFill>
          <a:ln w="152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3721608" y="5184648"/>
            <a:ext cx="453542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Φ = MMF / R</a:t>
            </a:r>
            <a:endParaRPr lang="en-US" sz="2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C4FF"/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2EC4FF">
              <a:alpha val="90000"/>
            </a:srgbClr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201400" y="6428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320040"/>
            <a:ext cx="9692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Magnetic circuit – reluctance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804672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Reluctance depends on path length, material permeability and area.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4663440" cy="786384"/>
          </a:xfrm>
          <a:prstGeom prst="roundRect">
            <a:avLst>
              <a:gd name="adj" fmla="val 9302"/>
            </a:avLst>
          </a:prstGeom>
          <a:solidFill>
            <a:srgbClr val="101B2F"/>
          </a:solidFill>
          <a:ln w="152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41248" y="1435608"/>
            <a:ext cx="444398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 = l / (μ₀ × μᵣ × A)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429768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 = magnetic path length (m)</a:t>
            </a:r>
            <a:endParaRPr lang="en-US" sz="1560" dirty="0"/>
          </a:p>
          <a:p>
            <a:pPr marL="0" indent="0">
              <a:buNone/>
            </a:pPr>
            <a:r>
              <a:rPr lang="en-US" sz="156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μ₀ = permeability of free space</a:t>
            </a:r>
            <a:endParaRPr lang="en-US" sz="1560" dirty="0"/>
          </a:p>
          <a:p>
            <a:pPr marL="0" indent="0">
              <a:buNone/>
            </a:pPr>
            <a:r>
              <a:rPr lang="en-US" sz="156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μᵣ = relative permeability of the material</a:t>
            </a:r>
            <a:endParaRPr lang="en-US" sz="1560" dirty="0"/>
          </a:p>
          <a:p>
            <a:pPr marL="0" indent="0">
              <a:buNone/>
            </a:pPr>
            <a:r>
              <a:rPr lang="en-US" sz="156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= cross-sectional area (m²)</a:t>
            </a:r>
            <a:endParaRPr lang="en-US" sz="1560" dirty="0"/>
          </a:p>
          <a:p>
            <a:pPr marL="0" indent="0">
              <a:buNone/>
            </a:pPr>
            <a:r>
              <a:rPr lang="en-US" sz="156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Unit: ampere-turns per weber (A/Wb)</a:t>
            </a:r>
            <a:endParaRPr lang="en-US" sz="1560" dirty="0"/>
          </a:p>
        </p:txBody>
      </p:sp>
      <p:sp>
        <p:nvSpPr>
          <p:cNvPr id="11" name="Shape 9"/>
          <p:cNvSpPr/>
          <p:nvPr/>
        </p:nvSpPr>
        <p:spPr>
          <a:xfrm>
            <a:off x="6492240" y="1554480"/>
            <a:ext cx="3474720" cy="475488"/>
          </a:xfrm>
          <a:prstGeom prst="rect">
            <a:avLst/>
          </a:prstGeom>
          <a:solidFill>
            <a:srgbClr val="64748B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492240" y="4553712"/>
            <a:ext cx="3474720" cy="475488"/>
          </a:xfrm>
          <a:prstGeom prst="rect">
            <a:avLst/>
          </a:prstGeom>
          <a:solidFill>
            <a:srgbClr val="64748B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492240" y="2029968"/>
            <a:ext cx="475488" cy="2523744"/>
          </a:xfrm>
          <a:prstGeom prst="rect">
            <a:avLst/>
          </a:prstGeom>
          <a:solidFill>
            <a:srgbClr val="64748B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9491472" y="2029968"/>
            <a:ext cx="475488" cy="2523744"/>
          </a:xfrm>
          <a:prstGeom prst="rect">
            <a:avLst/>
          </a:prstGeom>
          <a:solidFill>
            <a:srgbClr val="64748B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492240" y="5394960"/>
            <a:ext cx="3474720" cy="0"/>
          </a:xfrm>
          <a:prstGeom prst="line">
            <a:avLst/>
          </a:prstGeom>
          <a:noFill/>
          <a:ln w="21590">
            <a:solidFill>
              <a:srgbClr val="FFB703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498080" y="5614416"/>
            <a:ext cx="14630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70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length 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332720" y="2103120"/>
            <a:ext cx="347472" cy="1417320"/>
          </a:xfrm>
          <a:prstGeom prst="rect">
            <a:avLst/>
          </a:prstGeom>
          <a:solidFill>
            <a:srgbClr val="7DD3FC">
              <a:alpha val="80000"/>
            </a:srgbClr>
          </a:solidFill>
          <a:ln w="1524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0744200" y="2651760"/>
            <a:ext cx="868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area A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C4FF"/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2EC4FF">
              <a:alpha val="90000"/>
            </a:srgbClr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201400" y="6428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320040"/>
            <a:ext cx="9692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Reluctance and the air gap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804672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 has low permeability, so a small air gap can dominate total reluctance.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26480" y="1325880"/>
            <a:ext cx="3886200" cy="475488"/>
          </a:xfrm>
          <a:prstGeom prst="rect">
            <a:avLst/>
          </a:prstGeom>
          <a:solidFill>
            <a:srgbClr val="64748B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126480" y="4599432"/>
            <a:ext cx="3886200" cy="475488"/>
          </a:xfrm>
          <a:prstGeom prst="rect">
            <a:avLst/>
          </a:prstGeom>
          <a:solidFill>
            <a:srgbClr val="64748B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126480" y="1801368"/>
            <a:ext cx="475488" cy="2798064"/>
          </a:xfrm>
          <a:prstGeom prst="rect">
            <a:avLst/>
          </a:prstGeom>
          <a:solidFill>
            <a:srgbClr val="64748B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9537192" y="1801368"/>
            <a:ext cx="475488" cy="1097280"/>
          </a:xfrm>
          <a:prstGeom prst="rect">
            <a:avLst/>
          </a:prstGeom>
          <a:solidFill>
            <a:srgbClr val="64748B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9537192" y="3502152"/>
            <a:ext cx="475488" cy="1097280"/>
          </a:xfrm>
          <a:prstGeom prst="rect">
            <a:avLst/>
          </a:prstGeom>
          <a:solidFill>
            <a:srgbClr val="64748B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9592056" y="3200400"/>
            <a:ext cx="347472" cy="0"/>
          </a:xfrm>
          <a:prstGeom prst="line">
            <a:avLst/>
          </a:prstGeom>
          <a:noFill/>
          <a:ln w="22860">
            <a:solidFill>
              <a:srgbClr val="FFB703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0149840" y="3072384"/>
            <a:ext cx="1005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B70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 gap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89320" y="2240280"/>
            <a:ext cx="749808" cy="0"/>
          </a:xfrm>
          <a:prstGeom prst="line">
            <a:avLst/>
          </a:prstGeom>
          <a:noFill/>
          <a:ln w="508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5989320" y="2478024"/>
            <a:ext cx="749808" cy="0"/>
          </a:xfrm>
          <a:prstGeom prst="line">
            <a:avLst/>
          </a:prstGeom>
          <a:noFill/>
          <a:ln w="508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5989320" y="2715768"/>
            <a:ext cx="749808" cy="0"/>
          </a:xfrm>
          <a:prstGeom prst="line">
            <a:avLst/>
          </a:prstGeom>
          <a:noFill/>
          <a:ln w="508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5989320" y="2953512"/>
            <a:ext cx="749808" cy="0"/>
          </a:xfrm>
          <a:prstGeom prst="line">
            <a:avLst/>
          </a:prstGeom>
          <a:noFill/>
          <a:ln w="508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989320" y="3191256"/>
            <a:ext cx="749808" cy="0"/>
          </a:xfrm>
          <a:prstGeom prst="line">
            <a:avLst/>
          </a:prstGeom>
          <a:noFill/>
          <a:ln w="508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989320" y="3429000"/>
            <a:ext cx="749808" cy="0"/>
          </a:xfrm>
          <a:prstGeom prst="line">
            <a:avLst/>
          </a:prstGeom>
          <a:noFill/>
          <a:ln w="508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6766560" y="1828800"/>
            <a:ext cx="2377440" cy="0"/>
          </a:xfrm>
          <a:prstGeom prst="line">
            <a:avLst/>
          </a:prstGeom>
          <a:noFill/>
          <a:ln w="2794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9144000" y="1828800"/>
            <a:ext cx="0" cy="2377440"/>
          </a:xfrm>
          <a:prstGeom prst="line">
            <a:avLst/>
          </a:prstGeom>
          <a:noFill/>
          <a:ln w="2794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9144000" y="4206240"/>
            <a:ext cx="0" cy="0"/>
          </a:xfrm>
          <a:prstGeom prst="line">
            <a:avLst/>
          </a:prstGeom>
          <a:noFill/>
          <a:ln w="2794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6766560" y="4206240"/>
            <a:ext cx="0" cy="0"/>
          </a:xfrm>
          <a:prstGeom prst="line">
            <a:avLst/>
          </a:prstGeom>
          <a:noFill/>
          <a:ln w="2794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777240" y="1371600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101B2F"/>
          </a:solidFill>
          <a:ln w="152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886968" y="1481328"/>
            <a:ext cx="375818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Rtotal = Rcore + Rgap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22960" y="2441448"/>
            <a:ext cx="4251960" cy="2423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Core: high μᵣ → low reluctance</a:t>
            </a:r>
            <a:endParaRPr lang="en-US" sz="1560" dirty="0"/>
          </a:p>
          <a:p>
            <a:pPr marL="0" indent="0">
              <a:buNone/>
            </a:pPr>
            <a:r>
              <a:rPr lang="en-US" sz="156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Air gap: μᵣ ≈ 1 → high reluctance</a:t>
            </a:r>
            <a:endParaRPr lang="en-US" sz="1560" dirty="0"/>
          </a:p>
          <a:p>
            <a:pPr marL="0" indent="0">
              <a:buNone/>
            </a:pPr>
            <a:r>
              <a:rPr lang="en-US" sz="156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Increasing the gap reduces flux for the same coil current</a:t>
            </a:r>
            <a:endParaRPr lang="en-US" sz="1560" dirty="0"/>
          </a:p>
          <a:p>
            <a:pPr marL="0" indent="0">
              <a:buNone/>
            </a:pPr>
            <a:r>
              <a:rPr lang="en-US" sz="156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Gaps are important in motors, solenoids and transformers</a:t>
            </a:r>
            <a:endParaRPr lang="en-US" sz="15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C4FF"/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2EC4FF">
              <a:alpha val="90000"/>
            </a:srgbClr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201400" y="6428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320040"/>
            <a:ext cx="9692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Magnetic circuit – magnetising force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804672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Magnetising force H is the MMF per unit magnetic path length.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77240" y="137160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101B2F"/>
          </a:solidFill>
          <a:ln w="152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86968" y="1481328"/>
            <a:ext cx="298094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 = N I / l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402336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 = number of turns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 = coil current (A)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 = magnetic path length (m)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 is measured in A/m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More turns or current gives a stronger magnetising field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0" y="1508760"/>
            <a:ext cx="3566160" cy="475488"/>
          </a:xfrm>
          <a:prstGeom prst="rect">
            <a:avLst/>
          </a:prstGeom>
          <a:solidFill>
            <a:srgbClr val="64748B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400800" y="4416552"/>
            <a:ext cx="3566160" cy="475488"/>
          </a:xfrm>
          <a:prstGeom prst="rect">
            <a:avLst/>
          </a:prstGeom>
          <a:solidFill>
            <a:srgbClr val="64748B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400800" y="1984248"/>
            <a:ext cx="475488" cy="2432304"/>
          </a:xfrm>
          <a:prstGeom prst="rect">
            <a:avLst/>
          </a:prstGeom>
          <a:solidFill>
            <a:srgbClr val="64748B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9491472" y="1984248"/>
            <a:ext cx="475488" cy="2432304"/>
          </a:xfrm>
          <a:prstGeom prst="rect">
            <a:avLst/>
          </a:prstGeom>
          <a:solidFill>
            <a:srgbClr val="64748B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291072" y="2148840"/>
            <a:ext cx="749808" cy="0"/>
          </a:xfrm>
          <a:prstGeom prst="line">
            <a:avLst/>
          </a:prstGeom>
          <a:noFill/>
          <a:ln w="508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291072" y="2386584"/>
            <a:ext cx="749808" cy="0"/>
          </a:xfrm>
          <a:prstGeom prst="line">
            <a:avLst/>
          </a:prstGeom>
          <a:noFill/>
          <a:ln w="508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291072" y="2624328"/>
            <a:ext cx="749808" cy="0"/>
          </a:xfrm>
          <a:prstGeom prst="line">
            <a:avLst/>
          </a:prstGeom>
          <a:noFill/>
          <a:ln w="508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291072" y="2862072"/>
            <a:ext cx="749808" cy="0"/>
          </a:xfrm>
          <a:prstGeom prst="line">
            <a:avLst/>
          </a:prstGeom>
          <a:noFill/>
          <a:ln w="508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291072" y="3099816"/>
            <a:ext cx="749808" cy="0"/>
          </a:xfrm>
          <a:prstGeom prst="line">
            <a:avLst/>
          </a:prstGeom>
          <a:noFill/>
          <a:ln w="508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6291072" y="3337560"/>
            <a:ext cx="749808" cy="0"/>
          </a:xfrm>
          <a:prstGeom prst="line">
            <a:avLst/>
          </a:prstGeom>
          <a:noFill/>
          <a:ln w="508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6291072" y="3575304"/>
            <a:ext cx="749808" cy="0"/>
          </a:xfrm>
          <a:prstGeom prst="line">
            <a:avLst/>
          </a:prstGeom>
          <a:noFill/>
          <a:ln w="508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5532120" y="2514600"/>
            <a:ext cx="822960" cy="0"/>
          </a:xfrm>
          <a:prstGeom prst="line">
            <a:avLst/>
          </a:prstGeom>
          <a:noFill/>
          <a:ln w="26670">
            <a:solidFill>
              <a:srgbClr val="FB85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355080" y="3840480"/>
            <a:ext cx="0" cy="0"/>
          </a:xfrm>
          <a:prstGeom prst="line">
            <a:avLst/>
          </a:prstGeom>
          <a:noFill/>
          <a:ln w="26670">
            <a:solidFill>
              <a:srgbClr val="FB85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144768" y="5074920"/>
            <a:ext cx="1005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B85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turns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74920" y="2176272"/>
            <a:ext cx="1005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B85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5285232"/>
            <a:ext cx="3566160" cy="0"/>
          </a:xfrm>
          <a:prstGeom prst="line">
            <a:avLst/>
          </a:prstGeom>
          <a:noFill/>
          <a:ln w="21590">
            <a:solidFill>
              <a:srgbClr val="FFB703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7543800" y="5504688"/>
            <a:ext cx="1371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B70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length l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C4FF"/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2EC4FF">
              <a:alpha val="90000"/>
            </a:srgbClr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201400" y="6428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320040"/>
            <a:ext cx="9692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magnetising force to flux density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804672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Permeability links H to B, but real iron saturates at high flux density.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" y="1261872"/>
            <a:ext cx="3931920" cy="713232"/>
          </a:xfrm>
          <a:prstGeom prst="roundRect">
            <a:avLst>
              <a:gd name="adj" fmla="val 10256"/>
            </a:avLst>
          </a:prstGeom>
          <a:solidFill>
            <a:srgbClr val="101B2F"/>
          </a:solidFill>
          <a:ln w="152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95528" y="1371600"/>
            <a:ext cx="371246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 = μ₀ × μᵣ × H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425196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Permeability tells us how easily a material supports flux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Higher μᵣ gives more B for the same H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 saturation, extra current gives little extra flux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Design avoids excessive current and overheating</a:t>
            </a:r>
            <a:endParaRPr lang="en-US" sz="1540" dirty="0"/>
          </a:p>
        </p:txBody>
      </p:sp>
      <p:sp>
        <p:nvSpPr>
          <p:cNvPr id="11" name="Shape 9"/>
          <p:cNvSpPr/>
          <p:nvPr/>
        </p:nvSpPr>
        <p:spPr>
          <a:xfrm>
            <a:off x="6400800" y="3451860"/>
            <a:ext cx="4114800" cy="0"/>
          </a:xfrm>
          <a:prstGeom prst="line">
            <a:avLst/>
          </a:prstGeom>
          <a:noFill/>
          <a:ln w="15240">
            <a:solidFill>
              <a:srgbClr val="A9B8C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400800" y="5074920"/>
            <a:ext cx="0" cy="0"/>
          </a:xfrm>
          <a:prstGeom prst="line">
            <a:avLst/>
          </a:prstGeom>
          <a:noFill/>
          <a:ln w="15240">
            <a:solidFill>
              <a:srgbClr val="A9B8C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400800" y="5257800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484776" y="5052707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568751" y="4849244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652727" y="4648992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736702" y="4453431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820678" y="4263898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904653" y="4081559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6988629" y="3907382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7072604" y="3742127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7156580" y="3586342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7240555" y="3440374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7324531" y="3304380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7408506" y="3178349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7492482" y="3062122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7576457" y="2955423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7660433" y="2857876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7744408" y="2769036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7828384" y="2688405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7912359" y="2615454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7996335" y="2549640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8080310" y="2490417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8164286" y="2437247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8248261" y="2389612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8332237" y="2347014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8416212" y="2308983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8500188" y="2275082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8584163" y="2244900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8668139" y="2218062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8752114" y="2194223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8836090" y="2173067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8920065" y="2154307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9004041" y="2137684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9088016" y="2122965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9171992" y="2109939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9255967" y="2098416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9339943" y="2088229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9423918" y="2079226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9507894" y="2071271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9591869" y="2064246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9675845" y="2058043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9759820" y="2052567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9843796" y="2047735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9927771" y="2043471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10011747" y="2039708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10095722" y="2036390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10179698" y="2033463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7"/>
          <p:cNvSpPr/>
          <p:nvPr/>
        </p:nvSpPr>
        <p:spPr>
          <a:xfrm>
            <a:off x="10263673" y="2030882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8"/>
          <p:cNvSpPr/>
          <p:nvPr/>
        </p:nvSpPr>
        <p:spPr>
          <a:xfrm>
            <a:off x="10347649" y="2028605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10431624" y="2026598"/>
            <a:ext cx="83976" cy="0"/>
          </a:xfrm>
          <a:prstGeom prst="line">
            <a:avLst/>
          </a:prstGeom>
          <a:noFill/>
          <a:ln w="3048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Text 60"/>
          <p:cNvSpPr/>
          <p:nvPr/>
        </p:nvSpPr>
        <p:spPr>
          <a:xfrm>
            <a:off x="6080760" y="1700784"/>
            <a:ext cx="274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0469880" y="5330952"/>
            <a:ext cx="274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9372600" y="1828800"/>
            <a:ext cx="1097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70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saturation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778240" y="2148840"/>
            <a:ext cx="731520" cy="137160"/>
          </a:xfrm>
          <a:prstGeom prst="line">
            <a:avLst/>
          </a:prstGeom>
          <a:noFill/>
          <a:ln w="19050">
            <a:solidFill>
              <a:srgbClr val="FFB70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C4FF"/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2EC4FF">
              <a:alpha val="90000"/>
            </a:srgbClr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201400" y="6428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320040"/>
            <a:ext cx="9692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Induced voltage: Faraday’s law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804672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voltage is induced when flux linkage changes. The minus sign indicates Lenz’s law.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1298448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101B2F"/>
          </a:solidFill>
          <a:ln w="152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41248" y="1408176"/>
            <a:ext cx="371246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 = −N × dΦ/dt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2487168"/>
            <a:ext cx="4160520" cy="2423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 = number of turns linked by the flux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Φ = magnetic flux in webers (Wb)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dΦ/dt = rate of change of flux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Lenz’s law: induced current opposes the change causing it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0" y="2834640"/>
            <a:ext cx="1097280" cy="0"/>
          </a:xfrm>
          <a:prstGeom prst="line">
            <a:avLst/>
          </a:prstGeom>
          <a:noFill/>
          <a:ln w="30480">
            <a:solidFill>
              <a:srgbClr val="EF444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5532120" y="2176272"/>
            <a:ext cx="530352" cy="1298448"/>
          </a:xfrm>
          <a:prstGeom prst="rect">
            <a:avLst/>
          </a:prstGeom>
          <a:solidFill>
            <a:srgbClr val="DCEBFF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559552" y="2633472"/>
            <a:ext cx="47548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62472" y="2176272"/>
            <a:ext cx="530352" cy="1298448"/>
          </a:xfrm>
          <a:prstGeom prst="rect">
            <a:avLst/>
          </a:prstGeom>
          <a:solidFill>
            <a:srgbClr val="FFE5E5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089904" y="2633472"/>
            <a:ext cx="47548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818120" y="2121408"/>
            <a:ext cx="310896" cy="1408176"/>
          </a:xfrm>
          <a:prstGeom prst="arc">
            <a:avLst/>
          </a:prstGeom>
          <a:noFill/>
          <a:ln w="3048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8257032" y="2121408"/>
            <a:ext cx="310896" cy="1408176"/>
          </a:xfrm>
          <a:prstGeom prst="arc">
            <a:avLst/>
          </a:prstGeom>
          <a:noFill/>
          <a:ln w="3048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8695944" y="2121408"/>
            <a:ext cx="310896" cy="1408176"/>
          </a:xfrm>
          <a:prstGeom prst="arc">
            <a:avLst/>
          </a:prstGeom>
          <a:noFill/>
          <a:ln w="3048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9134856" y="2121408"/>
            <a:ext cx="310896" cy="1408176"/>
          </a:xfrm>
          <a:prstGeom prst="arc">
            <a:avLst/>
          </a:prstGeom>
          <a:noFill/>
          <a:ln w="3048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9573768" y="2121408"/>
            <a:ext cx="310896" cy="1408176"/>
          </a:xfrm>
          <a:prstGeom prst="arc">
            <a:avLst/>
          </a:prstGeom>
          <a:noFill/>
          <a:ln w="3048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10012680" y="2121408"/>
            <a:ext cx="310896" cy="1408176"/>
          </a:xfrm>
          <a:prstGeom prst="arc">
            <a:avLst/>
          </a:prstGeom>
          <a:noFill/>
          <a:ln w="3048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7315200" y="4754880"/>
            <a:ext cx="49349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7364549" y="4716641"/>
            <a:ext cx="49349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7413897" y="4678782"/>
            <a:ext cx="49349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7463246" y="4641680"/>
            <a:ext cx="49349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7512594" y="4605702"/>
            <a:ext cx="49349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7561943" y="4571208"/>
            <a:ext cx="49349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7611291" y="4538538"/>
            <a:ext cx="49349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7660640" y="4508019"/>
            <a:ext cx="49349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7709989" y="4479953"/>
            <a:ext cx="49349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7759337" y="4454619"/>
            <a:ext cx="49349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7808686" y="4432270"/>
            <a:ext cx="49349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7858034" y="4413127"/>
            <a:ext cx="49349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7907383" y="4397380"/>
            <a:ext cx="49349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7956731" y="4385186"/>
            <a:ext cx="49349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8006080" y="4376667"/>
            <a:ext cx="49349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8055429" y="4371906"/>
            <a:ext cx="49349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8104777" y="4370951"/>
            <a:ext cx="49349" cy="2861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8154126" y="4373813"/>
            <a:ext cx="49349" cy="6648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8203474" y="4380461"/>
            <a:ext cx="49349" cy="1037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8252823" y="4390830"/>
            <a:ext cx="49349" cy="13988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8302171" y="4404818"/>
            <a:ext cx="49349" cy="17467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8351520" y="4422285"/>
            <a:ext cx="49349" cy="20772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8400869" y="4443057"/>
            <a:ext cx="49349" cy="23871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8450217" y="4466928"/>
            <a:ext cx="49349" cy="26733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8499566" y="4493661"/>
            <a:ext cx="49349" cy="29329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8548914" y="4522990"/>
            <a:ext cx="49349" cy="31634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8598263" y="4554624"/>
            <a:ext cx="49349" cy="33624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8647611" y="4588248"/>
            <a:ext cx="49349" cy="3528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8696960" y="4623528"/>
            <a:ext cx="49349" cy="36585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8746309" y="4660113"/>
            <a:ext cx="49349" cy="37527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8795657" y="4697641"/>
            <a:ext cx="49349" cy="38096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8845006" y="4735737"/>
            <a:ext cx="49349" cy="38286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8894354" y="4774023"/>
            <a:ext cx="49349" cy="38096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8943703" y="4812119"/>
            <a:ext cx="49349" cy="37527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8993051" y="4849647"/>
            <a:ext cx="49349" cy="36585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9042400" y="4886232"/>
            <a:ext cx="49349" cy="3528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9091749" y="4921512"/>
            <a:ext cx="49349" cy="33624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7"/>
          <p:cNvSpPr/>
          <p:nvPr/>
        </p:nvSpPr>
        <p:spPr>
          <a:xfrm>
            <a:off x="9141097" y="4955136"/>
            <a:ext cx="49349" cy="31634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8"/>
          <p:cNvSpPr/>
          <p:nvPr/>
        </p:nvSpPr>
        <p:spPr>
          <a:xfrm>
            <a:off x="9190446" y="4986770"/>
            <a:ext cx="49349" cy="29329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9239794" y="5016099"/>
            <a:ext cx="49349" cy="26733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9289143" y="5042832"/>
            <a:ext cx="49349" cy="23871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9338491" y="5066703"/>
            <a:ext cx="49349" cy="20772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9387840" y="5087475"/>
            <a:ext cx="49349" cy="17467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9437189" y="5104942"/>
            <a:ext cx="49349" cy="13988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Shape 64"/>
          <p:cNvSpPr/>
          <p:nvPr/>
        </p:nvSpPr>
        <p:spPr>
          <a:xfrm>
            <a:off x="9486537" y="5118930"/>
            <a:ext cx="49349" cy="1037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65"/>
          <p:cNvSpPr/>
          <p:nvPr/>
        </p:nvSpPr>
        <p:spPr>
          <a:xfrm>
            <a:off x="9535886" y="5129299"/>
            <a:ext cx="49349" cy="6648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Shape 66"/>
          <p:cNvSpPr/>
          <p:nvPr/>
        </p:nvSpPr>
        <p:spPr>
          <a:xfrm>
            <a:off x="9585234" y="5135947"/>
            <a:ext cx="49349" cy="2861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Shape 67"/>
          <p:cNvSpPr/>
          <p:nvPr/>
        </p:nvSpPr>
        <p:spPr>
          <a:xfrm>
            <a:off x="9634583" y="5138809"/>
            <a:ext cx="49349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Shape 68"/>
          <p:cNvSpPr/>
          <p:nvPr/>
        </p:nvSpPr>
        <p:spPr>
          <a:xfrm>
            <a:off x="9683931" y="5137854"/>
            <a:ext cx="49349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Shape 69"/>
          <p:cNvSpPr/>
          <p:nvPr/>
        </p:nvSpPr>
        <p:spPr>
          <a:xfrm>
            <a:off x="9733280" y="5133093"/>
            <a:ext cx="49349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Shape 70"/>
          <p:cNvSpPr/>
          <p:nvPr/>
        </p:nvSpPr>
        <p:spPr>
          <a:xfrm>
            <a:off x="9782629" y="5124574"/>
            <a:ext cx="49349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71"/>
          <p:cNvSpPr/>
          <p:nvPr/>
        </p:nvSpPr>
        <p:spPr>
          <a:xfrm>
            <a:off x="9831977" y="5112380"/>
            <a:ext cx="49349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Shape 72"/>
          <p:cNvSpPr/>
          <p:nvPr/>
        </p:nvSpPr>
        <p:spPr>
          <a:xfrm>
            <a:off x="9881326" y="5096633"/>
            <a:ext cx="49349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3"/>
          <p:cNvSpPr/>
          <p:nvPr/>
        </p:nvSpPr>
        <p:spPr>
          <a:xfrm>
            <a:off x="9930674" y="5077490"/>
            <a:ext cx="49349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Shape 74"/>
          <p:cNvSpPr/>
          <p:nvPr/>
        </p:nvSpPr>
        <p:spPr>
          <a:xfrm>
            <a:off x="9980023" y="5055141"/>
            <a:ext cx="49349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Shape 75"/>
          <p:cNvSpPr/>
          <p:nvPr/>
        </p:nvSpPr>
        <p:spPr>
          <a:xfrm>
            <a:off x="10029371" y="5029807"/>
            <a:ext cx="49349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Shape 76"/>
          <p:cNvSpPr/>
          <p:nvPr/>
        </p:nvSpPr>
        <p:spPr>
          <a:xfrm>
            <a:off x="10078720" y="5001741"/>
            <a:ext cx="49349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Shape 77"/>
          <p:cNvSpPr/>
          <p:nvPr/>
        </p:nvSpPr>
        <p:spPr>
          <a:xfrm>
            <a:off x="10128069" y="4971222"/>
            <a:ext cx="49349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Shape 78"/>
          <p:cNvSpPr/>
          <p:nvPr/>
        </p:nvSpPr>
        <p:spPr>
          <a:xfrm>
            <a:off x="10177417" y="4938552"/>
            <a:ext cx="49349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Shape 79"/>
          <p:cNvSpPr/>
          <p:nvPr/>
        </p:nvSpPr>
        <p:spPr>
          <a:xfrm>
            <a:off x="10226766" y="4904058"/>
            <a:ext cx="49349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Shape 80"/>
          <p:cNvSpPr/>
          <p:nvPr/>
        </p:nvSpPr>
        <p:spPr>
          <a:xfrm>
            <a:off x="10276114" y="4868080"/>
            <a:ext cx="49349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Shape 81"/>
          <p:cNvSpPr/>
          <p:nvPr/>
        </p:nvSpPr>
        <p:spPr>
          <a:xfrm>
            <a:off x="10325463" y="4830978"/>
            <a:ext cx="49349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Shape 82"/>
          <p:cNvSpPr/>
          <p:nvPr/>
        </p:nvSpPr>
        <p:spPr>
          <a:xfrm>
            <a:off x="10374811" y="4793119"/>
            <a:ext cx="49349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Shape 83"/>
          <p:cNvSpPr/>
          <p:nvPr/>
        </p:nvSpPr>
        <p:spPr>
          <a:xfrm>
            <a:off x="7178040" y="4754880"/>
            <a:ext cx="3337560" cy="0"/>
          </a:xfrm>
          <a:prstGeom prst="line">
            <a:avLst/>
          </a:prstGeom>
          <a:noFill/>
          <a:ln w="15240">
            <a:solidFill>
              <a:srgbClr val="A9B8C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6" name="Shape 84"/>
          <p:cNvSpPr/>
          <p:nvPr/>
        </p:nvSpPr>
        <p:spPr>
          <a:xfrm>
            <a:off x="7178040" y="5257800"/>
            <a:ext cx="0" cy="0"/>
          </a:xfrm>
          <a:prstGeom prst="line">
            <a:avLst/>
          </a:prstGeom>
          <a:noFill/>
          <a:ln w="15240">
            <a:solidFill>
              <a:srgbClr val="A9B8C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7" name="Text 85"/>
          <p:cNvSpPr/>
          <p:nvPr/>
        </p:nvSpPr>
        <p:spPr>
          <a:xfrm>
            <a:off x="7315200" y="1847088"/>
            <a:ext cx="2286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8B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changing Φ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8065008" y="5340096"/>
            <a:ext cx="1188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induced 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C4FF"/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2EC4FF">
              <a:alpha val="90000"/>
            </a:srgbClr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201400" y="6428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320040"/>
            <a:ext cx="9692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Generator EMF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804672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rotating coil changes its flux linkage, producing an alternating voltage.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77240" y="1426464"/>
            <a:ext cx="4343400" cy="2487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Coil rotates in a magnetic field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Flux linkage varies sinusoidally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EMF is greatest when the coil sides cut the field fastest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Output frequency depends on rotational speed and pole count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68680" y="4773168"/>
            <a:ext cx="3657600" cy="603504"/>
          </a:xfrm>
          <a:prstGeom prst="roundRect">
            <a:avLst>
              <a:gd name="adj" fmla="val 12121"/>
            </a:avLst>
          </a:prstGeom>
          <a:solidFill>
            <a:srgbClr val="111827"/>
          </a:solidFill>
          <a:ln w="152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78408" y="4882896"/>
            <a:ext cx="34381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e(t) is sinusoidal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400800" y="1417320"/>
            <a:ext cx="713232" cy="2606040"/>
          </a:xfrm>
          <a:prstGeom prst="rect">
            <a:avLst/>
          </a:prstGeom>
          <a:solidFill>
            <a:srgbClr val="DCEBFF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400800" y="2555748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</a:rPr>
              <a:t>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268712" y="1417320"/>
            <a:ext cx="713232" cy="2606040"/>
          </a:xfrm>
          <a:prstGeom prst="rect">
            <a:avLst/>
          </a:prstGeom>
          <a:solidFill>
            <a:srgbClr val="FFE5E5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0268712" y="2555748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</a:rPr>
              <a:t>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269480" y="1783080"/>
            <a:ext cx="219456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7269480" y="2112264"/>
            <a:ext cx="219456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7269480" y="2441448"/>
            <a:ext cx="219456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7269480" y="2770632"/>
            <a:ext cx="219456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7269480" y="3099816"/>
            <a:ext cx="219456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7269480" y="3429000"/>
            <a:ext cx="219456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7863840" y="3154680"/>
            <a:ext cx="1051560" cy="0"/>
          </a:xfrm>
          <a:prstGeom prst="line">
            <a:avLst/>
          </a:prstGeom>
          <a:noFill/>
          <a:ln w="5080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8183880" y="3474720"/>
            <a:ext cx="1051560" cy="0"/>
          </a:xfrm>
          <a:prstGeom prst="line">
            <a:avLst/>
          </a:prstGeom>
          <a:noFill/>
          <a:ln w="5080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7863840" y="3154680"/>
            <a:ext cx="320040" cy="320040"/>
          </a:xfrm>
          <a:prstGeom prst="line">
            <a:avLst/>
          </a:prstGeom>
          <a:noFill/>
          <a:ln w="5080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8915400" y="2103120"/>
            <a:ext cx="320040" cy="320040"/>
          </a:xfrm>
          <a:prstGeom prst="line">
            <a:avLst/>
          </a:prstGeom>
          <a:noFill/>
          <a:ln w="5080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8915400" y="1938528"/>
            <a:ext cx="0" cy="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720840" y="5006340"/>
            <a:ext cx="3383280" cy="0"/>
          </a:xfrm>
          <a:prstGeom prst="line">
            <a:avLst/>
          </a:prstGeom>
          <a:noFill/>
          <a:ln w="15240">
            <a:solidFill>
              <a:srgbClr val="A9B8C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6720840" y="5577840"/>
            <a:ext cx="0" cy="0"/>
          </a:xfrm>
          <a:prstGeom prst="line">
            <a:avLst/>
          </a:prstGeom>
          <a:noFill/>
          <a:ln w="15240">
            <a:solidFill>
              <a:srgbClr val="A9B8C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6858000" y="4983480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6906623" y="4941417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6955246" y="4899773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7003869" y="4858960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7052491" y="4819385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7101114" y="4781440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7149737" y="4745504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7198360" y="4711933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7246983" y="4681060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7295606" y="4653193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7344229" y="4628609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7392851" y="4607551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7441474" y="4590230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7490097" y="4576817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7538720" y="4567445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7587343" y="4562208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7635966" y="4561159"/>
            <a:ext cx="48623" cy="3147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7684589" y="4564306"/>
            <a:ext cx="48623" cy="7313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7733211" y="4571619"/>
            <a:ext cx="48623" cy="11406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7781834" y="4583025"/>
            <a:ext cx="48623" cy="15386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7830457" y="4598412"/>
            <a:ext cx="48623" cy="19213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7879080" y="4617625"/>
            <a:ext cx="48623" cy="22849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7927703" y="4640475"/>
            <a:ext cx="48623" cy="26258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7976326" y="4666733"/>
            <a:ext cx="48623" cy="29406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8024949" y="4696139"/>
            <a:ext cx="48623" cy="32262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8073571" y="4728401"/>
            <a:ext cx="48623" cy="34797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8122194" y="4763198"/>
            <a:ext cx="48623" cy="36986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8170817" y="4800185"/>
            <a:ext cx="48623" cy="38808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8219440" y="4838993"/>
            <a:ext cx="48623" cy="40244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8268063" y="4879237"/>
            <a:ext cx="48623" cy="4128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8316686" y="4920517"/>
            <a:ext cx="48623" cy="41906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7"/>
          <p:cNvSpPr/>
          <p:nvPr/>
        </p:nvSpPr>
        <p:spPr>
          <a:xfrm>
            <a:off x="8365309" y="4962422"/>
            <a:ext cx="48623" cy="42115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8"/>
          <p:cNvSpPr/>
          <p:nvPr/>
        </p:nvSpPr>
        <p:spPr>
          <a:xfrm>
            <a:off x="8413931" y="5004538"/>
            <a:ext cx="48623" cy="41906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8462554" y="5046443"/>
            <a:ext cx="48623" cy="4128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8511177" y="5087723"/>
            <a:ext cx="48623" cy="40244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8559800" y="5127967"/>
            <a:ext cx="48623" cy="38808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8608423" y="5166775"/>
            <a:ext cx="48623" cy="36986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8657046" y="5203762"/>
            <a:ext cx="48623" cy="34797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Shape 64"/>
          <p:cNvSpPr/>
          <p:nvPr/>
        </p:nvSpPr>
        <p:spPr>
          <a:xfrm>
            <a:off x="8705669" y="5238559"/>
            <a:ext cx="48623" cy="32262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65"/>
          <p:cNvSpPr/>
          <p:nvPr/>
        </p:nvSpPr>
        <p:spPr>
          <a:xfrm>
            <a:off x="8754291" y="5270821"/>
            <a:ext cx="48623" cy="29406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Shape 66"/>
          <p:cNvSpPr/>
          <p:nvPr/>
        </p:nvSpPr>
        <p:spPr>
          <a:xfrm>
            <a:off x="8802914" y="5300227"/>
            <a:ext cx="48623" cy="26258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Shape 67"/>
          <p:cNvSpPr/>
          <p:nvPr/>
        </p:nvSpPr>
        <p:spPr>
          <a:xfrm>
            <a:off x="8851537" y="5326485"/>
            <a:ext cx="48623" cy="22849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Shape 68"/>
          <p:cNvSpPr/>
          <p:nvPr/>
        </p:nvSpPr>
        <p:spPr>
          <a:xfrm>
            <a:off x="8900160" y="5349335"/>
            <a:ext cx="48623" cy="19213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Shape 69"/>
          <p:cNvSpPr/>
          <p:nvPr/>
        </p:nvSpPr>
        <p:spPr>
          <a:xfrm>
            <a:off x="8948783" y="5368548"/>
            <a:ext cx="48623" cy="15386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Shape 70"/>
          <p:cNvSpPr/>
          <p:nvPr/>
        </p:nvSpPr>
        <p:spPr>
          <a:xfrm>
            <a:off x="8997406" y="5383935"/>
            <a:ext cx="48623" cy="11406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71"/>
          <p:cNvSpPr/>
          <p:nvPr/>
        </p:nvSpPr>
        <p:spPr>
          <a:xfrm>
            <a:off x="9046029" y="5395341"/>
            <a:ext cx="48623" cy="7313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Shape 72"/>
          <p:cNvSpPr/>
          <p:nvPr/>
        </p:nvSpPr>
        <p:spPr>
          <a:xfrm>
            <a:off x="9094651" y="5402654"/>
            <a:ext cx="48623" cy="3147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3"/>
          <p:cNvSpPr/>
          <p:nvPr/>
        </p:nvSpPr>
        <p:spPr>
          <a:xfrm>
            <a:off x="9143274" y="5405801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Shape 74"/>
          <p:cNvSpPr/>
          <p:nvPr/>
        </p:nvSpPr>
        <p:spPr>
          <a:xfrm>
            <a:off x="9191897" y="5404752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Shape 75"/>
          <p:cNvSpPr/>
          <p:nvPr/>
        </p:nvSpPr>
        <p:spPr>
          <a:xfrm>
            <a:off x="9240520" y="5399515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Shape 76"/>
          <p:cNvSpPr/>
          <p:nvPr/>
        </p:nvSpPr>
        <p:spPr>
          <a:xfrm>
            <a:off x="9289143" y="5390143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Shape 77"/>
          <p:cNvSpPr/>
          <p:nvPr/>
        </p:nvSpPr>
        <p:spPr>
          <a:xfrm>
            <a:off x="9337766" y="5376730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Shape 78"/>
          <p:cNvSpPr/>
          <p:nvPr/>
        </p:nvSpPr>
        <p:spPr>
          <a:xfrm>
            <a:off x="9386389" y="5359409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Shape 79"/>
          <p:cNvSpPr/>
          <p:nvPr/>
        </p:nvSpPr>
        <p:spPr>
          <a:xfrm>
            <a:off x="9435011" y="5338351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Shape 80"/>
          <p:cNvSpPr/>
          <p:nvPr/>
        </p:nvSpPr>
        <p:spPr>
          <a:xfrm>
            <a:off x="9483634" y="5313767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Shape 81"/>
          <p:cNvSpPr/>
          <p:nvPr/>
        </p:nvSpPr>
        <p:spPr>
          <a:xfrm>
            <a:off x="9532257" y="5285900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Shape 82"/>
          <p:cNvSpPr/>
          <p:nvPr/>
        </p:nvSpPr>
        <p:spPr>
          <a:xfrm>
            <a:off x="9580880" y="5255027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Shape 83"/>
          <p:cNvSpPr/>
          <p:nvPr/>
        </p:nvSpPr>
        <p:spPr>
          <a:xfrm>
            <a:off x="9629503" y="5221456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Shape 84"/>
          <p:cNvSpPr/>
          <p:nvPr/>
        </p:nvSpPr>
        <p:spPr>
          <a:xfrm>
            <a:off x="9678126" y="5185520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7" name="Shape 85"/>
          <p:cNvSpPr/>
          <p:nvPr/>
        </p:nvSpPr>
        <p:spPr>
          <a:xfrm>
            <a:off x="9726749" y="5147575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Shape 86"/>
          <p:cNvSpPr/>
          <p:nvPr/>
        </p:nvSpPr>
        <p:spPr>
          <a:xfrm>
            <a:off x="9775371" y="5108000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9" name="Shape 87"/>
          <p:cNvSpPr/>
          <p:nvPr/>
        </p:nvSpPr>
        <p:spPr>
          <a:xfrm>
            <a:off x="9823994" y="5067187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Shape 88"/>
          <p:cNvSpPr/>
          <p:nvPr/>
        </p:nvSpPr>
        <p:spPr>
          <a:xfrm>
            <a:off x="9872617" y="5025543"/>
            <a:ext cx="48623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Text 89"/>
          <p:cNvSpPr/>
          <p:nvPr/>
        </p:nvSpPr>
        <p:spPr>
          <a:xfrm>
            <a:off x="7863840" y="5687568"/>
            <a:ext cx="1280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 output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C4FF"/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2EC4FF">
              <a:alpha val="90000"/>
            </a:srgbClr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201400" y="6428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320040"/>
            <a:ext cx="9692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Generator EMF from straight-line motion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804672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conductor moving through a magnetic field cuts flux and generates a motional EMF.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" y="1298448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101B2F"/>
          </a:solidFill>
          <a:ln w="152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95528" y="1408176"/>
            <a:ext cx="325526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 = B × l × v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77240" y="2487168"/>
            <a:ext cx="4480560" cy="2423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 = flux density (T)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 = active conductor length (m)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 = velocity at right angles to the field (m/s)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Maximum when conductor, motion and field are mutually perpendicular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0" y="1463040"/>
            <a:ext cx="777240" cy="3246120"/>
          </a:xfrm>
          <a:prstGeom prst="rect">
            <a:avLst/>
          </a:prstGeom>
          <a:solidFill>
            <a:srgbClr val="DCEBFF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400800" y="292150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</a:rPr>
              <a:t>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241280" y="1463040"/>
            <a:ext cx="777240" cy="3246120"/>
          </a:xfrm>
          <a:prstGeom prst="rect">
            <a:avLst/>
          </a:prstGeom>
          <a:solidFill>
            <a:srgbClr val="FFE5E5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0241280" y="292150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</a:rPr>
              <a:t>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0" y="1828800"/>
            <a:ext cx="214884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7315200" y="2185416"/>
            <a:ext cx="214884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7315200" y="2542032"/>
            <a:ext cx="214884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7315200" y="2898648"/>
            <a:ext cx="214884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7315200" y="3255264"/>
            <a:ext cx="214884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7315200" y="3611880"/>
            <a:ext cx="214884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7315200" y="3968496"/>
            <a:ext cx="2148840" cy="0"/>
          </a:xfrm>
          <a:prstGeom prst="line">
            <a:avLst/>
          </a:prstGeom>
          <a:noFill/>
          <a:ln w="2286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8138160" y="2148840"/>
            <a:ext cx="274320" cy="1508760"/>
          </a:xfrm>
          <a:prstGeom prst="roundRect">
            <a:avLst>
              <a:gd name="adj" fmla="val 10000"/>
            </a:avLst>
          </a:prstGeom>
          <a:solidFill>
            <a:srgbClr val="FB8500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8275320" y="1938528"/>
            <a:ext cx="0" cy="0"/>
          </a:xfrm>
          <a:prstGeom prst="line">
            <a:avLst/>
          </a:prstGeom>
          <a:noFill/>
          <a:ln w="33020">
            <a:solidFill>
              <a:srgbClr val="EF444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394192" y="1645920"/>
            <a:ext cx="320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909560" y="2148840"/>
            <a:ext cx="0" cy="1508760"/>
          </a:xfrm>
          <a:prstGeom prst="line">
            <a:avLst/>
          </a:prstGeom>
          <a:noFill/>
          <a:ln w="19050">
            <a:solidFill>
              <a:srgbClr val="FFB703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7635240" y="2724912"/>
            <a:ext cx="228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B70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72200" y="5166360"/>
            <a:ext cx="448056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52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6281928" y="5276088"/>
            <a:ext cx="426110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0.6 × 0.15 × 8 = 0.72 V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C4FF"/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2EC4FF">
              <a:alpha val="90000"/>
            </a:srgbClr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201400" y="6428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320040"/>
            <a:ext cx="9692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Transformer induced voltage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804672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sinusoidal core flux induces voltage in each winding.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94360" y="123444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101B2F"/>
          </a:solidFill>
          <a:ln w="152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04088" y="1344168"/>
            <a:ext cx="448970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Emax = N × A × B × ω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94360" y="2176272"/>
            <a:ext cx="4709160" cy="603504"/>
          </a:xfrm>
          <a:prstGeom prst="roundRect">
            <a:avLst>
              <a:gd name="adj" fmla="val 12121"/>
            </a:avLst>
          </a:prstGeom>
          <a:solidFill>
            <a:srgbClr val="111827"/>
          </a:solidFill>
          <a:ln w="152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04088" y="2286000"/>
            <a:ext cx="44897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ω = (2 × π × n) / 60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5800" y="3063240"/>
            <a:ext cx="452628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 = turns on the winding</a:t>
            </a:r>
            <a:endParaRPr lang="en-US" sz="1470" dirty="0"/>
          </a:p>
          <a:p>
            <a:pPr marL="0" indent="0">
              <a:buNone/>
            </a:pPr>
            <a:r>
              <a:rPr lang="en-US" sz="147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= core cross-sectional area (m²)</a:t>
            </a:r>
            <a:endParaRPr lang="en-US" sz="1470" dirty="0"/>
          </a:p>
          <a:p>
            <a:pPr marL="0" indent="0">
              <a:buNone/>
            </a:pPr>
            <a:r>
              <a:rPr lang="en-US" sz="147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 = peak flux density (T)</a:t>
            </a:r>
            <a:endParaRPr lang="en-US" sz="1470" dirty="0"/>
          </a:p>
          <a:p>
            <a:pPr marL="0" indent="0">
              <a:buNone/>
            </a:pPr>
            <a:r>
              <a:rPr lang="en-US" sz="147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ω = angular speed in rad/s</a:t>
            </a:r>
            <a:endParaRPr lang="en-US" sz="1470" dirty="0"/>
          </a:p>
          <a:p>
            <a:pPr marL="0" indent="0">
              <a:buNone/>
            </a:pPr>
            <a:r>
              <a:rPr lang="en-US" sz="147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 = rotational speed in rpm for the equivalent rotating field</a:t>
            </a:r>
            <a:endParaRPr lang="en-US" sz="1470" dirty="0"/>
          </a:p>
        </p:txBody>
      </p:sp>
      <p:sp>
        <p:nvSpPr>
          <p:cNvPr id="13" name="Shape 11"/>
          <p:cNvSpPr/>
          <p:nvPr/>
        </p:nvSpPr>
        <p:spPr>
          <a:xfrm>
            <a:off x="6629400" y="1417320"/>
            <a:ext cx="3246120" cy="475488"/>
          </a:xfrm>
          <a:prstGeom prst="rect">
            <a:avLst/>
          </a:prstGeom>
          <a:solidFill>
            <a:srgbClr val="64748B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629400" y="4553712"/>
            <a:ext cx="3246120" cy="475488"/>
          </a:xfrm>
          <a:prstGeom prst="rect">
            <a:avLst/>
          </a:prstGeom>
          <a:solidFill>
            <a:srgbClr val="64748B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629400" y="1892808"/>
            <a:ext cx="475488" cy="2660904"/>
          </a:xfrm>
          <a:prstGeom prst="rect">
            <a:avLst/>
          </a:prstGeom>
          <a:solidFill>
            <a:srgbClr val="64748B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9400032" y="1892808"/>
            <a:ext cx="475488" cy="2660904"/>
          </a:xfrm>
          <a:prstGeom prst="rect">
            <a:avLst/>
          </a:prstGeom>
          <a:solidFill>
            <a:srgbClr val="64748B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382512" y="2139696"/>
            <a:ext cx="749808" cy="0"/>
          </a:xfrm>
          <a:prstGeom prst="line">
            <a:avLst/>
          </a:prstGeom>
          <a:noFill/>
          <a:ln w="508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382512" y="2377440"/>
            <a:ext cx="749808" cy="0"/>
          </a:xfrm>
          <a:prstGeom prst="line">
            <a:avLst/>
          </a:prstGeom>
          <a:noFill/>
          <a:ln w="508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382512" y="2615184"/>
            <a:ext cx="749808" cy="0"/>
          </a:xfrm>
          <a:prstGeom prst="line">
            <a:avLst/>
          </a:prstGeom>
          <a:noFill/>
          <a:ln w="508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6382512" y="2852928"/>
            <a:ext cx="749808" cy="0"/>
          </a:xfrm>
          <a:prstGeom prst="line">
            <a:avLst/>
          </a:prstGeom>
          <a:noFill/>
          <a:ln w="508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6382512" y="3090672"/>
            <a:ext cx="749808" cy="0"/>
          </a:xfrm>
          <a:prstGeom prst="line">
            <a:avLst/>
          </a:prstGeom>
          <a:noFill/>
          <a:ln w="508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382512" y="3328416"/>
            <a:ext cx="749808" cy="0"/>
          </a:xfrm>
          <a:prstGeom prst="line">
            <a:avLst/>
          </a:prstGeom>
          <a:noFill/>
          <a:ln w="508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9400032" y="2139696"/>
            <a:ext cx="749808" cy="0"/>
          </a:xfrm>
          <a:prstGeom prst="line">
            <a:avLst/>
          </a:prstGeom>
          <a:noFill/>
          <a:ln w="508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9400032" y="2377440"/>
            <a:ext cx="749808" cy="0"/>
          </a:xfrm>
          <a:prstGeom prst="line">
            <a:avLst/>
          </a:prstGeom>
          <a:noFill/>
          <a:ln w="508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9400032" y="2615184"/>
            <a:ext cx="749808" cy="0"/>
          </a:xfrm>
          <a:prstGeom prst="line">
            <a:avLst/>
          </a:prstGeom>
          <a:noFill/>
          <a:ln w="508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9400032" y="2852928"/>
            <a:ext cx="749808" cy="0"/>
          </a:xfrm>
          <a:prstGeom prst="line">
            <a:avLst/>
          </a:prstGeom>
          <a:noFill/>
          <a:ln w="508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9400032" y="3090672"/>
            <a:ext cx="749808" cy="0"/>
          </a:xfrm>
          <a:prstGeom prst="line">
            <a:avLst/>
          </a:prstGeom>
          <a:noFill/>
          <a:ln w="508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9400032" y="3328416"/>
            <a:ext cx="749808" cy="0"/>
          </a:xfrm>
          <a:prstGeom prst="line">
            <a:avLst/>
          </a:prstGeom>
          <a:noFill/>
          <a:ln w="508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5989320" y="5756148"/>
            <a:ext cx="22497" cy="0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6011817" y="5735117"/>
            <a:ext cx="22497" cy="0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6034314" y="5714294"/>
            <a:ext cx="22497" cy="0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6056811" y="5693888"/>
            <a:ext cx="22497" cy="0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6079309" y="5674100"/>
            <a:ext cx="22497" cy="0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6101806" y="5655128"/>
            <a:ext cx="22497" cy="0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6124303" y="5637160"/>
            <a:ext cx="22497" cy="0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6146800" y="5620374"/>
            <a:ext cx="22497" cy="0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6169297" y="5604938"/>
            <a:ext cx="22497" cy="0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6191794" y="5591005"/>
            <a:ext cx="22497" cy="0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6214291" y="5578712"/>
            <a:ext cx="22497" cy="0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6236789" y="5568184"/>
            <a:ext cx="22497" cy="0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6259286" y="5559523"/>
            <a:ext cx="22497" cy="0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6281783" y="5552816"/>
            <a:ext cx="22497" cy="0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6304280" y="5548131"/>
            <a:ext cx="22497" cy="0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6326777" y="5545512"/>
            <a:ext cx="22497" cy="0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6349274" y="5544987"/>
            <a:ext cx="22497" cy="1574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6371771" y="5546561"/>
            <a:ext cx="22497" cy="3657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6394269" y="5550217"/>
            <a:ext cx="22497" cy="5703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6416766" y="5555921"/>
            <a:ext cx="22497" cy="7693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6439263" y="5563614"/>
            <a:ext cx="22497" cy="9607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6461760" y="5573221"/>
            <a:ext cx="22497" cy="11425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6484257" y="5584645"/>
            <a:ext cx="22497" cy="13129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6506754" y="5597774"/>
            <a:ext cx="22497" cy="14703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6529251" y="5612478"/>
            <a:ext cx="22497" cy="16131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6551749" y="5628609"/>
            <a:ext cx="22497" cy="17399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6574246" y="5646007"/>
            <a:ext cx="22497" cy="18493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6596743" y="5664500"/>
            <a:ext cx="22497" cy="19404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6619240" y="5683904"/>
            <a:ext cx="22497" cy="20122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6641737" y="5704026"/>
            <a:ext cx="22497" cy="20640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7"/>
          <p:cNvSpPr/>
          <p:nvPr/>
        </p:nvSpPr>
        <p:spPr>
          <a:xfrm>
            <a:off x="6664234" y="5724666"/>
            <a:ext cx="22497" cy="20953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8"/>
          <p:cNvSpPr/>
          <p:nvPr/>
        </p:nvSpPr>
        <p:spPr>
          <a:xfrm>
            <a:off x="6686731" y="5745619"/>
            <a:ext cx="22497" cy="21058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6709229" y="5766677"/>
            <a:ext cx="22497" cy="20953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6731726" y="5787630"/>
            <a:ext cx="22497" cy="20640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6754223" y="5808270"/>
            <a:ext cx="22497" cy="20122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6776720" y="5828392"/>
            <a:ext cx="22497" cy="19404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6799217" y="5847796"/>
            <a:ext cx="22497" cy="18493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Shape 64"/>
          <p:cNvSpPr/>
          <p:nvPr/>
        </p:nvSpPr>
        <p:spPr>
          <a:xfrm>
            <a:off x="6821714" y="5866289"/>
            <a:ext cx="22497" cy="17399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65"/>
          <p:cNvSpPr/>
          <p:nvPr/>
        </p:nvSpPr>
        <p:spPr>
          <a:xfrm>
            <a:off x="6844211" y="5883687"/>
            <a:ext cx="22497" cy="16131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Shape 66"/>
          <p:cNvSpPr/>
          <p:nvPr/>
        </p:nvSpPr>
        <p:spPr>
          <a:xfrm>
            <a:off x="6866709" y="5899818"/>
            <a:ext cx="22497" cy="14703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Shape 67"/>
          <p:cNvSpPr/>
          <p:nvPr/>
        </p:nvSpPr>
        <p:spPr>
          <a:xfrm>
            <a:off x="6889206" y="5914522"/>
            <a:ext cx="22497" cy="13129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Shape 68"/>
          <p:cNvSpPr/>
          <p:nvPr/>
        </p:nvSpPr>
        <p:spPr>
          <a:xfrm>
            <a:off x="6911703" y="5927651"/>
            <a:ext cx="22497" cy="11425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Shape 69"/>
          <p:cNvSpPr/>
          <p:nvPr/>
        </p:nvSpPr>
        <p:spPr>
          <a:xfrm>
            <a:off x="6934200" y="5939075"/>
            <a:ext cx="22497" cy="9607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Shape 70"/>
          <p:cNvSpPr/>
          <p:nvPr/>
        </p:nvSpPr>
        <p:spPr>
          <a:xfrm>
            <a:off x="6956697" y="5948682"/>
            <a:ext cx="22497" cy="7693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71"/>
          <p:cNvSpPr/>
          <p:nvPr/>
        </p:nvSpPr>
        <p:spPr>
          <a:xfrm>
            <a:off x="6979194" y="5956375"/>
            <a:ext cx="22497" cy="5703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Shape 72"/>
          <p:cNvSpPr/>
          <p:nvPr/>
        </p:nvSpPr>
        <p:spPr>
          <a:xfrm>
            <a:off x="7001691" y="5962079"/>
            <a:ext cx="22497" cy="3657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3"/>
          <p:cNvSpPr/>
          <p:nvPr/>
        </p:nvSpPr>
        <p:spPr>
          <a:xfrm>
            <a:off x="7024189" y="5965735"/>
            <a:ext cx="22497" cy="1574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Shape 74"/>
          <p:cNvSpPr/>
          <p:nvPr/>
        </p:nvSpPr>
        <p:spPr>
          <a:xfrm>
            <a:off x="7046686" y="5967309"/>
            <a:ext cx="22497" cy="0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Shape 75"/>
          <p:cNvSpPr/>
          <p:nvPr/>
        </p:nvSpPr>
        <p:spPr>
          <a:xfrm>
            <a:off x="7069183" y="5966784"/>
            <a:ext cx="22497" cy="0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Shape 76"/>
          <p:cNvSpPr/>
          <p:nvPr/>
        </p:nvSpPr>
        <p:spPr>
          <a:xfrm>
            <a:off x="7091680" y="5964165"/>
            <a:ext cx="22497" cy="0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Shape 77"/>
          <p:cNvSpPr/>
          <p:nvPr/>
        </p:nvSpPr>
        <p:spPr>
          <a:xfrm>
            <a:off x="7114177" y="5959480"/>
            <a:ext cx="22497" cy="0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Shape 78"/>
          <p:cNvSpPr/>
          <p:nvPr/>
        </p:nvSpPr>
        <p:spPr>
          <a:xfrm>
            <a:off x="7136674" y="5952773"/>
            <a:ext cx="22497" cy="0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Shape 79"/>
          <p:cNvSpPr/>
          <p:nvPr/>
        </p:nvSpPr>
        <p:spPr>
          <a:xfrm>
            <a:off x="7159171" y="5944112"/>
            <a:ext cx="22497" cy="0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Shape 80"/>
          <p:cNvSpPr/>
          <p:nvPr/>
        </p:nvSpPr>
        <p:spPr>
          <a:xfrm>
            <a:off x="7181669" y="5933584"/>
            <a:ext cx="22497" cy="0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Shape 81"/>
          <p:cNvSpPr/>
          <p:nvPr/>
        </p:nvSpPr>
        <p:spPr>
          <a:xfrm>
            <a:off x="7204166" y="5921291"/>
            <a:ext cx="22497" cy="0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Shape 82"/>
          <p:cNvSpPr/>
          <p:nvPr/>
        </p:nvSpPr>
        <p:spPr>
          <a:xfrm>
            <a:off x="7226663" y="5907358"/>
            <a:ext cx="22497" cy="0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Shape 83"/>
          <p:cNvSpPr/>
          <p:nvPr/>
        </p:nvSpPr>
        <p:spPr>
          <a:xfrm>
            <a:off x="7249160" y="5891922"/>
            <a:ext cx="22497" cy="0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Shape 84"/>
          <p:cNvSpPr/>
          <p:nvPr/>
        </p:nvSpPr>
        <p:spPr>
          <a:xfrm>
            <a:off x="7271657" y="5875136"/>
            <a:ext cx="22497" cy="0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7" name="Shape 85"/>
          <p:cNvSpPr/>
          <p:nvPr/>
        </p:nvSpPr>
        <p:spPr>
          <a:xfrm>
            <a:off x="7294154" y="5857168"/>
            <a:ext cx="22497" cy="0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Shape 86"/>
          <p:cNvSpPr/>
          <p:nvPr/>
        </p:nvSpPr>
        <p:spPr>
          <a:xfrm>
            <a:off x="7316651" y="5838196"/>
            <a:ext cx="22497" cy="0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9" name="Shape 87"/>
          <p:cNvSpPr/>
          <p:nvPr/>
        </p:nvSpPr>
        <p:spPr>
          <a:xfrm>
            <a:off x="7339149" y="5818408"/>
            <a:ext cx="22497" cy="0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Shape 88"/>
          <p:cNvSpPr/>
          <p:nvPr/>
        </p:nvSpPr>
        <p:spPr>
          <a:xfrm>
            <a:off x="7361646" y="5798002"/>
            <a:ext cx="22497" cy="0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Shape 89"/>
          <p:cNvSpPr/>
          <p:nvPr/>
        </p:nvSpPr>
        <p:spPr>
          <a:xfrm>
            <a:off x="7384143" y="5777179"/>
            <a:ext cx="22497" cy="0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2" name="Shape 90"/>
          <p:cNvSpPr/>
          <p:nvPr/>
        </p:nvSpPr>
        <p:spPr>
          <a:xfrm>
            <a:off x="9281160" y="5756148"/>
            <a:ext cx="22497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3" name="Shape 91"/>
          <p:cNvSpPr/>
          <p:nvPr/>
        </p:nvSpPr>
        <p:spPr>
          <a:xfrm>
            <a:off x="9303657" y="5735117"/>
            <a:ext cx="22497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Shape 92"/>
          <p:cNvSpPr/>
          <p:nvPr/>
        </p:nvSpPr>
        <p:spPr>
          <a:xfrm>
            <a:off x="9326154" y="5714294"/>
            <a:ext cx="22497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5" name="Shape 93"/>
          <p:cNvSpPr/>
          <p:nvPr/>
        </p:nvSpPr>
        <p:spPr>
          <a:xfrm>
            <a:off x="9348651" y="5693888"/>
            <a:ext cx="22497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6" name="Shape 94"/>
          <p:cNvSpPr/>
          <p:nvPr/>
        </p:nvSpPr>
        <p:spPr>
          <a:xfrm>
            <a:off x="9371149" y="5674100"/>
            <a:ext cx="22497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7" name="Shape 95"/>
          <p:cNvSpPr/>
          <p:nvPr/>
        </p:nvSpPr>
        <p:spPr>
          <a:xfrm>
            <a:off x="9393646" y="5655128"/>
            <a:ext cx="22497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8" name="Shape 96"/>
          <p:cNvSpPr/>
          <p:nvPr/>
        </p:nvSpPr>
        <p:spPr>
          <a:xfrm>
            <a:off x="9416143" y="5637160"/>
            <a:ext cx="22497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9" name="Shape 97"/>
          <p:cNvSpPr/>
          <p:nvPr/>
        </p:nvSpPr>
        <p:spPr>
          <a:xfrm>
            <a:off x="9438640" y="5620374"/>
            <a:ext cx="22497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0" name="Shape 98"/>
          <p:cNvSpPr/>
          <p:nvPr/>
        </p:nvSpPr>
        <p:spPr>
          <a:xfrm>
            <a:off x="9461137" y="5604938"/>
            <a:ext cx="22497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1" name="Shape 99"/>
          <p:cNvSpPr/>
          <p:nvPr/>
        </p:nvSpPr>
        <p:spPr>
          <a:xfrm>
            <a:off x="9483634" y="5591005"/>
            <a:ext cx="22497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2" name="Shape 100"/>
          <p:cNvSpPr/>
          <p:nvPr/>
        </p:nvSpPr>
        <p:spPr>
          <a:xfrm>
            <a:off x="9506131" y="5578712"/>
            <a:ext cx="22497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3" name="Shape 101"/>
          <p:cNvSpPr/>
          <p:nvPr/>
        </p:nvSpPr>
        <p:spPr>
          <a:xfrm>
            <a:off x="9528629" y="5568184"/>
            <a:ext cx="22497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4" name="Shape 102"/>
          <p:cNvSpPr/>
          <p:nvPr/>
        </p:nvSpPr>
        <p:spPr>
          <a:xfrm>
            <a:off x="9551126" y="5559523"/>
            <a:ext cx="22497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5" name="Shape 103"/>
          <p:cNvSpPr/>
          <p:nvPr/>
        </p:nvSpPr>
        <p:spPr>
          <a:xfrm>
            <a:off x="9573623" y="5552816"/>
            <a:ext cx="22497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6" name="Shape 104"/>
          <p:cNvSpPr/>
          <p:nvPr/>
        </p:nvSpPr>
        <p:spPr>
          <a:xfrm>
            <a:off x="9596120" y="5548131"/>
            <a:ext cx="22497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7" name="Shape 105"/>
          <p:cNvSpPr/>
          <p:nvPr/>
        </p:nvSpPr>
        <p:spPr>
          <a:xfrm>
            <a:off x="9618617" y="5545512"/>
            <a:ext cx="22497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8" name="Shape 106"/>
          <p:cNvSpPr/>
          <p:nvPr/>
        </p:nvSpPr>
        <p:spPr>
          <a:xfrm>
            <a:off x="9641114" y="5544987"/>
            <a:ext cx="22497" cy="1574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9" name="Shape 107"/>
          <p:cNvSpPr/>
          <p:nvPr/>
        </p:nvSpPr>
        <p:spPr>
          <a:xfrm>
            <a:off x="9663611" y="5546561"/>
            <a:ext cx="22497" cy="3657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0" name="Shape 108"/>
          <p:cNvSpPr/>
          <p:nvPr/>
        </p:nvSpPr>
        <p:spPr>
          <a:xfrm>
            <a:off x="9686109" y="5550217"/>
            <a:ext cx="22497" cy="5703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1" name="Shape 109"/>
          <p:cNvSpPr/>
          <p:nvPr/>
        </p:nvSpPr>
        <p:spPr>
          <a:xfrm>
            <a:off x="9708606" y="5555921"/>
            <a:ext cx="22497" cy="7693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2" name="Shape 110"/>
          <p:cNvSpPr/>
          <p:nvPr/>
        </p:nvSpPr>
        <p:spPr>
          <a:xfrm>
            <a:off x="9731103" y="5563614"/>
            <a:ext cx="22497" cy="9607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3" name="Shape 111"/>
          <p:cNvSpPr/>
          <p:nvPr/>
        </p:nvSpPr>
        <p:spPr>
          <a:xfrm>
            <a:off x="9753600" y="5573221"/>
            <a:ext cx="22497" cy="11425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4" name="Shape 112"/>
          <p:cNvSpPr/>
          <p:nvPr/>
        </p:nvSpPr>
        <p:spPr>
          <a:xfrm>
            <a:off x="9776097" y="5584645"/>
            <a:ext cx="22497" cy="13129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5" name="Shape 113"/>
          <p:cNvSpPr/>
          <p:nvPr/>
        </p:nvSpPr>
        <p:spPr>
          <a:xfrm>
            <a:off x="9798594" y="5597774"/>
            <a:ext cx="22497" cy="14703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6" name="Shape 114"/>
          <p:cNvSpPr/>
          <p:nvPr/>
        </p:nvSpPr>
        <p:spPr>
          <a:xfrm>
            <a:off x="9821091" y="5612478"/>
            <a:ext cx="22497" cy="16131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7" name="Shape 115"/>
          <p:cNvSpPr/>
          <p:nvPr/>
        </p:nvSpPr>
        <p:spPr>
          <a:xfrm>
            <a:off x="9843589" y="5628609"/>
            <a:ext cx="22497" cy="17399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8" name="Shape 116"/>
          <p:cNvSpPr/>
          <p:nvPr/>
        </p:nvSpPr>
        <p:spPr>
          <a:xfrm>
            <a:off x="9866086" y="5646007"/>
            <a:ext cx="22497" cy="18493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9" name="Shape 117"/>
          <p:cNvSpPr/>
          <p:nvPr/>
        </p:nvSpPr>
        <p:spPr>
          <a:xfrm>
            <a:off x="9888583" y="5664500"/>
            <a:ext cx="22497" cy="19404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0" name="Shape 118"/>
          <p:cNvSpPr/>
          <p:nvPr/>
        </p:nvSpPr>
        <p:spPr>
          <a:xfrm>
            <a:off x="9911080" y="5683904"/>
            <a:ext cx="22497" cy="20122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1" name="Shape 119"/>
          <p:cNvSpPr/>
          <p:nvPr/>
        </p:nvSpPr>
        <p:spPr>
          <a:xfrm>
            <a:off x="9933577" y="5704026"/>
            <a:ext cx="22497" cy="2064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2" name="Shape 120"/>
          <p:cNvSpPr/>
          <p:nvPr/>
        </p:nvSpPr>
        <p:spPr>
          <a:xfrm>
            <a:off x="9956074" y="5724666"/>
            <a:ext cx="22497" cy="20953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3" name="Shape 121"/>
          <p:cNvSpPr/>
          <p:nvPr/>
        </p:nvSpPr>
        <p:spPr>
          <a:xfrm>
            <a:off x="9978571" y="5745619"/>
            <a:ext cx="22497" cy="21058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4" name="Shape 122"/>
          <p:cNvSpPr/>
          <p:nvPr/>
        </p:nvSpPr>
        <p:spPr>
          <a:xfrm>
            <a:off x="10001069" y="5766677"/>
            <a:ext cx="22497" cy="20953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5" name="Shape 123"/>
          <p:cNvSpPr/>
          <p:nvPr/>
        </p:nvSpPr>
        <p:spPr>
          <a:xfrm>
            <a:off x="10023566" y="5787630"/>
            <a:ext cx="22497" cy="2064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6" name="Shape 124"/>
          <p:cNvSpPr/>
          <p:nvPr/>
        </p:nvSpPr>
        <p:spPr>
          <a:xfrm>
            <a:off x="10046063" y="5808270"/>
            <a:ext cx="22497" cy="20122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7" name="Shape 125"/>
          <p:cNvSpPr/>
          <p:nvPr/>
        </p:nvSpPr>
        <p:spPr>
          <a:xfrm>
            <a:off x="10068560" y="5828392"/>
            <a:ext cx="22497" cy="19404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8" name="Shape 126"/>
          <p:cNvSpPr/>
          <p:nvPr/>
        </p:nvSpPr>
        <p:spPr>
          <a:xfrm>
            <a:off x="10091057" y="5847796"/>
            <a:ext cx="22497" cy="18493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9" name="Shape 127"/>
          <p:cNvSpPr/>
          <p:nvPr/>
        </p:nvSpPr>
        <p:spPr>
          <a:xfrm>
            <a:off x="10113554" y="5866289"/>
            <a:ext cx="22497" cy="17399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0" name="Shape 128"/>
          <p:cNvSpPr/>
          <p:nvPr/>
        </p:nvSpPr>
        <p:spPr>
          <a:xfrm>
            <a:off x="10136051" y="5883687"/>
            <a:ext cx="22497" cy="16131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1" name="Shape 129"/>
          <p:cNvSpPr/>
          <p:nvPr/>
        </p:nvSpPr>
        <p:spPr>
          <a:xfrm>
            <a:off x="10158549" y="5899818"/>
            <a:ext cx="22497" cy="14703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2" name="Shape 130"/>
          <p:cNvSpPr/>
          <p:nvPr/>
        </p:nvSpPr>
        <p:spPr>
          <a:xfrm>
            <a:off x="10181046" y="5914522"/>
            <a:ext cx="22497" cy="13129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3" name="Shape 131"/>
          <p:cNvSpPr/>
          <p:nvPr/>
        </p:nvSpPr>
        <p:spPr>
          <a:xfrm>
            <a:off x="10203543" y="5927651"/>
            <a:ext cx="22497" cy="11425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4" name="Shape 132"/>
          <p:cNvSpPr/>
          <p:nvPr/>
        </p:nvSpPr>
        <p:spPr>
          <a:xfrm>
            <a:off x="10226040" y="5939075"/>
            <a:ext cx="22497" cy="9607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5" name="Shape 133"/>
          <p:cNvSpPr/>
          <p:nvPr/>
        </p:nvSpPr>
        <p:spPr>
          <a:xfrm>
            <a:off x="10248537" y="5948682"/>
            <a:ext cx="22497" cy="7693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6" name="Shape 134"/>
          <p:cNvSpPr/>
          <p:nvPr/>
        </p:nvSpPr>
        <p:spPr>
          <a:xfrm>
            <a:off x="10271034" y="5956375"/>
            <a:ext cx="22497" cy="5703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7" name="Shape 135"/>
          <p:cNvSpPr/>
          <p:nvPr/>
        </p:nvSpPr>
        <p:spPr>
          <a:xfrm>
            <a:off x="10293531" y="5962079"/>
            <a:ext cx="22497" cy="3657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8" name="Shape 136"/>
          <p:cNvSpPr/>
          <p:nvPr/>
        </p:nvSpPr>
        <p:spPr>
          <a:xfrm>
            <a:off x="10316029" y="5965735"/>
            <a:ext cx="22497" cy="1574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9" name="Shape 137"/>
          <p:cNvSpPr/>
          <p:nvPr/>
        </p:nvSpPr>
        <p:spPr>
          <a:xfrm>
            <a:off x="10338526" y="5967309"/>
            <a:ext cx="22497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0" name="Shape 138"/>
          <p:cNvSpPr/>
          <p:nvPr/>
        </p:nvSpPr>
        <p:spPr>
          <a:xfrm>
            <a:off x="10361023" y="5966784"/>
            <a:ext cx="22497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1" name="Shape 139"/>
          <p:cNvSpPr/>
          <p:nvPr/>
        </p:nvSpPr>
        <p:spPr>
          <a:xfrm>
            <a:off x="10383520" y="5964165"/>
            <a:ext cx="22497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2" name="Shape 140"/>
          <p:cNvSpPr/>
          <p:nvPr/>
        </p:nvSpPr>
        <p:spPr>
          <a:xfrm>
            <a:off x="10406017" y="5959480"/>
            <a:ext cx="22497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3" name="Shape 141"/>
          <p:cNvSpPr/>
          <p:nvPr/>
        </p:nvSpPr>
        <p:spPr>
          <a:xfrm>
            <a:off x="10428514" y="5952773"/>
            <a:ext cx="22497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4" name="Shape 142"/>
          <p:cNvSpPr/>
          <p:nvPr/>
        </p:nvSpPr>
        <p:spPr>
          <a:xfrm>
            <a:off x="10451011" y="5944112"/>
            <a:ext cx="22497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5" name="Shape 143"/>
          <p:cNvSpPr/>
          <p:nvPr/>
        </p:nvSpPr>
        <p:spPr>
          <a:xfrm>
            <a:off x="10473509" y="5933584"/>
            <a:ext cx="22497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6" name="Shape 144"/>
          <p:cNvSpPr/>
          <p:nvPr/>
        </p:nvSpPr>
        <p:spPr>
          <a:xfrm>
            <a:off x="10496006" y="5921291"/>
            <a:ext cx="22497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7" name="Shape 145"/>
          <p:cNvSpPr/>
          <p:nvPr/>
        </p:nvSpPr>
        <p:spPr>
          <a:xfrm>
            <a:off x="10518503" y="5907358"/>
            <a:ext cx="22497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8" name="Shape 146"/>
          <p:cNvSpPr/>
          <p:nvPr/>
        </p:nvSpPr>
        <p:spPr>
          <a:xfrm>
            <a:off x="10541000" y="5891922"/>
            <a:ext cx="22497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9" name="Shape 147"/>
          <p:cNvSpPr/>
          <p:nvPr/>
        </p:nvSpPr>
        <p:spPr>
          <a:xfrm>
            <a:off x="10563497" y="5875136"/>
            <a:ext cx="22497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0" name="Shape 148"/>
          <p:cNvSpPr/>
          <p:nvPr/>
        </p:nvSpPr>
        <p:spPr>
          <a:xfrm>
            <a:off x="10585994" y="5857168"/>
            <a:ext cx="22497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1" name="Shape 149"/>
          <p:cNvSpPr/>
          <p:nvPr/>
        </p:nvSpPr>
        <p:spPr>
          <a:xfrm>
            <a:off x="10608491" y="5838196"/>
            <a:ext cx="22497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2" name="Shape 150"/>
          <p:cNvSpPr/>
          <p:nvPr/>
        </p:nvSpPr>
        <p:spPr>
          <a:xfrm>
            <a:off x="10630989" y="5818408"/>
            <a:ext cx="22497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3" name="Shape 151"/>
          <p:cNvSpPr/>
          <p:nvPr/>
        </p:nvSpPr>
        <p:spPr>
          <a:xfrm>
            <a:off x="10653486" y="5798002"/>
            <a:ext cx="22497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4" name="Shape 152"/>
          <p:cNvSpPr/>
          <p:nvPr/>
        </p:nvSpPr>
        <p:spPr>
          <a:xfrm>
            <a:off x="10675983" y="5777179"/>
            <a:ext cx="22497" cy="0"/>
          </a:xfrm>
          <a:prstGeom prst="line">
            <a:avLst/>
          </a:prstGeom>
          <a:noFill/>
          <a:ln w="27940">
            <a:solidFill>
              <a:srgbClr val="2EC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5" name="Text 153"/>
          <p:cNvSpPr/>
          <p:nvPr/>
        </p:nvSpPr>
        <p:spPr>
          <a:xfrm>
            <a:off x="5989320" y="5074920"/>
            <a:ext cx="1097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B85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</a:t>
            </a:r>
            <a:endParaRPr lang="en-US" sz="1100" dirty="0"/>
          </a:p>
        </p:txBody>
      </p:sp>
      <p:sp>
        <p:nvSpPr>
          <p:cNvPr id="156" name="Text 154"/>
          <p:cNvSpPr/>
          <p:nvPr/>
        </p:nvSpPr>
        <p:spPr>
          <a:xfrm>
            <a:off x="9235440" y="5074920"/>
            <a:ext cx="1143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157" name="Shape 155"/>
          <p:cNvSpPr/>
          <p:nvPr/>
        </p:nvSpPr>
        <p:spPr>
          <a:xfrm>
            <a:off x="7315200" y="1965960"/>
            <a:ext cx="1783080" cy="0"/>
          </a:xfrm>
          <a:prstGeom prst="line">
            <a:avLst/>
          </a:prstGeom>
          <a:noFill/>
          <a:ln w="2667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8" name="Shape 156"/>
          <p:cNvSpPr/>
          <p:nvPr/>
        </p:nvSpPr>
        <p:spPr>
          <a:xfrm>
            <a:off x="9098280" y="1965960"/>
            <a:ext cx="0" cy="2103120"/>
          </a:xfrm>
          <a:prstGeom prst="line">
            <a:avLst/>
          </a:prstGeom>
          <a:noFill/>
          <a:ln w="2667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9" name="Shape 157"/>
          <p:cNvSpPr/>
          <p:nvPr/>
        </p:nvSpPr>
        <p:spPr>
          <a:xfrm>
            <a:off x="9098280" y="4069080"/>
            <a:ext cx="0" cy="0"/>
          </a:xfrm>
          <a:prstGeom prst="line">
            <a:avLst/>
          </a:prstGeom>
          <a:noFill/>
          <a:ln w="2667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0" name="Shape 158"/>
          <p:cNvSpPr/>
          <p:nvPr/>
        </p:nvSpPr>
        <p:spPr>
          <a:xfrm>
            <a:off x="7315200" y="4069080"/>
            <a:ext cx="0" cy="0"/>
          </a:xfrm>
          <a:prstGeom prst="line">
            <a:avLst/>
          </a:prstGeom>
          <a:noFill/>
          <a:ln w="26670">
            <a:solidFill>
              <a:srgbClr val="38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C4FF"/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2EC4FF">
              <a:alpha val="90000"/>
            </a:srgbClr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201400" y="6428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320040"/>
            <a:ext cx="9692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Equation summary: choose the right model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804672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from the physical situation, then select the matching equation.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10881360" cy="475488"/>
          </a:xfrm>
          <a:prstGeom prst="rect">
            <a:avLst/>
          </a:prstGeom>
          <a:solidFill>
            <a:srgbClr val="111827"/>
          </a:solidFill>
          <a:ln w="6350">
            <a:solidFill>
              <a:srgbClr val="2231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22960" y="1344168"/>
            <a:ext cx="2240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in B field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46120" y="1335024"/>
            <a:ext cx="2514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 = B I 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26480" y="1344168"/>
            <a:ext cx="5120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 conductor is at 90° to B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1764792"/>
            <a:ext cx="10881360" cy="475488"/>
          </a:xfrm>
          <a:prstGeom prst="rect">
            <a:avLst/>
          </a:prstGeom>
          <a:solidFill>
            <a:srgbClr val="0F172A"/>
          </a:solidFill>
          <a:ln w="6350">
            <a:solidFill>
              <a:srgbClr val="2231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22960" y="1874520"/>
            <a:ext cx="2240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Conductor at angle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46120" y="1865376"/>
            <a:ext cx="2514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 = B I l sinθ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26480" y="1874520"/>
            <a:ext cx="5120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θ between conductor and field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295144"/>
            <a:ext cx="10881360" cy="475488"/>
          </a:xfrm>
          <a:prstGeom prst="rect">
            <a:avLst/>
          </a:prstGeom>
          <a:solidFill>
            <a:srgbClr val="111827"/>
          </a:solidFill>
          <a:ln w="6350">
            <a:solidFill>
              <a:srgbClr val="2231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22960" y="2404872"/>
            <a:ext cx="2240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 density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46120" y="2395728"/>
            <a:ext cx="2514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= Φ / 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26480" y="2404872"/>
            <a:ext cx="5120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 spread over area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2825496"/>
            <a:ext cx="10881360" cy="475488"/>
          </a:xfrm>
          <a:prstGeom prst="rect">
            <a:avLst/>
          </a:prstGeom>
          <a:solidFill>
            <a:srgbClr val="0F172A"/>
          </a:solidFill>
          <a:ln w="6350">
            <a:solidFill>
              <a:srgbClr val="2231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822960" y="2935224"/>
            <a:ext cx="2240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Reluctance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246120" y="2926080"/>
            <a:ext cx="2514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= l/(μ₀ μᵣ A)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126480" y="2935224"/>
            <a:ext cx="5120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magnetic path geometry + material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355848"/>
            <a:ext cx="10881360" cy="475488"/>
          </a:xfrm>
          <a:prstGeom prst="rect">
            <a:avLst/>
          </a:prstGeom>
          <a:solidFill>
            <a:srgbClr val="111827"/>
          </a:solidFill>
          <a:ln w="6350">
            <a:solidFill>
              <a:srgbClr val="2231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822960" y="3465576"/>
            <a:ext cx="2240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Magnetising force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246120" y="3456432"/>
            <a:ext cx="2514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 = N I / 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126480" y="3465576"/>
            <a:ext cx="5120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coil MMF per metre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3886200"/>
            <a:ext cx="10881360" cy="475488"/>
          </a:xfrm>
          <a:prstGeom prst="rect">
            <a:avLst/>
          </a:prstGeom>
          <a:solidFill>
            <a:srgbClr val="0F172A"/>
          </a:solidFill>
          <a:ln w="6350">
            <a:solidFill>
              <a:srgbClr val="2231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822960" y="3995928"/>
            <a:ext cx="2240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Faraday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246120" y="3986784"/>
            <a:ext cx="2514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= −N dΦ/dt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126480" y="3995928"/>
            <a:ext cx="5120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changing flux linkage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4416552"/>
            <a:ext cx="10881360" cy="475488"/>
          </a:xfrm>
          <a:prstGeom prst="rect">
            <a:avLst/>
          </a:prstGeom>
          <a:solidFill>
            <a:srgbClr val="111827"/>
          </a:solidFill>
          <a:ln w="6350">
            <a:solidFill>
              <a:srgbClr val="2231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822960" y="4526280"/>
            <a:ext cx="2240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Motion EMF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246120" y="4517136"/>
            <a:ext cx="2514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= B l v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126480" y="4526280"/>
            <a:ext cx="5120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moving conductor cuts flux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4946904"/>
            <a:ext cx="10881360" cy="475488"/>
          </a:xfrm>
          <a:prstGeom prst="rect">
            <a:avLst/>
          </a:prstGeom>
          <a:solidFill>
            <a:srgbClr val="0F172A"/>
          </a:solidFill>
          <a:ln w="6350">
            <a:solidFill>
              <a:srgbClr val="2231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822960" y="5056632"/>
            <a:ext cx="2240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peak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246120" y="5047488"/>
            <a:ext cx="2514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Emax = N A B ω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126480" y="5056632"/>
            <a:ext cx="5120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sinusoidal core flux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C4FF"/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2EC4FF">
              <a:alpha val="90000"/>
            </a:srgbClr>
          </a:solidFill>
          <a:ln w="12700">
            <a:solidFill>
              <a:srgbClr val="2EC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201400" y="6428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320040"/>
            <a:ext cx="9692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check and practical notes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804672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questions to test understanding before practical work.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77240" y="1353312"/>
            <a:ext cx="5532120" cy="4069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conductor carries 3 A in a 0.5 T field over 80 mm. What force acts at 90°?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happens to force when the conductor angle is changed from 90° to 30°?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Why does a small air gap greatly increase reluctance?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coil has twice the turns. What happens to induced voltage for the same flux change?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 E = B l v, which three directions should be perpendicular?</a:t>
            </a:r>
            <a:endParaRPr lang="en-US" sz="1520" dirty="0"/>
          </a:p>
        </p:txBody>
      </p:sp>
      <p:sp>
        <p:nvSpPr>
          <p:cNvPr id="9" name="Shape 7"/>
          <p:cNvSpPr/>
          <p:nvPr/>
        </p:nvSpPr>
        <p:spPr>
          <a:xfrm>
            <a:off x="6995160" y="1417320"/>
            <a:ext cx="3520440" cy="3474720"/>
          </a:xfrm>
          <a:prstGeom prst="roundRect">
            <a:avLst>
              <a:gd name="adj" fmla="val 2632"/>
            </a:avLst>
          </a:prstGeom>
          <a:solidFill>
            <a:srgbClr val="111827"/>
          </a:solidFill>
          <a:ln w="1651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333488" y="1783080"/>
            <a:ext cx="2880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B70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safety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0" y="2377440"/>
            <a:ext cx="2834640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Keep currents within rated limits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Avoid overheated coils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Secure moving conductors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SELV supplies for education work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92240" y="5257800"/>
            <a:ext cx="4709160" cy="603504"/>
          </a:xfrm>
          <a:prstGeom prst="roundRect">
            <a:avLst>
              <a:gd name="adj" fmla="val 12121"/>
            </a:avLst>
          </a:prstGeom>
          <a:solidFill>
            <a:srgbClr val="1C2E2D"/>
          </a:solidFill>
          <a:ln w="15240">
            <a:solidFill>
              <a:srgbClr val="38B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601968" y="5367528"/>
            <a:ext cx="44897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Observe → measure → calculate → compare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1511</Words>
  <Application>Microsoft Office PowerPoint</Application>
  <PresentationFormat>Widescreen</PresentationFormat>
  <Paragraphs>274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Electromagnetism</dc:title>
  <dc:subject>Electromagnetism learning slides</dc:subject>
  <dc:creator>OpenAI</dc:creator>
  <cp:lastModifiedBy>John Dobson</cp:lastModifiedBy>
  <cp:revision>1</cp:revision>
  <dcterms:created xsi:type="dcterms:W3CDTF">2026-07-16T09:22:13Z</dcterms:created>
  <dcterms:modified xsi:type="dcterms:W3CDTF">2026-07-16T10:31:31Z</dcterms:modified>
</cp:coreProperties>
</file>