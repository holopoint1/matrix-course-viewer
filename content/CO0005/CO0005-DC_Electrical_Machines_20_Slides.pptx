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051560"/>
            <a:ext cx="525780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DC Electrical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697480"/>
            <a:ext cx="47548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Motors • Generators • Commutation • Real-world examples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18688"/>
            <a:ext cx="1828800" cy="347472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slide deck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24912" y="3218688"/>
            <a:ext cx="1143000" cy="34747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slides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00266" y="3246120"/>
            <a:ext cx="1104138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117836" y="3246120"/>
            <a:ext cx="105156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121908" y="2141982"/>
            <a:ext cx="788670" cy="22082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76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760" dirty="0"/>
          </a:p>
        </p:txBody>
      </p:sp>
      <p:sp>
        <p:nvSpPr>
          <p:cNvPr id="12" name="Text 10"/>
          <p:cNvSpPr/>
          <p:nvPr/>
        </p:nvSpPr>
        <p:spPr>
          <a:xfrm>
            <a:off x="11011662" y="2141982"/>
            <a:ext cx="788670" cy="220827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76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760" dirty="0"/>
          </a:p>
        </p:txBody>
      </p:sp>
      <p:sp>
        <p:nvSpPr>
          <p:cNvPr id="13" name="Shape 11"/>
          <p:cNvSpPr/>
          <p:nvPr/>
        </p:nvSpPr>
        <p:spPr>
          <a:xfrm>
            <a:off x="7804404" y="2089404"/>
            <a:ext cx="2313432" cy="2313432"/>
          </a:xfrm>
          <a:prstGeom prst="ellipse">
            <a:avLst/>
          </a:prstGeom>
          <a:solidFill>
            <a:srgbClr val="172033"/>
          </a:solidFill>
          <a:ln w="17780">
            <a:solidFill>
              <a:srgbClr val="24D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500000">
            <a:off x="8519465" y="2352294"/>
            <a:ext cx="883310" cy="1787652"/>
          </a:xfrm>
          <a:prstGeom prst="rect">
            <a:avLst/>
          </a:prstGeom>
          <a:solidFill>
            <a:srgbClr val="FB923C">
              <a:alpha val="90000"/>
            </a:srgbClr>
          </a:solidFill>
          <a:ln w="13970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1839" y="3056839"/>
            <a:ext cx="378562" cy="378562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72450" y="4350258"/>
            <a:ext cx="157734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7606" y="4486961"/>
            <a:ext cx="1367028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ring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7360920" y="5349240"/>
            <a:ext cx="34747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Electrical energy ⇄ mechanical rotation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route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From simple motor action to dynamos in everyday use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17320"/>
            <a:ext cx="402336" cy="27432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24D3E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655064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039112" y="1417320"/>
            <a:ext cx="402336" cy="274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09928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FBBF2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action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70632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154680" y="1417320"/>
            <a:ext cx="402336" cy="274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25496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34D39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Brushes &amp; split rings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886200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270248" y="1417320"/>
            <a:ext cx="402336" cy="274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41064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A78BF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Fleming rules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01768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385816" y="1417320"/>
            <a:ext cx="402336" cy="2743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56632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FB923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Stator / rotor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17336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501384" y="1417320"/>
            <a:ext cx="402336" cy="27432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72200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24D3E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systems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232904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616952" y="1417320"/>
            <a:ext cx="402336" cy="274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287768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FBBF2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Starting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348472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732520" y="1417320"/>
            <a:ext cx="402336" cy="274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03336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34D39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Starter motor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464040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9848088" y="1417320"/>
            <a:ext cx="402336" cy="274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518904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A78BF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generator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0579608" y="2295144"/>
            <a:ext cx="54864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10963656" y="1417320"/>
            <a:ext cx="402336" cy="2743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634472" y="1874520"/>
            <a:ext cx="1060704" cy="841248"/>
          </a:xfrm>
          <a:prstGeom prst="rect">
            <a:avLst/>
          </a:prstGeom>
          <a:solidFill>
            <a:srgbClr val="172033"/>
          </a:solidFill>
          <a:ln w="12700">
            <a:solidFill>
              <a:srgbClr val="FB923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Bicycle dynamo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51560" y="3886200"/>
            <a:ext cx="10058400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end, learners should be able to explain how a DC machine converts energy, identify key parts, and describe common starting and application issues.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 DC electrical machine?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The same core machine can be used as a motor or as a generator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1874520" cy="493776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0" y="1901952"/>
            <a:ext cx="1325880" cy="384048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electrical 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77690" y="2103120"/>
            <a:ext cx="72009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06540" y="2103120"/>
            <a:ext cx="68580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00500" y="1383030"/>
            <a:ext cx="514350" cy="14401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89470" y="1383030"/>
            <a:ext cx="514350" cy="14401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97780" y="1348740"/>
            <a:ext cx="1508760" cy="1508760"/>
          </a:xfrm>
          <a:prstGeom prst="ellipse">
            <a:avLst/>
          </a:prstGeom>
          <a:solidFill>
            <a:srgbClr val="172033"/>
          </a:solidFill>
          <a:ln w="17780">
            <a:solidFill>
              <a:srgbClr val="24D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500000">
            <a:off x="5564124" y="1520190"/>
            <a:ext cx="576072" cy="1165860"/>
          </a:xfrm>
          <a:prstGeom prst="rect">
            <a:avLst/>
          </a:prstGeom>
          <a:solidFill>
            <a:srgbClr val="FB923C">
              <a:alpha val="90000"/>
            </a:srgbClr>
          </a:solidFill>
          <a:ln w="13970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28716" y="1979676"/>
            <a:ext cx="246888" cy="24688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37810" y="2823210"/>
            <a:ext cx="102870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06390" y="2912364"/>
            <a:ext cx="891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ring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7086600" y="1901952"/>
            <a:ext cx="1325880" cy="3840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rotation out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160520"/>
            <a:ext cx="2377440" cy="4937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 / DYNAMO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246120" y="4233672"/>
            <a:ext cx="1325880" cy="3840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rotation in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789170" y="4434840"/>
            <a:ext cx="72009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18020" y="4434840"/>
            <a:ext cx="68580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411980" y="3714750"/>
            <a:ext cx="514350" cy="14401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600950" y="3714750"/>
            <a:ext cx="514350" cy="14401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509260" y="3680460"/>
            <a:ext cx="1508760" cy="1508760"/>
          </a:xfrm>
          <a:prstGeom prst="ellipse">
            <a:avLst/>
          </a:prstGeom>
          <a:solidFill>
            <a:srgbClr val="172033"/>
          </a:solidFill>
          <a:ln w="17780">
            <a:solidFill>
              <a:srgbClr val="24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500000">
            <a:off x="5975604" y="3851910"/>
            <a:ext cx="576072" cy="1165860"/>
          </a:xfrm>
          <a:prstGeom prst="rect">
            <a:avLst/>
          </a:prstGeom>
          <a:solidFill>
            <a:srgbClr val="FB923C">
              <a:alpha val="90000"/>
            </a:srgbClr>
          </a:solidFill>
          <a:ln w="1397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40196" y="4311396"/>
            <a:ext cx="246888" cy="24688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9290" y="5154930"/>
            <a:ext cx="102870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17870" y="5244084"/>
            <a:ext cx="891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ring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7543800" y="4233672"/>
            <a:ext cx="1325880" cy="384048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electrical out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144000" y="1874520"/>
            <a:ext cx="242316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Current, magnetic field and force are linked.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Mechanical rotation and induced voltage are linked.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The commutator controls the external DC connection.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DC motor construction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The minimum parts needed to produce rotation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28800"/>
            <a:ext cx="833933" cy="2834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201107" y="1828800"/>
            <a:ext cx="833933" cy="28346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969618" y="2057400"/>
            <a:ext cx="291876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69618" y="2681021"/>
            <a:ext cx="291876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69618" y="3304642"/>
            <a:ext cx="291876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69618" y="3928262"/>
            <a:ext cx="291876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rot="1680000">
            <a:off x="2606040" y="2240280"/>
            <a:ext cx="1600200" cy="192024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 rot="1680000">
            <a:off x="2958084" y="2912364"/>
            <a:ext cx="896112" cy="4800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armature coil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463040" y="3246120"/>
            <a:ext cx="475488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53328" y="3099816"/>
            <a:ext cx="50292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shaft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873752"/>
            <a:ext cx="1097280" cy="384048"/>
          </a:xfrm>
          <a:prstGeom prst="rect">
            <a:avLst/>
          </a:prstGeom>
          <a:solidFill>
            <a:srgbClr val="172033"/>
          </a:solidFill>
          <a:ln w="12700">
            <a:solidFill>
              <a:srgbClr val="47556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carbon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brushes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4800600"/>
            <a:ext cx="1417320" cy="475488"/>
          </a:xfrm>
          <a:prstGeom prst="rect">
            <a:avLst/>
          </a:prstGeom>
          <a:solidFill>
            <a:srgbClr val="172033"/>
          </a:solidFill>
          <a:ln w="12700">
            <a:solidFill>
              <a:srgbClr val="47556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split-ring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commutator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0320" y="4828032"/>
            <a:ext cx="228600" cy="-484632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40480" y="4782312"/>
            <a:ext cx="-91440" cy="-484632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720840" y="1828800"/>
            <a:ext cx="448056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Stator: fixed magnetic field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Rotor/armature: rotating coil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Commutator: reverses coil connections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Brushes: sliding electrical contact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DC motor operation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A current-carrying conductor in a magnetic field experiences a force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91640"/>
            <a:ext cx="855878" cy="3154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316322" y="1691640"/>
            <a:ext cx="855878" cy="31546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999793" y="1920240"/>
            <a:ext cx="2995574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9793" y="2614270"/>
            <a:ext cx="2995574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99793" y="3308299"/>
            <a:ext cx="2995574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99793" y="4002329"/>
            <a:ext cx="2995574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2286000"/>
            <a:ext cx="502920" cy="19202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95728" y="2468880"/>
            <a:ext cx="640080" cy="5303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page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9067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⊙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090672" y="38221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⊗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867912" y="1965960"/>
            <a:ext cx="347472" cy="868680"/>
          </a:xfrm>
          <a:prstGeom prst="up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3767328"/>
            <a:ext cx="347472" cy="868680"/>
          </a:xfrm>
          <a:prstGeom prst="down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17320" y="5166360"/>
            <a:ext cx="4206240" cy="4114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opposite forces create torque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1828800"/>
            <a:ext cx="4480560" cy="2651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Force direction depends on field and current direction.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Opposite sides of the coil are pushed in opposite directions.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The pair of forces creates a turning moment.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09160"/>
            <a:ext cx="4160520" cy="685800"/>
          </a:xfrm>
          <a:prstGeom prst="rect">
            <a:avLst/>
          </a:prstGeom>
          <a:solidFill>
            <a:srgbClr val="172033"/>
          </a:solidFill>
          <a:ln w="12700">
            <a:solidFill>
              <a:srgbClr val="24D3E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idea: motor action converts electrical energy into mechanical movement.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Split rings and carbon brushes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How a DC motor keeps turning in the same direction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3464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carbon brush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23160" y="2377440"/>
            <a:ext cx="1234440" cy="5943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3611880"/>
            <a:ext cx="1234440" cy="5943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77640" y="283464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carbon brush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42032" y="3136392"/>
            <a:ext cx="1005840" cy="256032"/>
          </a:xfrm>
          <a:prstGeom prst="rect">
            <a:avLst/>
          </a:prstGeom>
          <a:solidFill>
            <a:srgbClr val="111827"/>
          </a:solidFill>
          <a:ln w="12700">
            <a:solidFill>
              <a:srgbClr val="47556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insulated gap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03120" y="3081528"/>
            <a:ext cx="320040" cy="-402336"/>
          </a:xfrm>
          <a:prstGeom prst="line">
            <a:avLst/>
          </a:prstGeom>
          <a:noFill/>
          <a:ln w="1397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57600" y="2679192"/>
            <a:ext cx="320040" cy="402336"/>
          </a:xfrm>
          <a:prstGeom prst="line">
            <a:avLst/>
          </a:prstGeom>
          <a:noFill/>
          <a:ln w="1397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577840" y="1737360"/>
            <a:ext cx="521208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Split ring = two insulated copper segments.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Brushes stay fixed while the commutator rotates.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Every half turn the coil connections swap.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This reverses coil current at the right time.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23560" y="5029200"/>
            <a:ext cx="4846320" cy="50292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torque stays in the same rotational direction.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Fleming’s left-hand rule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Used for motors: field + current gives force / motion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2514600"/>
            <a:ext cx="457200" cy="1417320"/>
          </a:xfrm>
          <a:prstGeom prst="up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3520440"/>
            <a:ext cx="1600200" cy="457200"/>
          </a:xfrm>
          <a:prstGeom prst="rightArrow">
            <a:avLst/>
          </a:prstGeom>
          <a:solidFill>
            <a:srgbClr val="24D3EE"/>
          </a:solidFill>
          <a:ln w="12700">
            <a:solidFill>
              <a:srgbClr val="24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2057400"/>
            <a:ext cx="457200" cy="1417320"/>
          </a:xfrm>
          <a:prstGeom prst="downArrow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4069080"/>
            <a:ext cx="1645920" cy="3200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 / Force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4069080"/>
            <a:ext cx="1325880" cy="32004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N→S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1207008"/>
            <a:ext cx="1554480" cy="3200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+ to 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" y="1828800"/>
            <a:ext cx="43434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 hand = motor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080760" y="1874520"/>
            <a:ext cx="4754880" cy="2057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Thumb → Motion / force on conductor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First finger → magnetic Field direction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Second finger → conventional Current direction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4617720"/>
            <a:ext cx="4480560" cy="749808"/>
          </a:xfrm>
          <a:prstGeom prst="rect">
            <a:avLst/>
          </a:prstGeom>
          <a:solidFill>
            <a:srgbClr val="172033"/>
          </a:solidFill>
          <a:ln w="12700">
            <a:solidFill>
              <a:srgbClr val="A78BFA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use: set two known directions, then the third points to the missing direction.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Stators and rotors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Two key mechanical groups in a rotating electrical machine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554480"/>
            <a:ext cx="4160520" cy="4160520"/>
          </a:xfrm>
          <a:prstGeom prst="ellipse">
            <a:avLst/>
          </a:prstGeom>
          <a:solidFill>
            <a:srgbClr val="172033"/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65960" y="2514600"/>
            <a:ext cx="2240280" cy="224028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16352" y="3364992"/>
            <a:ext cx="548640" cy="548640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1783080"/>
            <a:ext cx="3703320" cy="3703320"/>
          </a:xfrm>
          <a:prstGeom prst="arc">
            <a:avLst/>
          </a:prstGeom>
          <a:solidFill>
            <a:srgbClr val="60A5FA"/>
          </a:solidFill>
          <a:ln w="88900">
            <a:solidFill>
              <a:srgbClr val="60A5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1234440" y="1783080"/>
            <a:ext cx="3703320" cy="3703320"/>
          </a:xfrm>
          <a:prstGeom prst="arc">
            <a:avLst/>
          </a:prstGeom>
          <a:solidFill>
            <a:srgbClr val="F87171"/>
          </a:solidFill>
          <a:ln w="88900">
            <a:solidFill>
              <a:srgbClr val="F871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806440"/>
            <a:ext cx="2240280" cy="384048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STATOR: fixed part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46120" y="5806440"/>
            <a:ext cx="2788920" cy="3840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ROTOR / ARMATURE: rotating part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20240" y="5760720"/>
            <a:ext cx="365760" cy="-731520"/>
          </a:xfrm>
          <a:prstGeom prst="line">
            <a:avLst/>
          </a:prstGeom>
          <a:noFill/>
          <a:ln w="15240">
            <a:solidFill>
              <a:srgbClr val="24D3E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5760720"/>
            <a:ext cx="-868680" cy="-160020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466344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Stator provides the magnetic field.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Rotor carries conductors and turns on bearings.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Air gap must be small and uniform.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Commutator sits on the rotor shaft in many DC machines.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Permanent-magnet DC machines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The stator field is provided by permanent magnets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3108960"/>
            <a:ext cx="96012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69080" y="3108960"/>
            <a:ext cx="91440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94360" y="2148840"/>
            <a:ext cx="685800" cy="19202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685800" cy="19202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057400" y="2103120"/>
            <a:ext cx="2011680" cy="2011680"/>
          </a:xfrm>
          <a:prstGeom prst="ellipse">
            <a:avLst/>
          </a:prstGeom>
          <a:solidFill>
            <a:srgbClr val="172033"/>
          </a:solidFill>
          <a:ln w="17780">
            <a:solidFill>
              <a:srgbClr val="24D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500000">
            <a:off x="2679192" y="2331720"/>
            <a:ext cx="768096" cy="1554480"/>
          </a:xfrm>
          <a:prstGeom prst="rect">
            <a:avLst/>
          </a:prstGeom>
          <a:solidFill>
            <a:srgbClr val="FB923C">
              <a:alpha val="90000"/>
            </a:srgbClr>
          </a:solidFill>
          <a:ln w="1397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98648" y="2944368"/>
            <a:ext cx="329184" cy="329184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77440" y="4069080"/>
            <a:ext cx="137160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41879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ring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5102352"/>
            <a:ext cx="1280160" cy="34747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423160" y="5102352"/>
            <a:ext cx="1005840" cy="347472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11880" y="5102352"/>
            <a:ext cx="2011680" cy="34747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at small sizes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1737360"/>
            <a:ext cx="4663440" cy="3566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No field winding or field supply needed.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Simple control by changing armature voltage or using PWM.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Common in small fans, toys, actuators, pumps and automotive auxiliaries.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Field strength is not easily adjustable.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720840" y="5440680"/>
            <a:ext cx="406908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observation: reversing the supply reverses motor direction.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Electromagnet field DC machines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The stator field is produced by coils wound on pole pieces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28800"/>
            <a:ext cx="819302" cy="2834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24298" y="1828800"/>
            <a:ext cx="819302" cy="28346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949501" y="2057400"/>
            <a:ext cx="2867558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49501" y="2681021"/>
            <a:ext cx="2867558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49501" y="3304642"/>
            <a:ext cx="2867558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49501" y="3928262"/>
            <a:ext cx="2867558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627632" y="196596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0800000">
            <a:off x="4572000" y="196596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27632" y="237744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0800000">
            <a:off x="4572000" y="237744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27632" y="278892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4572000" y="278892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27632" y="320040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4572000" y="320040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27632" y="361188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4572000" y="3611880"/>
            <a:ext cx="685800" cy="457200"/>
          </a:xfrm>
          <a:prstGeom prst="arc">
            <a:avLst/>
          </a:prstGeom>
          <a:solidFill>
            <a:srgbClr val="FBBF2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5029200"/>
            <a:ext cx="2011680" cy="3840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coils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37960" y="1691640"/>
            <a:ext cx="4572000" cy="3520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Field current controls magnetic flux.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Can be connected separately, in series or in shunt with the armature.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Series field gives high starting torque, useful for starter motors.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8FAFC"/>
                </a:solidFill>
              </a:rPr>
              <a:t>• Extra copper and losses compared with permanent magnets.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720840" y="5440680"/>
            <a:ext cx="406908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trade-off: controllability versus complexity, heat and cost.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Commutation and continuous rotation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The commutator flips coil current every half turn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920240"/>
            <a:ext cx="468173" cy="2011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35147" y="1920240"/>
            <a:ext cx="468173" cy="20116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420978" y="214884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420978" y="259141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20978" y="303397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20978" y="347654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2331720"/>
            <a:ext cx="868680" cy="11430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9910" y="2731770"/>
            <a:ext cx="486461" cy="28575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65960" y="1508760"/>
            <a:ext cx="402336" cy="2926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251960"/>
            <a:ext cx="2468880" cy="347472"/>
          </a:xfrm>
          <a:prstGeom prst="rect">
            <a:avLst/>
          </a:prstGeom>
          <a:solidFill>
            <a:srgbClr val="172033"/>
          </a:solidFill>
          <a:ln w="12700">
            <a:solidFill>
              <a:srgbClr val="47556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starts turn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1920240"/>
            <a:ext cx="468173" cy="2011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755587" y="1920240"/>
            <a:ext cx="468173" cy="20116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941418" y="214884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941418" y="259141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941418" y="303397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41418" y="347654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rot="5400000">
            <a:off x="5349240" y="2331720"/>
            <a:ext cx="868680" cy="11430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 rot="5400000">
            <a:off x="5540350" y="2731770"/>
            <a:ext cx="486461" cy="28575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0" y="1508760"/>
            <a:ext cx="402336" cy="2926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51960"/>
            <a:ext cx="2468880" cy="347472"/>
          </a:xfrm>
          <a:prstGeom prst="rect">
            <a:avLst/>
          </a:prstGeom>
          <a:solidFill>
            <a:srgbClr val="172033"/>
          </a:solidFill>
          <a:ln w="12700">
            <a:solidFill>
              <a:srgbClr val="47556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Connections swap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18120" y="1920240"/>
            <a:ext cx="468173" cy="2011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276027" y="1920240"/>
            <a:ext cx="468173" cy="20116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8461858" y="214884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461858" y="2591410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461858" y="303397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461858" y="3476549"/>
            <a:ext cx="1638605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rot="10800000">
            <a:off x="8869680" y="2331720"/>
            <a:ext cx="868680" cy="11430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 rot="10800000">
            <a:off x="9060790" y="2731770"/>
            <a:ext cx="486461" cy="28575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1508760"/>
            <a:ext cx="402336" cy="2926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046720" y="4251960"/>
            <a:ext cx="2468880" cy="347472"/>
          </a:xfrm>
          <a:prstGeom prst="rect">
            <a:avLst/>
          </a:prstGeom>
          <a:solidFill>
            <a:srgbClr val="172033"/>
          </a:solidFill>
          <a:ln w="12700">
            <a:solidFill>
              <a:srgbClr val="47556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continues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657600" y="2926080"/>
            <a:ext cx="411480" cy="0"/>
          </a:xfrm>
          <a:prstGeom prst="line">
            <a:avLst/>
          </a:prstGeom>
          <a:noFill/>
          <a:ln w="1651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178040" y="2926080"/>
            <a:ext cx="411480" cy="0"/>
          </a:xfrm>
          <a:prstGeom prst="line">
            <a:avLst/>
          </a:prstGeom>
          <a:noFill/>
          <a:ln w="1651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1051560" y="5577840"/>
            <a:ext cx="996696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commutation, the torque would reverse every half-turn and the rotor would not maintain useful rotation.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Starting issues in DC motors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At standstill, there is no back EMF to limit armature current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28800"/>
            <a:ext cx="3840480" cy="685800"/>
          </a:xfrm>
          <a:prstGeom prst="rect">
            <a:avLst/>
          </a:prstGeom>
          <a:solidFill>
            <a:srgbClr val="172033"/>
          </a:solidFill>
          <a:ln w="12700">
            <a:solidFill>
              <a:srgbClr val="24D3E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= Eᵦ + IₐRₐ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start: Eᵦ ≈ 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806440" y="1691640"/>
            <a:ext cx="2286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Armature current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97880" y="4892040"/>
            <a:ext cx="411480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97880" y="1874520"/>
            <a:ext cx="0" cy="301752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2148840"/>
            <a:ext cx="822960" cy="27432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3977640"/>
            <a:ext cx="822960" cy="914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4389120"/>
            <a:ext cx="822960" cy="5029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50292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502920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5029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load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3977640" cy="1828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Very low armature resistance can cause large inrush current.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High current can damage brushes, commutator and windings.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High torque can shock-load the mechanical system.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Managing motor starting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Limit current until speed and back EMF build up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2148840" cy="36576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resistor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54680" y="1645920"/>
            <a:ext cx="2743200" cy="658368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Temporary resistance reduces inrush current.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63640" y="1645920"/>
            <a:ext cx="2148840" cy="3657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Electronic drive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595360" y="1645920"/>
            <a:ext cx="2743200" cy="658368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PWM or controlled ramp increases voltage gradually.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3520440"/>
            <a:ext cx="2148840" cy="365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154680" y="3520440"/>
            <a:ext cx="2743200" cy="658368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Fuse, overload and thermal protection sized for the application.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263640" y="3520440"/>
            <a:ext cx="2148840" cy="3657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Interlocks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95360" y="3520440"/>
            <a:ext cx="2743200" cy="658368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Prevent starting under unsafe mechanical conditions.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5577840"/>
            <a:ext cx="9372600" cy="530352"/>
          </a:xfrm>
          <a:prstGeom prst="rect">
            <a:avLst/>
          </a:prstGeom>
          <a:solidFill>
            <a:srgbClr val="111827"/>
          </a:solidFill>
          <a:ln w="12700">
            <a:solidFill>
              <a:srgbClr val="F8717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 safety note: use low-voltage supplies, current limiting, guarded rotating parts and clear stop controls.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Example: car starting motor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A compact high-current DC motor used for a short duty cycle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057400"/>
            <a:ext cx="3657600" cy="1508760"/>
          </a:xfrm>
          <a:prstGeom prst="can">
            <a:avLst/>
          </a:prstGeom>
          <a:solidFill>
            <a:srgbClr val="172033"/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series-wound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motor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1463040" cy="4114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23560" y="2240280"/>
            <a:ext cx="1234440" cy="1234440"/>
          </a:xfrm>
          <a:prstGeom prst="ellipse">
            <a:avLst/>
          </a:prstGeom>
          <a:solidFill>
            <a:srgbClr val="111827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3630168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35240" y="1508760"/>
            <a:ext cx="2377440" cy="237744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4755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1993392"/>
            <a:ext cx="1417320" cy="141732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flywheel ring gear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12280" y="2834640"/>
            <a:ext cx="822960" cy="-13716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25880" y="4315968"/>
            <a:ext cx="5212080" cy="438912"/>
          </a:xfrm>
          <a:prstGeom prst="rect">
            <a:avLst/>
          </a:prstGeom>
          <a:solidFill>
            <a:srgbClr val="172033"/>
          </a:solidFill>
          <a:ln w="12700">
            <a:solidFill>
              <a:srgbClr val="FB923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solenoid engages gear and switches high current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20840" y="4251960"/>
            <a:ext cx="4526280" cy="1600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Very high starting torque.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Operates for a few seconds only.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Large current from the battery.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Typically uses a solenoid, pinion and reduction gearing.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 starter sequence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From key/button input to engine cranking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 start command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023360" y="1874520"/>
            <a:ext cx="3657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20640" y="164592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Solenoid pulls 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72400" y="1874520"/>
            <a:ext cx="3657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9680" y="164592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Pinion engages ring gear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High-current contacts close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023360" y="3794760"/>
            <a:ext cx="3657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526280" y="3566160"/>
            <a:ext cx="457200" cy="457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0640" y="356616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cranks engine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0" y="3794760"/>
            <a:ext cx="3657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8275320" y="3566160"/>
            <a:ext cx="457200" cy="457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3566160"/>
            <a:ext cx="2606040" cy="457200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 fires; pinion disengages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5806440"/>
            <a:ext cx="960120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F8717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design point: the motor is not designed for continuous operation; overheating occurs if cranking is prolonged.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DC generators or dynamos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Mechanical rotation can generate a DC output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28800"/>
            <a:ext cx="848563" cy="29718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277917" y="1828800"/>
            <a:ext cx="848563" cy="29718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989734" y="2057400"/>
            <a:ext cx="2969971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89734" y="2711196"/>
            <a:ext cx="2969971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89734" y="3364992"/>
            <a:ext cx="2969971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89734" y="4018788"/>
            <a:ext cx="2969971" cy="0"/>
          </a:xfrm>
          <a:prstGeom prst="line">
            <a:avLst/>
          </a:prstGeom>
          <a:noFill/>
          <a:ln w="15240">
            <a:solidFill>
              <a:srgbClr val="A7B2C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rot="1500000">
            <a:off x="2606040" y="2331720"/>
            <a:ext cx="1600200" cy="169164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 rot="1500000">
            <a:off x="2958084" y="2923794"/>
            <a:ext cx="896112" cy="42291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rotating coil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1200000">
            <a:off x="4480560" y="2423160"/>
            <a:ext cx="822960" cy="822960"/>
          </a:xfrm>
          <a:prstGeom prst="circularArrow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6300" y="2694737"/>
            <a:ext cx="411480" cy="230429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4983480"/>
            <a:ext cx="201168" cy="201168"/>
          </a:xfrm>
          <a:prstGeom prst="ellipse">
            <a:avLst/>
          </a:prstGeom>
          <a:solidFill>
            <a:srgbClr val="24D3EE"/>
          </a:solidFill>
          <a:ln w="12700">
            <a:solidFill>
              <a:srgbClr val="24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47672" y="522122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4983480"/>
            <a:ext cx="201168" cy="201168"/>
          </a:xfrm>
          <a:prstGeom prst="ellipse">
            <a:avLst/>
          </a:prstGeom>
          <a:solidFill>
            <a:srgbClr val="24D3EE"/>
          </a:solidFill>
          <a:ln w="12700">
            <a:solidFill>
              <a:srgbClr val="24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522122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834640" y="4663440"/>
            <a:ext cx="-685800" cy="347472"/>
          </a:xfrm>
          <a:prstGeom prst="line">
            <a:avLst/>
          </a:prstGeom>
          <a:noFill/>
          <a:ln w="15240">
            <a:solidFill>
              <a:srgbClr val="24D3E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657600" y="4663440"/>
            <a:ext cx="685800" cy="347472"/>
          </a:xfrm>
          <a:prstGeom prst="line">
            <a:avLst/>
          </a:prstGeom>
          <a:noFill/>
          <a:ln w="15240">
            <a:solidFill>
              <a:srgbClr val="24D3E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537960" y="1828800"/>
            <a:ext cx="4572000" cy="2926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Conductors cut magnetic flux when the rotor turns.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An EMF is induced in the conductors.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8FAFC"/>
                </a:solidFill>
              </a:rPr>
              <a:t>• The commutator rectifies the coil output to give pulsating DC at the brushes.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5074920"/>
            <a:ext cx="4023360" cy="5029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 action converts mechanical input into electrical output.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Fleming’s right-hand rule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Used for generators: field + motion gives induced current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2514600"/>
            <a:ext cx="457200" cy="1417320"/>
          </a:xfrm>
          <a:prstGeom prst="up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3520440"/>
            <a:ext cx="1600200" cy="457200"/>
          </a:xfrm>
          <a:prstGeom prst="rightArrow">
            <a:avLst/>
          </a:prstGeom>
          <a:solidFill>
            <a:srgbClr val="24D3EE"/>
          </a:solidFill>
          <a:ln w="12700">
            <a:solidFill>
              <a:srgbClr val="24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2057400"/>
            <a:ext cx="457200" cy="1417320"/>
          </a:xfrm>
          <a:prstGeom prst="downArrow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81912" y="4069080"/>
            <a:ext cx="1143000" cy="3200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4069080"/>
            <a:ext cx="1325880" cy="32004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N→S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1207008"/>
            <a:ext cx="1600200" cy="3200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Induced current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" y="1828800"/>
            <a:ext cx="461772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 hand = generator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080760" y="1874520"/>
            <a:ext cx="4754880" cy="2057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Thumb → conductor Motion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First finger → magnetic Field direction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</a:rPr>
              <a:t>• Second finger → induced Current direction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309360" y="4663440"/>
            <a:ext cx="4251960" cy="566928"/>
          </a:xfrm>
          <a:prstGeom prst="rect">
            <a:avLst/>
          </a:prstGeom>
          <a:solidFill>
            <a:srgbClr val="172033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aid: left = motors, right = generators.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Dynamo construction and output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A commutator gives a unidirectional output at the brushes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9556" y="2788920"/>
            <a:ext cx="864108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694176" y="2788920"/>
            <a:ext cx="822960" cy="0"/>
          </a:xfrm>
          <a:prstGeom prst="line">
            <a:avLst/>
          </a:prstGeom>
          <a:noFill/>
          <a:ln w="2032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66928" y="1924812"/>
            <a:ext cx="617220" cy="172821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2160" dirty="0"/>
          </a:p>
        </p:txBody>
      </p:sp>
      <p:sp>
        <p:nvSpPr>
          <p:cNvPr id="11" name="Text 9"/>
          <p:cNvSpPr/>
          <p:nvPr/>
        </p:nvSpPr>
        <p:spPr>
          <a:xfrm>
            <a:off x="4393692" y="1924812"/>
            <a:ext cx="617220" cy="172821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160" dirty="0"/>
          </a:p>
        </p:txBody>
      </p:sp>
      <p:sp>
        <p:nvSpPr>
          <p:cNvPr id="12" name="Shape 10"/>
          <p:cNvSpPr/>
          <p:nvPr/>
        </p:nvSpPr>
        <p:spPr>
          <a:xfrm>
            <a:off x="1883664" y="1883664"/>
            <a:ext cx="1810512" cy="1810512"/>
          </a:xfrm>
          <a:prstGeom prst="ellipse">
            <a:avLst/>
          </a:prstGeom>
          <a:solidFill>
            <a:srgbClr val="172033"/>
          </a:solidFill>
          <a:ln w="17780">
            <a:solidFill>
              <a:srgbClr val="24D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500000">
            <a:off x="2443277" y="2089404"/>
            <a:ext cx="691286" cy="1399032"/>
          </a:xfrm>
          <a:prstGeom prst="rect">
            <a:avLst/>
          </a:prstGeom>
          <a:solidFill>
            <a:srgbClr val="FB923C">
              <a:alpha val="90000"/>
            </a:srgbClr>
          </a:solidFill>
          <a:ln w="1397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0787" y="2640787"/>
            <a:ext cx="296266" cy="29626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1700" y="3653028"/>
            <a:ext cx="1234440" cy="0"/>
          </a:xfrm>
          <a:prstGeom prst="line">
            <a:avLst/>
          </a:prstGeom>
          <a:noFill/>
          <a:ln w="38100">
            <a:solidFill>
              <a:srgbClr val="F8FA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53996" y="3760013"/>
            <a:ext cx="10698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ring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868680" y="1554480"/>
            <a:ext cx="1828800" cy="34747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mechanical input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828800" y="1920240"/>
            <a:ext cx="548640" cy="50292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023360" y="4800600"/>
            <a:ext cx="1371600" cy="347472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output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00400" y="3886200"/>
            <a:ext cx="1051560" cy="868680"/>
          </a:xfrm>
          <a:prstGeom prst="line">
            <a:avLst/>
          </a:prstGeom>
          <a:noFill/>
          <a:ln w="19050">
            <a:solidFill>
              <a:srgbClr val="24D3E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0" y="4754880"/>
            <a:ext cx="41148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1920240"/>
            <a:ext cx="0" cy="283464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2743200"/>
            <a:ext cx="731520" cy="1554480"/>
          </a:xfrm>
          <a:prstGeom prst="arc">
            <a:avLst/>
          </a:prstGeom>
          <a:solidFill>
            <a:srgbClr val="24D3EE">
              <a:alpha val="0"/>
            </a:srgbClr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96912" y="2743200"/>
            <a:ext cx="731520" cy="1554480"/>
          </a:xfrm>
          <a:prstGeom prst="arc">
            <a:avLst/>
          </a:prstGeom>
          <a:solidFill>
            <a:srgbClr val="24D3EE">
              <a:alpha val="0"/>
            </a:srgbClr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743200"/>
            <a:ext cx="731520" cy="1554480"/>
          </a:xfrm>
          <a:prstGeom prst="arc">
            <a:avLst/>
          </a:prstGeom>
          <a:solidFill>
            <a:srgbClr val="24D3EE">
              <a:alpha val="0"/>
            </a:srgbClr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14816" y="2743200"/>
            <a:ext cx="731520" cy="1554480"/>
          </a:xfrm>
          <a:prstGeom prst="arc">
            <a:avLst/>
          </a:prstGeom>
          <a:solidFill>
            <a:srgbClr val="24D3EE">
              <a:alpha val="0"/>
            </a:srgbClr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73768" y="2743200"/>
            <a:ext cx="731520" cy="1554480"/>
          </a:xfrm>
          <a:prstGeom prst="arc">
            <a:avLst/>
          </a:prstGeom>
          <a:solidFill>
            <a:srgbClr val="24D3EE">
              <a:alpha val="0"/>
            </a:srgbClr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1554480"/>
            <a:ext cx="32918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pulsating DC after commutation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0800" y="5166360"/>
            <a:ext cx="4297680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Commutator reverses the internal coil connection each half-turn.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External polarity stays the same at the brushes.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Output ripple reduces with more coils and more commutator segments.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Example: bicycle dynamo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Wheel motion drives a small generator for lighting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965960"/>
            <a:ext cx="3200400" cy="3200400"/>
          </a:xfrm>
          <a:prstGeom prst="ellipse">
            <a:avLst/>
          </a:prstGeom>
          <a:solidFill>
            <a:srgbClr val="0F172A"/>
          </a:solidFill>
          <a:ln w="38100">
            <a:solidFill>
              <a:srgbClr val="4755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2542032"/>
            <a:ext cx="2057400" cy="205740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4755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3566160"/>
            <a:ext cx="2286000" cy="-45720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">
            <a:off x="4251960" y="2468880"/>
            <a:ext cx="1051560" cy="1691640"/>
          </a:xfrm>
          <a:prstGeom prst="can">
            <a:avLst/>
          </a:prstGeom>
          <a:solidFill>
            <a:srgbClr val="172033"/>
          </a:solidFill>
          <a:ln w="25400">
            <a:solidFill>
              <a:srgbClr val="24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 rot="1080000">
            <a:off x="4315968" y="2788920"/>
            <a:ext cx="8961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57800" y="2834640"/>
            <a:ext cx="1234440" cy="-41148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37960" y="2011680"/>
            <a:ext cx="2377440" cy="1097280"/>
          </a:xfrm>
          <a:prstGeom prst="flowChartDisplay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2331720"/>
            <a:ext cx="173736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lamp / LED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5532120"/>
            <a:ext cx="101498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Tyre or hub rotation spins a magnet near a coil.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Voltage rises with wheel speed.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Modern systems often rectify and regulate the output for LEDs.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</a:rPr>
              <a:t>• Drag increases slightly when electrical load is connected.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DC Electrical Machines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67744" y="630936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B2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Recap: DC machines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79552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7B2C7"/>
                </a:solidFill>
              </a:rPr>
              <a:t>Key checks for learners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2011680" cy="0"/>
          </a:xfrm>
          <a:prstGeom prst="line">
            <a:avLst/>
          </a:prstGeom>
          <a:noFill/>
          <a:ln w="25400">
            <a:solidFill>
              <a:srgbClr val="24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54480"/>
            <a:ext cx="402336" cy="329184"/>
          </a:xfrm>
          <a:prstGeom prst="rect">
            <a:avLst/>
          </a:prstGeom>
          <a:solidFill>
            <a:srgbClr val="24D3EE"/>
          </a:solidFill>
          <a:ln w="12700">
            <a:solidFill>
              <a:srgbClr val="24D3EE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1554480"/>
            <a:ext cx="9052560" cy="329184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stator and rotor parts in a simple DC motor.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2313432"/>
            <a:ext cx="402336" cy="32918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313432"/>
            <a:ext cx="9052560" cy="329184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 split-ring commutator is needed.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3072384"/>
            <a:ext cx="402336" cy="32918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072384"/>
            <a:ext cx="9052560" cy="329184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Fleming’s left-hand rule to predict force direction.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2960" y="3831336"/>
            <a:ext cx="402336" cy="32918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3831336"/>
            <a:ext cx="9052560" cy="329184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 DC motor draws high current at start.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2960" y="4590288"/>
            <a:ext cx="402336" cy="32918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4590288"/>
            <a:ext cx="9052560" cy="329184"/>
          </a:xfrm>
          <a:prstGeom prst="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how a bicycle dynamo generates electrical power.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188720" y="5669280"/>
            <a:ext cx="987552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24D3E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idea: run a low-voltage DC motor, observe starting current, reverse polarity, then spin the shaft and measure generated voltage.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End of deck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 Electrical Machines</dc:title>
  <dc:subject>DC Electrical Machines</dc:subject>
  <dc:creator>OpenAI</dc:creator>
  <cp:lastModifiedBy>OpenAI</cp:lastModifiedBy>
  <cp:revision>1</cp:revision>
  <dcterms:created xsi:type="dcterms:W3CDTF">2026-07-16T09:50:03Z</dcterms:created>
  <dcterms:modified xsi:type="dcterms:W3CDTF">2026-07-16T09:50:03Z</dcterms:modified>
</cp:coreProperties>
</file>