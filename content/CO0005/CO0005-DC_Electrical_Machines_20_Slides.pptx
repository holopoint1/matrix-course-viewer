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10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2578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Electrical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4754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 • Generators • Commutation • Real-world examples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218688"/>
            <a:ext cx="1828800" cy="347472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slide deck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24912" y="3218688"/>
            <a:ext cx="114300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slides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00266" y="3246120"/>
            <a:ext cx="1104138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117836" y="3246120"/>
            <a:ext cx="105156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21908" y="2141982"/>
            <a:ext cx="788670" cy="22082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76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760" dirty="0"/>
          </a:p>
        </p:txBody>
      </p:sp>
      <p:sp>
        <p:nvSpPr>
          <p:cNvPr id="12" name="Text 10"/>
          <p:cNvSpPr/>
          <p:nvPr/>
        </p:nvSpPr>
        <p:spPr>
          <a:xfrm>
            <a:off x="11011662" y="2141982"/>
            <a:ext cx="788670" cy="22082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76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760" dirty="0"/>
          </a:p>
        </p:txBody>
      </p:sp>
      <p:sp>
        <p:nvSpPr>
          <p:cNvPr id="13" name="Shape 11"/>
          <p:cNvSpPr/>
          <p:nvPr/>
        </p:nvSpPr>
        <p:spPr>
          <a:xfrm>
            <a:off x="7804404" y="2089404"/>
            <a:ext cx="2313432" cy="2313432"/>
          </a:xfrm>
          <a:prstGeom prst="ellipse">
            <a:avLst/>
          </a:prstGeom>
          <a:solidFill>
            <a:srgbClr val="172033"/>
          </a:solidFill>
          <a:ln w="1778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rot="1500000">
            <a:off x="8519465" y="2352294"/>
            <a:ext cx="883310" cy="1787652"/>
          </a:xfrm>
          <a:prstGeom prst="rect">
            <a:avLst/>
          </a:prstGeom>
          <a:solidFill>
            <a:srgbClr val="FB923C">
              <a:alpha val="90000"/>
            </a:srgbClr>
          </a:solidFill>
          <a:ln w="1397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771839" y="3056839"/>
            <a:ext cx="378562" cy="37856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172450" y="4350258"/>
            <a:ext cx="157734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77606" y="4486961"/>
            <a:ext cx="1367028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ring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36092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energy ⇄ mechanical rotation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route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From simple motor action to dynamos in everyday use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23544" y="1417320"/>
            <a:ext cx="402336" cy="27432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24D3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55064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039112" y="1417320"/>
            <a:ext cx="402336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FBBF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70632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54680" y="1417320"/>
            <a:ext cx="40233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25496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Brushes &amp; split rings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86200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70248" y="1417320"/>
            <a:ext cx="402336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41064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Fleming rules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01768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85816" y="1417320"/>
            <a:ext cx="40233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56632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FB923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Stator / rotor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17336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01384" y="1417320"/>
            <a:ext cx="402336" cy="27432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24D3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systems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32904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616952" y="1417320"/>
            <a:ext cx="402336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87768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FBBF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48472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732520" y="1417320"/>
            <a:ext cx="40233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03336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motor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464040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848088" y="1417320"/>
            <a:ext cx="402336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18904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generator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579608" y="2295144"/>
            <a:ext cx="5486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963656" y="1417320"/>
            <a:ext cx="40233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634472" y="1874520"/>
            <a:ext cx="1060704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FB923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Bicycle dynamo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51560" y="3886200"/>
            <a:ext cx="100584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learners should be able to explain how a DC machine converts energy, identify key parts, and describe common starting and application issues.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DC electrical machine?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The same core machine can be used as a motor or as a generator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874520" cy="493776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901952"/>
            <a:ext cx="1325880" cy="384048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electrical 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7690" y="2103120"/>
            <a:ext cx="72009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606540" y="2103120"/>
            <a:ext cx="68580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000500" y="1383030"/>
            <a:ext cx="514350" cy="14401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89470" y="1383030"/>
            <a:ext cx="514350" cy="14401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7780" y="1348740"/>
            <a:ext cx="1508760" cy="1508760"/>
          </a:xfrm>
          <a:prstGeom prst="ellipse">
            <a:avLst/>
          </a:prstGeom>
          <a:solidFill>
            <a:srgbClr val="172033"/>
          </a:solidFill>
          <a:ln w="1778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 rot="1500000">
            <a:off x="5564124" y="1520190"/>
            <a:ext cx="576072" cy="1165860"/>
          </a:xfrm>
          <a:prstGeom prst="rect">
            <a:avLst/>
          </a:prstGeom>
          <a:solidFill>
            <a:srgbClr val="FB923C">
              <a:alpha val="90000"/>
            </a:srgbClr>
          </a:solidFill>
          <a:ln w="1397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728716" y="1979676"/>
            <a:ext cx="246888" cy="2468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337810" y="2823210"/>
            <a:ext cx="102870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06390" y="2912364"/>
            <a:ext cx="891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ring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086600" y="1901952"/>
            <a:ext cx="13258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rotation 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2377440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/ DYNAMO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246120" y="4233672"/>
            <a:ext cx="13258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rotation 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89170" y="4434840"/>
            <a:ext cx="72009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018020" y="4434840"/>
            <a:ext cx="68580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11980" y="3714750"/>
            <a:ext cx="514350" cy="14401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00950" y="3714750"/>
            <a:ext cx="514350" cy="14401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09260" y="3680460"/>
            <a:ext cx="1508760" cy="1508760"/>
          </a:xfrm>
          <a:prstGeom prst="ellipse">
            <a:avLst/>
          </a:prstGeom>
          <a:solidFill>
            <a:srgbClr val="172033"/>
          </a:solidFill>
          <a:ln w="1778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 rot="1500000">
            <a:off x="5975604" y="3851910"/>
            <a:ext cx="576072" cy="1165860"/>
          </a:xfrm>
          <a:prstGeom prst="rect">
            <a:avLst/>
          </a:prstGeom>
          <a:solidFill>
            <a:srgbClr val="FB923C">
              <a:alpha val="90000"/>
            </a:srgbClr>
          </a:solidFill>
          <a:ln w="1397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140196" y="4311396"/>
            <a:ext cx="246888" cy="2468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749290" y="5154930"/>
            <a:ext cx="102870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817870" y="5244084"/>
            <a:ext cx="891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ring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543800" y="4233672"/>
            <a:ext cx="1325880" cy="384048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electrical out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1874520"/>
            <a:ext cx="242316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Current, magnetic field and force are linked.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Mechanical rotation and induced voltage are linked.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The commutator controls the external DC connection.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DC motor construction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The minimum parts needed to produce rotation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33933" cy="2834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01107" y="1828800"/>
            <a:ext cx="833933" cy="2834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69618" y="2057400"/>
            <a:ext cx="291876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969618" y="2681021"/>
            <a:ext cx="291876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69618" y="3304642"/>
            <a:ext cx="291876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69618" y="3928262"/>
            <a:ext cx="291876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rot="1680000">
            <a:off x="2606040" y="2240280"/>
            <a:ext cx="1600200" cy="192024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 rot="1680000">
            <a:off x="2958084" y="2912364"/>
            <a:ext cx="896112" cy="480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armature coil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3246120"/>
            <a:ext cx="475488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53328" y="3099816"/>
            <a:ext cx="502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873752"/>
            <a:ext cx="1097280" cy="384048"/>
          </a:xfrm>
          <a:prstGeom prst="rect">
            <a:avLst/>
          </a:prstGeom>
          <a:solidFill>
            <a:srgbClr val="172033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brushes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800600"/>
            <a:ext cx="1417320" cy="475488"/>
          </a:xfrm>
          <a:prstGeom prst="rect">
            <a:avLst/>
          </a:prstGeom>
          <a:solidFill>
            <a:srgbClr val="172033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split-ring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commutator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4828032"/>
            <a:ext cx="228600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840480" y="4782312"/>
            <a:ext cx="0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44805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Stator: fixed magnetic field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Rotor/armature: rotating coil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Commutator: reverses coil connections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Brushes: sliding electrical contact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DC motor operation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A current-carrying conductor in a magnetic field experiences a force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855878" cy="3154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16322" y="1691640"/>
            <a:ext cx="855878" cy="3154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99793" y="1920240"/>
            <a:ext cx="2995574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999793" y="2614270"/>
            <a:ext cx="2995574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99793" y="3308299"/>
            <a:ext cx="2995574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99793" y="4002329"/>
            <a:ext cx="2995574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063240" y="2286000"/>
            <a:ext cx="502920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95728" y="2468880"/>
            <a:ext cx="6400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page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⊙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090672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⊗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867912" y="1965960"/>
            <a:ext cx="347472" cy="868680"/>
          </a:xfrm>
          <a:prstGeom prst="up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514600" y="3767328"/>
            <a:ext cx="347472" cy="868680"/>
          </a:xfrm>
          <a:prstGeom prst="down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417320" y="5166360"/>
            <a:ext cx="420624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opposite forces create torque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Force direction depends on field and current direction.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Opposite sides of the coil are pushed in opposite directions.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The pair of forces creates a turning moment.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12280" y="4709160"/>
            <a:ext cx="4160520" cy="685800"/>
          </a:xfrm>
          <a:prstGeom prst="rect">
            <a:avLst/>
          </a:prstGeom>
          <a:solidFill>
            <a:srgbClr val="172033"/>
          </a:solidFill>
          <a:ln w="12700">
            <a:solidFill>
              <a:srgbClr val="24D3EE"/>
            </a:solidFill>
          </a:ln>
        </p:spPr>
        <p:txBody>
          <a:bodyPr wrap="square" lIns="1524" tIns="1524" rIns="1524" bIns="152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motor action converts electrical energy into mechanical movement.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 rings and carbon brushes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How a DC motor keeps turning in the same direction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234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brush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23160" y="2377440"/>
            <a:ext cx="123444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3611880"/>
            <a:ext cx="123444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2834640"/>
            <a:ext cx="1234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brush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42032" y="3136392"/>
            <a:ext cx="100584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insulated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3081528"/>
            <a:ext cx="320040" cy="0"/>
          </a:xfrm>
          <a:prstGeom prst="line">
            <a:avLst/>
          </a:prstGeom>
          <a:noFill/>
          <a:ln w="1397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0" y="2679192"/>
            <a:ext cx="320040" cy="402336"/>
          </a:xfrm>
          <a:prstGeom prst="line">
            <a:avLst/>
          </a:prstGeom>
          <a:noFill/>
          <a:ln w="1397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577840" y="1737360"/>
            <a:ext cx="521208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Split ring = two insulated copper segments.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Brushes stay fixed while the commutator rotates.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Every half turn the coil connections swap.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This reverses coil current at the right time.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23560" y="5029200"/>
            <a:ext cx="4846320" cy="50292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torque stays in the same rotational direction.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Fleming’s left-hand rule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Used for motors: field + current gives force / motion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920240" y="2514600"/>
            <a:ext cx="457200" cy="1417320"/>
          </a:xfrm>
          <a:prstGeom prst="up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77440" y="3520440"/>
            <a:ext cx="1600200" cy="457200"/>
          </a:xfrm>
          <a:prstGeom prst="rightArrow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457200" cy="1417320"/>
          </a:xfrm>
          <a:prstGeom prst="downArrow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25880" y="4069080"/>
            <a:ext cx="16459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/ Force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4069080"/>
            <a:ext cx="1325880" cy="32004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N→S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1207008"/>
            <a:ext cx="1554480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+ to 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1828800"/>
            <a:ext cx="4343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hand = motor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874520"/>
            <a:ext cx="47548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Thumb → Motion / force on conductor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First finger → magnetic Field direction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Second finger → conventional Current direction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4617720"/>
            <a:ext cx="4480560" cy="749808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1778" tIns="1778" rIns="1778" bIns="177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use: set two known directions, then the third points to the missing direction.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Stators and rotors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Two key mechanical groups in a rotating electrical machine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4160520" cy="4160520"/>
          </a:xfrm>
          <a:prstGeom prst="ellipse">
            <a:avLst/>
          </a:prstGeom>
          <a:solidFill>
            <a:srgbClr val="172033"/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965960" y="2514600"/>
            <a:ext cx="2240280" cy="2240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816352" y="3364992"/>
            <a:ext cx="548640" cy="54864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34440" y="1783080"/>
            <a:ext cx="3703320" cy="3703320"/>
          </a:xfrm>
          <a:prstGeom prst="arc">
            <a:avLst/>
          </a:prstGeom>
          <a:solidFill>
            <a:srgbClr val="60A5FA"/>
          </a:solidFill>
          <a:ln w="889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rot="10800000">
            <a:off x="1234440" y="1783080"/>
            <a:ext cx="3703320" cy="3703320"/>
          </a:xfrm>
          <a:prstGeom prst="arc">
            <a:avLst/>
          </a:prstGeom>
          <a:solidFill>
            <a:srgbClr val="F87171"/>
          </a:solidFill>
          <a:ln w="889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5806440"/>
            <a:ext cx="2240280" cy="384048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STATOR: fixed part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5806440"/>
            <a:ext cx="278892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ROTOR / ARMATURE: rotating part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5760720"/>
            <a:ext cx="365760" cy="0"/>
          </a:xfrm>
          <a:prstGeom prst="line">
            <a:avLst/>
          </a:prstGeom>
          <a:noFill/>
          <a:ln w="15240">
            <a:solidFill>
              <a:srgbClr val="24D3E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0" y="5760720"/>
            <a:ext cx="0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92240" y="1783080"/>
            <a:ext cx="466344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Stator provides the magnetic field.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Rotor carries conductors and turns on bearings.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Air gap must be small and uniform.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Commutator sits on the rotor shaft in many DC machines.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Permanent-magnet DC machines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The stator field is provided by permanent magnets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96012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069080" y="3108960"/>
            <a:ext cx="91440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685800" cy="1920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685800" cy="1920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057400" y="2103120"/>
            <a:ext cx="2011680" cy="2011680"/>
          </a:xfrm>
          <a:prstGeom prst="ellipse">
            <a:avLst/>
          </a:prstGeom>
          <a:solidFill>
            <a:srgbClr val="172033"/>
          </a:solidFill>
          <a:ln w="1778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rot="1500000">
            <a:off x="2679192" y="2331720"/>
            <a:ext cx="768096" cy="1554480"/>
          </a:xfrm>
          <a:prstGeom prst="rect">
            <a:avLst/>
          </a:prstGeom>
          <a:solidFill>
            <a:srgbClr val="FB923C">
              <a:alpha val="90000"/>
            </a:srgbClr>
          </a:solidFill>
          <a:ln w="1397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898648" y="2944368"/>
            <a:ext cx="329184" cy="3291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377440" y="4069080"/>
            <a:ext cx="137160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468880" y="4187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5102352"/>
            <a:ext cx="128016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5102352"/>
            <a:ext cx="1005840" cy="347472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5102352"/>
            <a:ext cx="201168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at small sizes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1737360"/>
            <a:ext cx="46634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No field winding or field supply needed.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Simple control by changing armature voltage or using PWM.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Common in small fans, toys, actuators, pumps and automotive auxiliaries.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Field strength is not easily adjustable.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720840" y="5440680"/>
            <a:ext cx="406908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observation: reversing the supply reverses motor direction.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Electromagnet field DC machines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The stator field is produced by coils wound on pole pieces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19302" cy="2834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4298" y="1828800"/>
            <a:ext cx="819302" cy="2834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49501" y="2057400"/>
            <a:ext cx="2867558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949501" y="2681021"/>
            <a:ext cx="2867558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49501" y="3304642"/>
            <a:ext cx="2867558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49501" y="3928262"/>
            <a:ext cx="2867558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627632" y="196596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 rot="10800000">
            <a:off x="4572000" y="196596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627632" y="237744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rot="10800000">
            <a:off x="4572000" y="237744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627632" y="278892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 rot="10800000">
            <a:off x="4572000" y="278892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627632" y="320040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rot="10800000">
            <a:off x="4572000" y="320040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627632" y="361188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 rot="10800000">
            <a:off x="4572000" y="3611880"/>
            <a:ext cx="685800" cy="457200"/>
          </a:xfrm>
          <a:prstGeom prst="arc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920240" y="5029200"/>
            <a:ext cx="20116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coils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1691640"/>
            <a:ext cx="4572000" cy="3520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Field current controls magnetic flux.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Can be connected separately, in series or in shunt with the armature.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Series field gives high starting torque, useful for starter motors.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• Extra copper and losses compared with permanent magnets.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720840" y="5440680"/>
            <a:ext cx="406908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trade-off: controllability versus complexity, heat and cost.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Commutation and continuous rotation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The commutator flips coil current every half turn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68173" cy="2011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35147" y="1920240"/>
            <a:ext cx="468173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20978" y="214884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20978" y="259141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420978" y="303397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420978" y="347654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828800" y="2331720"/>
            <a:ext cx="868680" cy="114300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19910" y="2731770"/>
            <a:ext cx="486461" cy="2857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1508760"/>
            <a:ext cx="402336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2468880" cy="347472"/>
          </a:xfrm>
          <a:prstGeom prst="rect">
            <a:avLst/>
          </a:prstGeom>
          <a:solidFill>
            <a:srgbClr val="172033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 starts turn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1920240"/>
            <a:ext cx="468173" cy="2011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55587" y="1920240"/>
            <a:ext cx="468173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941418" y="214884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41418" y="259141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41418" y="303397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941418" y="347654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 rot="5400000">
            <a:off x="5349240" y="2331720"/>
            <a:ext cx="868680" cy="114300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 rot="5400000">
            <a:off x="5540350" y="2731770"/>
            <a:ext cx="486461" cy="2857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1508760"/>
            <a:ext cx="402336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251960"/>
            <a:ext cx="2468880" cy="347472"/>
          </a:xfrm>
          <a:prstGeom prst="rect">
            <a:avLst/>
          </a:prstGeom>
          <a:solidFill>
            <a:srgbClr val="172033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 swap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18120" y="1920240"/>
            <a:ext cx="468173" cy="2011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276027" y="1920240"/>
            <a:ext cx="468173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461858" y="214884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461858" y="2591410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461858" y="303397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461858" y="3476549"/>
            <a:ext cx="1638605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 rot="10800000">
            <a:off x="8869680" y="2331720"/>
            <a:ext cx="868680" cy="114300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 rot="10800000">
            <a:off x="9060790" y="2731770"/>
            <a:ext cx="486461" cy="2857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06840" y="1508760"/>
            <a:ext cx="402336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0" y="4251960"/>
            <a:ext cx="2468880" cy="347472"/>
          </a:xfrm>
          <a:prstGeom prst="rect">
            <a:avLst/>
          </a:prstGeom>
          <a:solidFill>
            <a:srgbClr val="172033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 continues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57600" y="2926080"/>
            <a:ext cx="411480" cy="0"/>
          </a:xfrm>
          <a:prstGeom prst="line">
            <a:avLst/>
          </a:prstGeom>
          <a:noFill/>
          <a:ln w="1651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178040" y="2926080"/>
            <a:ext cx="411480" cy="0"/>
          </a:xfrm>
          <a:prstGeom prst="line">
            <a:avLst/>
          </a:prstGeom>
          <a:noFill/>
          <a:ln w="1651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51560" y="5577840"/>
            <a:ext cx="99669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commutation, the torque would reverse every half-turn and the rotor would not maintain useful rotation.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Starting issues in DC motors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At standstill, there is no back EMF to limit armature current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840480" cy="685800"/>
          </a:xfrm>
          <a:prstGeom prst="rect">
            <a:avLst/>
          </a:prstGeom>
          <a:solidFill>
            <a:srgbClr val="172033"/>
          </a:solidFill>
          <a:ln w="12700">
            <a:solidFill>
              <a:srgbClr val="24D3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Eᵦ + IₐRₐ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840480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start: Eᵦ ≈ 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064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Armature current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4892040"/>
            <a:ext cx="41148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97880" y="1874520"/>
            <a:ext cx="0" cy="30175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822960" cy="2743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635240" y="3977640"/>
            <a:ext cx="822960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961120" y="4389120"/>
            <a:ext cx="82296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55080" y="502920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5029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5029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load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39776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Very low armature resistance can cause large inrush current.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High current can damage brushes, commutator and windings.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High torque can shock-load the mechanical system.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Managing motor starting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Limit current until speed and back EMF build 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2148840" cy="36576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resistor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54680" y="1645920"/>
            <a:ext cx="2743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resistance reduces inrush current.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214884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 drive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0" y="1645920"/>
            <a:ext cx="2743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or controlled ramp increases voltage gradually.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2148840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54680" y="3520440"/>
            <a:ext cx="2743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Fuse, overload and thermal protection sized for the application.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63640" y="3520440"/>
            <a:ext cx="2148840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Interlocks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0" y="3520440"/>
            <a:ext cx="2743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starting under unsafe mechanical conditions.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577840"/>
            <a:ext cx="93726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 safety note: use low-voltage supplies, current limiting, guarded rotating parts and clear stop controls.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car starting motor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A compact high-current DC motor used for a short duty cycle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60120" y="2057400"/>
            <a:ext cx="3657600" cy="1508760"/>
          </a:xfrm>
          <a:prstGeom prst="can">
            <a:avLst/>
          </a:prstGeom>
          <a:solidFill>
            <a:srgbClr val="172033"/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series-wound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motor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146304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623560" y="2240280"/>
            <a:ext cx="1234440" cy="123444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41848" y="3630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508760"/>
            <a:ext cx="2377440" cy="23774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119872" y="1993392"/>
            <a:ext cx="1417320" cy="141732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3524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flywheel ring gear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2834640"/>
            <a:ext cx="82296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25880" y="4315968"/>
            <a:ext cx="5212080" cy="438912"/>
          </a:xfrm>
          <a:prstGeom prst="rect">
            <a:avLst/>
          </a:prstGeom>
          <a:solidFill>
            <a:srgbClr val="172033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solenoid engages gear and switches high current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4251960"/>
            <a:ext cx="45262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Very high starting torque.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Operates for a few seconds only.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Large current from the battery.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Typically uses a solenoid, pinion and reduction gearing.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 starter sequence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From key/button input to engine cranking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start command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1874520"/>
            <a:ext cx="3657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64592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Solenoid pulls 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0" y="1874520"/>
            <a:ext cx="3657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164592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Pinion engages ring gear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High-current contacts close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23360" y="3794760"/>
            <a:ext cx="3657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26280" y="3566160"/>
            <a:ext cx="45720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356616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cranks engine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0" y="3794760"/>
            <a:ext cx="3657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275320" y="3566160"/>
            <a:ext cx="45720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0" y="3566160"/>
            <a:ext cx="2606040" cy="4572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fires; pinion disengages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5806440"/>
            <a:ext cx="96012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design point: the motor is not designed for continuous operation; overheating occurs if cranking is prolonged.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generators or dynamos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Mechanical rotation can generate a DC output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48563" cy="2971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77917" y="1828800"/>
            <a:ext cx="848563" cy="2971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89734" y="2057400"/>
            <a:ext cx="2969971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989734" y="2711196"/>
            <a:ext cx="2969971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89734" y="3364992"/>
            <a:ext cx="2969971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89734" y="4018788"/>
            <a:ext cx="2969971" cy="0"/>
          </a:xfrm>
          <a:prstGeom prst="line">
            <a:avLst/>
          </a:prstGeom>
          <a:noFill/>
          <a:ln w="15240">
            <a:solidFill>
              <a:srgbClr val="A7B2C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rot="1500000">
            <a:off x="2606040" y="2331720"/>
            <a:ext cx="1600200" cy="169164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 rot="1500000">
            <a:off x="2958084" y="2923794"/>
            <a:ext cx="896112" cy="4229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rotating coil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200000">
            <a:off x="4480560" y="2423160"/>
            <a:ext cx="822960" cy="822960"/>
          </a:xfrm>
          <a:prstGeom prst="circularArrow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86300" y="2694737"/>
            <a:ext cx="411480" cy="23042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57400" y="4983480"/>
            <a:ext cx="201168" cy="201168"/>
          </a:xfrm>
          <a:prstGeom prst="ellipse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947672" y="52212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4983480"/>
            <a:ext cx="201168" cy="201168"/>
          </a:xfrm>
          <a:prstGeom prst="ellipse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142232" y="52212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4663440"/>
            <a:ext cx="0" cy="347472"/>
          </a:xfrm>
          <a:prstGeom prst="line">
            <a:avLst/>
          </a:prstGeom>
          <a:noFill/>
          <a:ln w="15240">
            <a:solidFill>
              <a:srgbClr val="24D3E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0" y="4663440"/>
            <a:ext cx="685800" cy="347472"/>
          </a:xfrm>
          <a:prstGeom prst="line">
            <a:avLst/>
          </a:prstGeom>
          <a:noFill/>
          <a:ln w="15240">
            <a:solidFill>
              <a:srgbClr val="24D3E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37960" y="1828800"/>
            <a:ext cx="457200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Conductors cut magnetic flux when the rotor turns.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An EMF is induced in the conductors.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• The commutator rectifies the coil output to give pulsating DC at the brushes.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5074920"/>
            <a:ext cx="402336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action converts mechanical input into electrical output.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Fleming’s right-hand rule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Used for generators: field + motion gives induced current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920240" y="2514600"/>
            <a:ext cx="457200" cy="1417320"/>
          </a:xfrm>
          <a:prstGeom prst="up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77440" y="3520440"/>
            <a:ext cx="1600200" cy="457200"/>
          </a:xfrm>
          <a:prstGeom prst="rightArrow">
            <a:avLst/>
          </a:prstGeom>
          <a:solidFill>
            <a:srgbClr val="24D3EE"/>
          </a:solidFill>
          <a:ln w="127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457200" cy="1417320"/>
          </a:xfrm>
          <a:prstGeom prst="downArrow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581912" y="4069080"/>
            <a:ext cx="114300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4069080"/>
            <a:ext cx="1325880" cy="32004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N→S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1207008"/>
            <a:ext cx="1600200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Induced current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1828800"/>
            <a:ext cx="46177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hand = generator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874520"/>
            <a:ext cx="47548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Thumb → conductor Motion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First finger → magnetic Field direction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• Second finger → induced Current direction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4663440"/>
            <a:ext cx="4251960" cy="566928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aid: left = motors, right = generators.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Dynamo construction and output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A commutator gives a unidirectional output at the brushes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19556" y="2788920"/>
            <a:ext cx="864108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94176" y="2788920"/>
            <a:ext cx="82296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66928" y="1924812"/>
            <a:ext cx="617220" cy="17282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393692" y="1924812"/>
            <a:ext cx="617220" cy="17282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160" dirty="0"/>
          </a:p>
        </p:txBody>
      </p:sp>
      <p:sp>
        <p:nvSpPr>
          <p:cNvPr id="12" name="Shape 10"/>
          <p:cNvSpPr/>
          <p:nvPr/>
        </p:nvSpPr>
        <p:spPr>
          <a:xfrm>
            <a:off x="1883664" y="1883664"/>
            <a:ext cx="1810512" cy="1810512"/>
          </a:xfrm>
          <a:prstGeom prst="ellipse">
            <a:avLst/>
          </a:prstGeom>
          <a:solidFill>
            <a:srgbClr val="172033"/>
          </a:solidFill>
          <a:ln w="1778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rot="1500000">
            <a:off x="2443277" y="2089404"/>
            <a:ext cx="691286" cy="1399032"/>
          </a:xfrm>
          <a:prstGeom prst="rect">
            <a:avLst/>
          </a:prstGeom>
          <a:solidFill>
            <a:srgbClr val="FB923C">
              <a:alpha val="90000"/>
            </a:srgbClr>
          </a:solidFill>
          <a:ln w="1397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40787" y="2640787"/>
            <a:ext cx="296266" cy="29626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171700" y="3653028"/>
            <a:ext cx="123444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253996" y="3760013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ring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68680" y="1554480"/>
            <a:ext cx="182880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input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0" y="1920240"/>
            <a:ext cx="548640" cy="50292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0" y="4800600"/>
            <a:ext cx="1371600" cy="347472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output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0" y="3886200"/>
            <a:ext cx="1051560" cy="868680"/>
          </a:xfrm>
          <a:prstGeom prst="line">
            <a:avLst/>
          </a:prstGeom>
          <a:noFill/>
          <a:ln w="19050">
            <a:solidFill>
              <a:srgbClr val="24D3E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400800" y="4754880"/>
            <a:ext cx="41148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0" cy="28346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537960" y="2743200"/>
            <a:ext cx="731520" cy="1554480"/>
          </a:xfrm>
          <a:prstGeom prst="arc">
            <a:avLst/>
          </a:prstGeom>
          <a:solidFill>
            <a:srgbClr val="24D3EE">
              <a:alpha val="0"/>
            </a:srgbClr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296912" y="2743200"/>
            <a:ext cx="731520" cy="1554480"/>
          </a:xfrm>
          <a:prstGeom prst="arc">
            <a:avLst/>
          </a:prstGeom>
          <a:solidFill>
            <a:srgbClr val="24D3EE">
              <a:alpha val="0"/>
            </a:srgbClr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055864" y="2743200"/>
            <a:ext cx="731520" cy="1554480"/>
          </a:xfrm>
          <a:prstGeom prst="arc">
            <a:avLst/>
          </a:prstGeom>
          <a:solidFill>
            <a:srgbClr val="24D3EE">
              <a:alpha val="0"/>
            </a:srgbClr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814816" y="2743200"/>
            <a:ext cx="731520" cy="1554480"/>
          </a:xfrm>
          <a:prstGeom prst="arc">
            <a:avLst/>
          </a:prstGeom>
          <a:solidFill>
            <a:srgbClr val="24D3EE">
              <a:alpha val="0"/>
            </a:srgbClr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573768" y="2743200"/>
            <a:ext cx="731520" cy="1554480"/>
          </a:xfrm>
          <a:prstGeom prst="arc">
            <a:avLst/>
          </a:prstGeom>
          <a:solidFill>
            <a:srgbClr val="24D3EE">
              <a:alpha val="0"/>
            </a:srgbClr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49224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pulsating DC after commutation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5166360"/>
            <a:ext cx="42976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Commutator reverses the internal coil connection each half-turn.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External polarity stays the same at the brushes.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Output ripple reduces with more coils and more commutator segments.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bicycle dynamo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Wheel motion drives a small generator for lighting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3200400" cy="32004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261872" y="2542032"/>
            <a:ext cx="2057400" cy="205740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286000" y="3566160"/>
            <a:ext cx="228600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rot="1080000">
            <a:off x="4251960" y="2468880"/>
            <a:ext cx="1051560" cy="1691640"/>
          </a:xfrm>
          <a:prstGeom prst="can">
            <a:avLst/>
          </a:prstGeom>
          <a:solidFill>
            <a:srgbClr val="172033"/>
          </a:solidFill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 rot="1080000">
            <a:off x="4315968" y="2788920"/>
            <a:ext cx="896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2834640"/>
            <a:ext cx="123444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37960" y="2011680"/>
            <a:ext cx="2377440" cy="1097280"/>
          </a:xfrm>
          <a:prstGeom prst="flowChartDisplay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12280" y="2331720"/>
            <a:ext cx="17373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 / LED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14984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Tyre or hub rotation spins a magnet near a coil.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Voltage rises with wheel speed.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Modern systems often rectify and regulate the output for LEDs.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Drag increases slightly when electrical load is connected.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DC Electrical Machines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667744" y="63093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DC machines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2C7"/>
                </a:solidFill>
              </a:rPr>
              <a:t>Key checks for learners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2011680" cy="0"/>
          </a:xfrm>
          <a:prstGeom prst="line">
            <a:avLst/>
          </a:prstGeom>
          <a:noFill/>
          <a:ln w="25400">
            <a:solidFill>
              <a:srgbClr val="24D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402336" cy="329184"/>
          </a:xfrm>
          <a:prstGeom prst="rect">
            <a:avLst/>
          </a:prstGeom>
          <a:solidFill>
            <a:srgbClr val="24D3EE"/>
          </a:solidFill>
          <a:ln w="12700">
            <a:solidFill>
              <a:srgbClr val="24D3E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9052560" cy="32918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stator and rotor parts in a simple DC motor.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313432"/>
            <a:ext cx="402336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9052560" cy="32918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split-ring commutator is needed.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072384"/>
            <a:ext cx="402336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72384"/>
            <a:ext cx="9052560" cy="32918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Fleming’s left-hand rule to predict force direction.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3831336"/>
            <a:ext cx="402336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9052560" cy="32918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DC motor draws high current at start.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4590288"/>
            <a:ext cx="402336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590288"/>
            <a:ext cx="9052560" cy="32918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a bicycle dynamo generates electrical power.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88720" y="5669280"/>
            <a:ext cx="98755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4D3EE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idea: run a low-voltage DC motor, observe starting current, reverse polarity, then spin the shaft and measure generated voltage.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End of deck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9D1733CE5A454FA77E3BF31C65FF76" ma:contentTypeVersion="12" ma:contentTypeDescription="Create a new document." ma:contentTypeScope="" ma:versionID="6e6bb57d9995cf8845ed819313fb3cc9">
  <xsd:schema xmlns:xsd="http://www.w3.org/2001/XMLSchema" xmlns:xs="http://www.w3.org/2001/XMLSchema" xmlns:p="http://schemas.microsoft.com/office/2006/metadata/properties" xmlns:ns3="715ecf3f-a3e3-4098-8c4d-14b4ecd4309d" targetNamespace="http://schemas.microsoft.com/office/2006/metadata/properties" ma:root="true" ma:fieldsID="14403e8adf0bd3d78005b1c0cc0cd92a" ns3:_="">
    <xsd:import namespace="715ecf3f-a3e3-4098-8c4d-14b4ecd4309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ecf3f-a3e3-4098-8c4d-14b4ecd43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5ecf3f-a3e3-4098-8c4d-14b4ecd4309d" xsi:nil="true"/>
  </documentManagement>
</p:properties>
</file>

<file path=customXml/itemProps1.xml><?xml version="1.0" encoding="utf-8"?>
<ds:datastoreItem xmlns:ds="http://schemas.openxmlformats.org/officeDocument/2006/customXml" ds:itemID="{3D2845A1-0B7E-48F1-A162-3204C45614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5ecf3f-a3e3-4098-8c4d-14b4ecd430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59EC32-8E61-425F-9D85-90D3DA83CD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3D4E6A-5B6A-4B34-A30F-0DBD7A191405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15ecf3f-a3e3-4098-8c4d-14b4ecd4309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Office PowerPoint</Application>
  <PresentationFormat>Widescreen</PresentationFormat>
  <Paragraphs>307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Electrical Machines</dc:title>
  <dc:subject>DC Electrical Machines</dc:subject>
  <dc:creator>OpenAI</dc:creator>
  <cp:lastModifiedBy>John Dobson</cp:lastModifiedBy>
  <cp:revision>3</cp:revision>
  <dcterms:created xsi:type="dcterms:W3CDTF">2026-07-16T09:50:03Z</dcterms:created>
  <dcterms:modified xsi:type="dcterms:W3CDTF">2026-07-16T10:30:44Z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0x010100149D1733CE5A454FA77E3BF31C65FF76</vt:lpwstr>
  </property>
</Properties>
</file>