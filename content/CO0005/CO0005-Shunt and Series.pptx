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1" autoAdjust="0"/>
    <p:restoredTop sz="94610"/>
  </p:normalViewPr>
  <p:slideViewPr>
    <p:cSldViewPr snapToGrid="0" snapToObjects="1">
      <p:cViewPr>
        <p:scale>
          <a:sx n="114" d="100"/>
          <a:sy n="114" d="100"/>
        </p:scale>
        <p:origin x="108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866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10-slide lesson deck regenerated using the user supplied Matrix master file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0392"/>
          </a:xfrm>
          <a:prstGeom prst="rect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mnt/data/master_unzip/ppt/media/image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" y="164592"/>
            <a:ext cx="288036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2112" y="347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06640" y="192024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Shunt &amp; Series Motors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0" y="850392"/>
            <a:ext cx="12191695" cy="18288"/>
          </a:xfrm>
          <a:prstGeom prst="rect">
            <a:avLst/>
          </a:prstGeom>
          <a:solidFill>
            <a:srgbClr val="D6DCE2">
              <a:alpha val="65000"/>
            </a:srgbClr>
          </a:solidFill>
          <a:ln w="12700">
            <a:solidFill>
              <a:srgbClr val="D6DC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13232" y="1417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24"/>
                </a:solidFill>
              </a:rPr>
              <a:t>DC Electrical Machines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49808" y="20848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25F"/>
                </a:solidFill>
              </a:rPr>
              <a:t>Shunt motors • Series motors • Car starter motor circuit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4B5A"/>
                </a:solidFill>
              </a:rPr>
              <a:t>Learning focus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41248" y="3483864"/>
            <a:ext cx="100584" cy="100584"/>
          </a:xfrm>
          <a:prstGeom prst="ellipse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069848" y="3401568"/>
            <a:ext cx="5074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6525F"/>
                </a:solidFill>
              </a:rPr>
              <a:t>Compare shunt and series field connections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41248" y="3977640"/>
            <a:ext cx="100584" cy="100584"/>
          </a:xfrm>
          <a:prstGeom prst="ellipse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069848" y="3895344"/>
            <a:ext cx="5074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6525F"/>
                </a:solidFill>
              </a:rPr>
              <a:t>Explain why starter motors use a series motor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41248" y="4471416"/>
            <a:ext cx="100584" cy="100584"/>
          </a:xfrm>
          <a:prstGeom prst="ellipse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1069848" y="4389120"/>
            <a:ext cx="5074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6525F"/>
                </a:solidFill>
              </a:rPr>
              <a:t>Use typical starter voltage and current values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41248" y="4965192"/>
            <a:ext cx="100584" cy="100584"/>
          </a:xfrm>
          <a:prstGeom prst="ellipse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1069848" y="4882896"/>
            <a:ext cx="5074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6525F"/>
                </a:solidFill>
              </a:rPr>
              <a:t>Recognise the starter solenoid circuit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452360" y="1508760"/>
            <a:ext cx="3291840" cy="3291840"/>
          </a:xfrm>
          <a:prstGeom prst="ellipse">
            <a:avLst/>
          </a:prstGeom>
          <a:solidFill>
            <a:srgbClr val="EAF3FC"/>
          </a:solidFill>
          <a:ln w="2540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 rot="2400000">
            <a:off x="7909560" y="1901952"/>
            <a:ext cx="2331720" cy="2331720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F18F0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8439912" y="2395728"/>
            <a:ext cx="1280160" cy="1280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8772754" y="2715768"/>
            <a:ext cx="61447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24"/>
                </a:solidFill>
              </a:rPr>
              <a:t>M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680960" y="5230368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114B5A">
              <a:alpha val="90000"/>
            </a:srgbClr>
          </a:solidFill>
          <a:ln w="12700">
            <a:solidFill>
              <a:srgbClr val="114B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7735824" y="5280660"/>
            <a:ext cx="2724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TEACHING DECK • 10 SLIDES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0392"/>
          </a:xfrm>
          <a:prstGeom prst="rect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mnt/data/master_unzip/ppt/media/image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" y="164592"/>
            <a:ext cx="288036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2112" y="347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06640" y="192024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Connections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0" y="850392"/>
            <a:ext cx="12191695" cy="18288"/>
          </a:xfrm>
          <a:prstGeom prst="rect">
            <a:avLst/>
          </a:prstGeom>
          <a:solidFill>
            <a:srgbClr val="D6DCE2">
              <a:alpha val="65000"/>
            </a:srgbClr>
          </a:solidFill>
          <a:ln w="12700">
            <a:solidFill>
              <a:srgbClr val="D6DC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03504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</a:rPr>
              <a:t>Two common wound-field DC motors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1792" y="17007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6525F"/>
                </a:solidFill>
              </a:rPr>
              <a:t>Both are brushed DC motors, but the stator field is connected differently.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9808" y="2084832"/>
            <a:ext cx="5166360" cy="841248"/>
          </a:xfrm>
          <a:prstGeom prst="roundRect">
            <a:avLst>
              <a:gd name="adj" fmla="val 8696"/>
            </a:avLst>
          </a:prstGeom>
          <a:solidFill>
            <a:srgbClr val="EAF3FC"/>
          </a:solidFill>
          <a:ln w="1524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96112" y="2194560"/>
            <a:ext cx="48737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</a:rPr>
              <a:t>Shunt motor: field winding is connected across the supply in parallel with the armature.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2084832"/>
            <a:ext cx="5166360" cy="841248"/>
          </a:xfrm>
          <a:prstGeom prst="roundRect">
            <a:avLst>
              <a:gd name="adj" fmla="val 8696"/>
            </a:avLst>
          </a:prstGeom>
          <a:solidFill>
            <a:srgbClr val="FFF4E3"/>
          </a:solidFill>
          <a:ln w="1524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409944" y="2194560"/>
            <a:ext cx="48737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</a:rPr>
              <a:t>Series motor: field winding is connected in series with the armature, so the same current flows through both.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4076395"/>
            <a:ext cx="781812" cy="429997"/>
          </a:xfrm>
          <a:prstGeom prst="rect">
            <a:avLst/>
          </a:prstGeom>
          <a:solidFill>
            <a:srgbClr val="FFFFFF"/>
          </a:solidFill>
          <a:ln w="1651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916777" y="4185849"/>
            <a:ext cx="171999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6" b="1" dirty="0">
                <a:solidFill>
                  <a:srgbClr val="D94E41"/>
                </a:solidFill>
              </a:rPr>
              <a:t>+</a:t>
            </a:r>
            <a:endParaRPr lang="en-US" sz="1026" dirty="0"/>
          </a:p>
        </p:txBody>
      </p:sp>
      <p:sp>
        <p:nvSpPr>
          <p:cNvPr id="15" name="Text 12"/>
          <p:cNvSpPr/>
          <p:nvPr/>
        </p:nvSpPr>
        <p:spPr>
          <a:xfrm>
            <a:off x="1323320" y="4185849"/>
            <a:ext cx="171999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6" b="1" dirty="0">
                <a:solidFill>
                  <a:srgbClr val="46525F"/>
                </a:solidFill>
              </a:rPr>
              <a:t>−</a:t>
            </a:r>
            <a:endParaRPr lang="en-US" sz="1026" dirty="0"/>
          </a:p>
        </p:txBody>
      </p:sp>
      <p:sp>
        <p:nvSpPr>
          <p:cNvPr id="16" name="Shape 13"/>
          <p:cNvSpPr/>
          <p:nvPr/>
        </p:nvSpPr>
        <p:spPr>
          <a:xfrm>
            <a:off x="994959" y="3998214"/>
            <a:ext cx="140726" cy="78181"/>
          </a:xfrm>
          <a:prstGeom prst="rect">
            <a:avLst/>
          </a:prstGeom>
          <a:solidFill>
            <a:srgbClr val="D94E41"/>
          </a:solidFill>
          <a:ln w="12700">
            <a:solidFill>
              <a:srgbClr val="D94E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1354592" y="3998214"/>
            <a:ext cx="140726" cy="78181"/>
          </a:xfrm>
          <a:prstGeom prst="rect">
            <a:avLst/>
          </a:prstGeom>
          <a:solidFill>
            <a:srgbClr val="46525F"/>
          </a:solidFill>
          <a:ln w="1270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1604772" y="4290365"/>
            <a:ext cx="41148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016252" y="4290365"/>
            <a:ext cx="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2016252" y="4290365"/>
            <a:ext cx="0" cy="798271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2287829" y="3286354"/>
            <a:ext cx="1769364" cy="395021"/>
          </a:xfrm>
          <a:prstGeom prst="roundRect">
            <a:avLst>
              <a:gd name="adj" fmla="val 13889"/>
            </a:avLst>
          </a:prstGeom>
          <a:solidFill>
            <a:srgbClr val="EAF3FC"/>
          </a:solidFill>
          <a:ln w="1905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2424989" y="3617366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2723998" y="3617366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3023006" y="3617366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3322015" y="3617366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3621024" y="3617366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2287829" y="3754526"/>
            <a:ext cx="17693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25F"/>
                </a:solidFill>
              </a:rPr>
              <a:t>SHUNT FIELD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510028" y="4718304"/>
            <a:ext cx="1275588" cy="691286"/>
          </a:xfrm>
          <a:prstGeom prst="ellipse">
            <a:avLst/>
          </a:prstGeom>
          <a:solidFill>
            <a:srgbClr val="FFF4E3"/>
          </a:solidFill>
          <a:ln w="2032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2726878" y="5063947"/>
            <a:ext cx="841888" cy="0"/>
          </a:xfrm>
          <a:prstGeom prst="line">
            <a:avLst/>
          </a:prstGeom>
          <a:noFill/>
          <a:ln w="25400">
            <a:solidFill>
              <a:srgbClr val="F18F01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3147822" y="4835823"/>
            <a:ext cx="0" cy="456249"/>
          </a:xfrm>
          <a:prstGeom prst="line">
            <a:avLst/>
          </a:prstGeom>
          <a:noFill/>
          <a:ln w="25400">
            <a:solidFill>
              <a:srgbClr val="F18F01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2981996" y="4939516"/>
            <a:ext cx="331653" cy="152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4"/>
                </a:solidFill>
              </a:rPr>
              <a:t>A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2418588" y="5482742"/>
            <a:ext cx="14584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6525F"/>
                </a:solidFill>
              </a:rPr>
              <a:t>ARMATURE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016252" y="3500323"/>
            <a:ext cx="271577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4057193" y="3500323"/>
            <a:ext cx="510235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2016252" y="5088636"/>
            <a:ext cx="493776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3785616" y="5088636"/>
            <a:ext cx="781812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4567428" y="3500323"/>
            <a:ext cx="0" cy="1588313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4567428" y="4290365"/>
            <a:ext cx="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2485339" y="4175150"/>
            <a:ext cx="148132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2D72B8"/>
                </a:solidFill>
              </a:rPr>
              <a:t>parallel paths</a:t>
            </a:r>
            <a:endParaRPr lang="en-US" sz="990" dirty="0"/>
          </a:p>
        </p:txBody>
      </p:sp>
      <p:sp>
        <p:nvSpPr>
          <p:cNvPr id="40" name="Shape 37"/>
          <p:cNvSpPr/>
          <p:nvPr/>
        </p:nvSpPr>
        <p:spPr>
          <a:xfrm>
            <a:off x="6309360" y="4018788"/>
            <a:ext cx="781812" cy="429997"/>
          </a:xfrm>
          <a:prstGeom prst="rect">
            <a:avLst/>
          </a:prstGeom>
          <a:solidFill>
            <a:srgbClr val="FFFFFF"/>
          </a:solidFill>
          <a:ln w="1651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6403177" y="4128242"/>
            <a:ext cx="171999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6" b="1" dirty="0">
                <a:solidFill>
                  <a:srgbClr val="D94E41"/>
                </a:solidFill>
              </a:rPr>
              <a:t>+</a:t>
            </a:r>
            <a:endParaRPr lang="en-US" sz="1026" dirty="0"/>
          </a:p>
        </p:txBody>
      </p:sp>
      <p:sp>
        <p:nvSpPr>
          <p:cNvPr id="42" name="Text 39"/>
          <p:cNvSpPr/>
          <p:nvPr/>
        </p:nvSpPr>
        <p:spPr>
          <a:xfrm>
            <a:off x="6809720" y="4128242"/>
            <a:ext cx="171999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6" b="1" dirty="0">
                <a:solidFill>
                  <a:srgbClr val="46525F"/>
                </a:solidFill>
              </a:rPr>
              <a:t>−</a:t>
            </a:r>
            <a:endParaRPr lang="en-US" sz="1026" dirty="0"/>
          </a:p>
        </p:txBody>
      </p:sp>
      <p:sp>
        <p:nvSpPr>
          <p:cNvPr id="43" name="Shape 40"/>
          <p:cNvSpPr/>
          <p:nvPr/>
        </p:nvSpPr>
        <p:spPr>
          <a:xfrm>
            <a:off x="6481359" y="3940607"/>
            <a:ext cx="140726" cy="78181"/>
          </a:xfrm>
          <a:prstGeom prst="rect">
            <a:avLst/>
          </a:prstGeom>
          <a:solidFill>
            <a:srgbClr val="D94E41"/>
          </a:solidFill>
          <a:ln w="12700">
            <a:solidFill>
              <a:srgbClr val="D94E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6840992" y="3940607"/>
            <a:ext cx="140726" cy="78181"/>
          </a:xfrm>
          <a:prstGeom prst="rect">
            <a:avLst/>
          </a:prstGeom>
          <a:solidFill>
            <a:srgbClr val="46525F"/>
          </a:solidFill>
          <a:ln w="1270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7091172" y="4224528"/>
            <a:ext cx="370332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7461504" y="4018788"/>
            <a:ext cx="1316736" cy="411480"/>
          </a:xfrm>
          <a:prstGeom prst="roundRect">
            <a:avLst>
              <a:gd name="adj" fmla="val 13333"/>
            </a:avLst>
          </a:prstGeom>
          <a:solidFill>
            <a:srgbClr val="EAF3FC"/>
          </a:solidFill>
          <a:ln w="1905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7598664" y="4366260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7807147" y="4366260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8015630" y="4366260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8224114" y="4366260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8432597" y="4366260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7461504" y="45034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25F"/>
                </a:solidFill>
              </a:rPr>
              <a:t>SERIES FIELD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8778240" y="4224528"/>
            <a:ext cx="246888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9025128" y="3854196"/>
            <a:ext cx="1135685" cy="740664"/>
          </a:xfrm>
          <a:prstGeom prst="ellipse">
            <a:avLst/>
          </a:prstGeom>
          <a:solidFill>
            <a:srgbClr val="FFF4E3"/>
          </a:solidFill>
          <a:ln w="2032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9218194" y="4224528"/>
            <a:ext cx="749552" cy="0"/>
          </a:xfrm>
          <a:prstGeom prst="line">
            <a:avLst/>
          </a:prstGeom>
          <a:noFill/>
          <a:ln w="25400">
            <a:solidFill>
              <a:srgbClr val="F18F01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9592970" y="3980109"/>
            <a:ext cx="0" cy="488838"/>
          </a:xfrm>
          <a:prstGeom prst="line">
            <a:avLst/>
          </a:prstGeom>
          <a:noFill/>
          <a:ln w="25400">
            <a:solidFill>
              <a:srgbClr val="F18F01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9445331" y="4091208"/>
            <a:ext cx="295278" cy="162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4"/>
                </a:solidFill>
              </a:rPr>
              <a:t>A</a:t>
            </a:r>
            <a:endParaRPr lang="en-US" sz="1500" dirty="0"/>
          </a:p>
        </p:txBody>
      </p:sp>
      <p:sp>
        <p:nvSpPr>
          <p:cNvPr id="58" name="Text 55"/>
          <p:cNvSpPr/>
          <p:nvPr/>
        </p:nvSpPr>
        <p:spPr>
          <a:xfrm>
            <a:off x="8933688" y="4668012"/>
            <a:ext cx="13185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6525F"/>
                </a:solidFill>
              </a:rPr>
              <a:t>ARMATURE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10160813" y="4224528"/>
            <a:ext cx="345643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10506456" y="4224528"/>
            <a:ext cx="0" cy="102870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10506456" y="5253228"/>
            <a:ext cx="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6679692" y="5253228"/>
            <a:ext cx="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0"/>
          <p:cNvSpPr/>
          <p:nvPr/>
        </p:nvSpPr>
        <p:spPr>
          <a:xfrm>
            <a:off x="1280160" y="58704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72B8"/>
                </a:solidFill>
              </a:rPr>
              <a:t>Shunt: near constant field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6766560" y="58704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8F01"/>
                </a:solidFill>
              </a:rPr>
              <a:t>Series: field strength rises with load current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0392"/>
          </a:xfrm>
          <a:prstGeom prst="rect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mnt/data/master_unzip/ppt/media/image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" y="164592"/>
            <a:ext cx="288036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2112" y="347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06640" y="192024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Shunt Motors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0" y="850392"/>
            <a:ext cx="12191695" cy="18288"/>
          </a:xfrm>
          <a:prstGeom prst="rect">
            <a:avLst/>
          </a:prstGeom>
          <a:solidFill>
            <a:srgbClr val="D6DCE2">
              <a:alpha val="65000"/>
            </a:srgbClr>
          </a:solidFill>
          <a:ln w="12700">
            <a:solidFill>
              <a:srgbClr val="D6DC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03504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</a:rPr>
              <a:t>Shunt motor: stable speed under changing load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1792" y="17007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6525F"/>
                </a:solidFill>
              </a:rPr>
              <a:t>The field current is set mainly by the supply voltage and field resistance.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31520" y="3035808"/>
            <a:ext cx="868680" cy="477774"/>
          </a:xfrm>
          <a:prstGeom prst="rect">
            <a:avLst/>
          </a:prstGeom>
          <a:solidFill>
            <a:srgbClr val="FFFFFF"/>
          </a:solidFill>
          <a:ln w="1651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35762" y="3157423"/>
            <a:ext cx="191110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D94E41"/>
                </a:solidFill>
              </a:rPr>
              <a:t>+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1287475" y="3157423"/>
            <a:ext cx="191110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46525F"/>
                </a:solidFill>
              </a:rPr>
              <a:t>−</a:t>
            </a:r>
            <a:endParaRPr lang="en-US" sz="1140" dirty="0"/>
          </a:p>
        </p:txBody>
      </p:sp>
      <p:sp>
        <p:nvSpPr>
          <p:cNvPr id="12" name="Shape 9"/>
          <p:cNvSpPr/>
          <p:nvPr/>
        </p:nvSpPr>
        <p:spPr>
          <a:xfrm>
            <a:off x="922630" y="2948940"/>
            <a:ext cx="156362" cy="86868"/>
          </a:xfrm>
          <a:prstGeom prst="rect">
            <a:avLst/>
          </a:prstGeom>
          <a:solidFill>
            <a:srgbClr val="D94E41"/>
          </a:solidFill>
          <a:ln w="12700">
            <a:solidFill>
              <a:srgbClr val="D94E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322222" y="2948940"/>
            <a:ext cx="156362" cy="86868"/>
          </a:xfrm>
          <a:prstGeom prst="rect">
            <a:avLst/>
          </a:prstGeom>
          <a:solidFill>
            <a:srgbClr val="46525F"/>
          </a:solidFill>
          <a:ln w="1270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1600200" y="3273552"/>
            <a:ext cx="45720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2057400" y="3273552"/>
            <a:ext cx="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2057400" y="3273552"/>
            <a:ext cx="0" cy="886968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2359152" y="2157984"/>
            <a:ext cx="1965960" cy="438912"/>
          </a:xfrm>
          <a:prstGeom prst="roundRect">
            <a:avLst>
              <a:gd name="adj" fmla="val 12500"/>
            </a:avLst>
          </a:prstGeom>
          <a:solidFill>
            <a:srgbClr val="EAF3FC"/>
          </a:solidFill>
          <a:ln w="1905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2496312" y="2532888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834640" y="2532888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172968" y="2532888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3511296" y="2532888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3849624" y="2532888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2359152" y="26700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25F"/>
                </a:solidFill>
              </a:rPr>
              <a:t>SHUNT FIELD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606040" y="3749040"/>
            <a:ext cx="1417320" cy="768096"/>
          </a:xfrm>
          <a:prstGeom prst="ellipse">
            <a:avLst/>
          </a:prstGeom>
          <a:solidFill>
            <a:srgbClr val="FFF4E3"/>
          </a:solidFill>
          <a:ln w="2032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2846984" y="4133088"/>
            <a:ext cx="935431" cy="0"/>
          </a:xfrm>
          <a:prstGeom prst="line">
            <a:avLst/>
          </a:prstGeom>
          <a:noFill/>
          <a:ln w="25400">
            <a:solidFill>
              <a:srgbClr val="F18F01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3314700" y="3879616"/>
            <a:ext cx="0" cy="506943"/>
          </a:xfrm>
          <a:prstGeom prst="line">
            <a:avLst/>
          </a:prstGeom>
          <a:noFill/>
          <a:ln w="25400">
            <a:solidFill>
              <a:srgbClr val="F18F01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3130448" y="3994831"/>
            <a:ext cx="368503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4"/>
                </a:solidFill>
              </a:rPr>
              <a:t>A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2514600" y="45902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6525F"/>
                </a:solidFill>
              </a:rPr>
              <a:t>ARMATURE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057400" y="2395728"/>
            <a:ext cx="301752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4325112" y="2395728"/>
            <a:ext cx="566928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2057400" y="4160520"/>
            <a:ext cx="54864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4023360" y="4160520"/>
            <a:ext cx="86868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4892040" y="2395728"/>
            <a:ext cx="0" cy="1764792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4892040" y="3273552"/>
            <a:ext cx="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2578608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72B8"/>
                </a:solidFill>
              </a:rPr>
              <a:t>parallel paths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3550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4"/>
                </a:solidFill>
              </a:rPr>
              <a:t>Main points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6446520" y="2596896"/>
            <a:ext cx="100584" cy="100584"/>
          </a:xfrm>
          <a:prstGeom prst="ellipse">
            <a:avLst/>
          </a:prstGeom>
          <a:solidFill>
            <a:srgbClr val="2D72B8"/>
          </a:solidFill>
          <a:ln w="1270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6675120" y="2514600"/>
            <a:ext cx="46634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46525F"/>
                </a:solidFill>
              </a:rPr>
              <a:t>Field winding: many turns, relatively high resistance</a:t>
            </a:r>
            <a:endParaRPr lang="en-US" sz="1520" dirty="0"/>
          </a:p>
        </p:txBody>
      </p:sp>
      <p:sp>
        <p:nvSpPr>
          <p:cNvPr id="39" name="Shape 36"/>
          <p:cNvSpPr/>
          <p:nvPr/>
        </p:nvSpPr>
        <p:spPr>
          <a:xfrm>
            <a:off x="6446520" y="3099816"/>
            <a:ext cx="100584" cy="100584"/>
          </a:xfrm>
          <a:prstGeom prst="ellipse">
            <a:avLst/>
          </a:prstGeom>
          <a:solidFill>
            <a:srgbClr val="2D72B8"/>
          </a:solidFill>
          <a:ln w="1270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675120" y="3017520"/>
            <a:ext cx="46634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46525F"/>
                </a:solidFill>
              </a:rPr>
              <a:t>Armature current changes with mechanical load</a:t>
            </a:r>
            <a:endParaRPr lang="en-US" sz="1520" dirty="0"/>
          </a:p>
        </p:txBody>
      </p:sp>
      <p:sp>
        <p:nvSpPr>
          <p:cNvPr id="41" name="Shape 38"/>
          <p:cNvSpPr/>
          <p:nvPr/>
        </p:nvSpPr>
        <p:spPr>
          <a:xfrm>
            <a:off x="6446520" y="3602736"/>
            <a:ext cx="100584" cy="100584"/>
          </a:xfrm>
          <a:prstGeom prst="ellipse">
            <a:avLst/>
          </a:prstGeom>
          <a:solidFill>
            <a:srgbClr val="2D72B8"/>
          </a:solidFill>
          <a:ln w="1270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6675120" y="3520440"/>
            <a:ext cx="46634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46525F"/>
                </a:solidFill>
              </a:rPr>
              <a:t>Good speed regulation for many teaching examples</a:t>
            </a:r>
            <a:endParaRPr lang="en-US" sz="1520" dirty="0"/>
          </a:p>
        </p:txBody>
      </p:sp>
      <p:sp>
        <p:nvSpPr>
          <p:cNvPr id="43" name="Shape 40"/>
          <p:cNvSpPr/>
          <p:nvPr/>
        </p:nvSpPr>
        <p:spPr>
          <a:xfrm>
            <a:off x="6446520" y="4105656"/>
            <a:ext cx="100584" cy="100584"/>
          </a:xfrm>
          <a:prstGeom prst="ellipse">
            <a:avLst/>
          </a:prstGeom>
          <a:solidFill>
            <a:srgbClr val="2D72B8"/>
          </a:solidFill>
          <a:ln w="1270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6675120" y="4023360"/>
            <a:ext cx="46634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46525F"/>
                </a:solidFill>
              </a:rPr>
              <a:t>Do not run with field circuit open: speed can rise dangerously</a:t>
            </a:r>
            <a:endParaRPr lang="en-US" sz="1520" dirty="0"/>
          </a:p>
        </p:txBody>
      </p:sp>
      <p:sp>
        <p:nvSpPr>
          <p:cNvPr id="45" name="Shape 42"/>
          <p:cNvSpPr/>
          <p:nvPr/>
        </p:nvSpPr>
        <p:spPr>
          <a:xfrm>
            <a:off x="6446520" y="502920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114B5A">
              <a:alpha val="90000"/>
            </a:srgbClr>
          </a:solidFill>
          <a:ln w="12700">
            <a:solidFill>
              <a:srgbClr val="114B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6501384" y="5079492"/>
            <a:ext cx="11247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COMMON USES</a:t>
            </a:r>
            <a:endParaRPr lang="en-US" sz="820" dirty="0"/>
          </a:p>
        </p:txBody>
      </p:sp>
      <p:sp>
        <p:nvSpPr>
          <p:cNvPr id="47" name="Text 44"/>
          <p:cNvSpPr/>
          <p:nvPr/>
        </p:nvSpPr>
        <p:spPr>
          <a:xfrm>
            <a:off x="6446520" y="54223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6525F"/>
                </a:solidFill>
              </a:rPr>
              <a:t>Fans, blowers, machine tools, test rigs and applications needing reasonably constant speed.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0392"/>
          </a:xfrm>
          <a:prstGeom prst="rect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mnt/data/master_unzip/ppt/media/image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" y="164592"/>
            <a:ext cx="288036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2112" y="347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06640" y="192024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Shunt Motor Behaviour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0" y="850392"/>
            <a:ext cx="12191695" cy="18288"/>
          </a:xfrm>
          <a:prstGeom prst="rect">
            <a:avLst/>
          </a:prstGeom>
          <a:solidFill>
            <a:srgbClr val="D6DCE2">
              <a:alpha val="65000"/>
            </a:srgbClr>
          </a:solidFill>
          <a:ln w="12700">
            <a:solidFill>
              <a:srgbClr val="D6DC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03504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</a:rPr>
              <a:t>Shunt motor characteristics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1792" y="17007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6525F"/>
                </a:solidFill>
              </a:rPr>
              <a:t>Useful when steady speed is more important than very high starting torque.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68680" y="4663440"/>
            <a:ext cx="4160520" cy="0"/>
          </a:xfrm>
          <a:prstGeom prst="line">
            <a:avLst/>
          </a:prstGeom>
          <a:noFill/>
          <a:ln w="19050">
            <a:solidFill>
              <a:srgbClr val="46525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868680" y="4663440"/>
            <a:ext cx="0" cy="0"/>
          </a:xfrm>
          <a:prstGeom prst="line">
            <a:avLst/>
          </a:prstGeom>
          <a:noFill/>
          <a:ln w="19050">
            <a:solidFill>
              <a:srgbClr val="46525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366467" y="4873752"/>
            <a:ext cx="2413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B8794"/>
                </a:solidFill>
              </a:rPr>
              <a:t>Load torque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 rot="16200000">
            <a:off x="393192" y="2130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794"/>
                </a:solidFill>
              </a:rPr>
              <a:t>Speed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97280" y="2587752"/>
            <a:ext cx="3337560" cy="1170432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207008" y="51937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2B8"/>
                </a:solidFill>
              </a:rPr>
              <a:t>Small speed drop as load increases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4663440"/>
            <a:ext cx="4160520" cy="0"/>
          </a:xfrm>
          <a:prstGeom prst="line">
            <a:avLst/>
          </a:prstGeom>
          <a:noFill/>
          <a:ln w="19050">
            <a:solidFill>
              <a:srgbClr val="46525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400800" y="4663440"/>
            <a:ext cx="0" cy="0"/>
          </a:xfrm>
          <a:prstGeom prst="line">
            <a:avLst/>
          </a:prstGeom>
          <a:noFill/>
          <a:ln w="19050">
            <a:solidFill>
              <a:srgbClr val="46525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898587" y="4873752"/>
            <a:ext cx="2413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B8794"/>
                </a:solidFill>
              </a:rPr>
              <a:t>Armature current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 rot="16200000">
            <a:off x="5925312" y="2130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794"/>
                </a:solidFill>
              </a:rPr>
              <a:t>Torque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37960" y="4526280"/>
            <a:ext cx="3474720" cy="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583680" y="5193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</a:rPr>
              <a:t>Torque rises approximately with armature current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22960" y="5596128"/>
            <a:ext cx="9966960" cy="502920"/>
          </a:xfrm>
          <a:prstGeom prst="roundRect">
            <a:avLst>
              <a:gd name="adj" fmla="val 9091"/>
            </a:avLst>
          </a:prstGeom>
          <a:solidFill>
            <a:srgbClr val="EAF7F5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005840" y="5733288"/>
            <a:ext cx="9601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F24"/>
                </a:solidFill>
              </a:rPr>
              <a:t>For a shunt motor, the field is almost constant, so torque is mainly controlled by armature current.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0392"/>
          </a:xfrm>
          <a:prstGeom prst="rect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mnt/data/master_unzip/ppt/media/image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" y="164592"/>
            <a:ext cx="288036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2112" y="347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06640" y="192024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Motors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0" y="850392"/>
            <a:ext cx="12191695" cy="18288"/>
          </a:xfrm>
          <a:prstGeom prst="rect">
            <a:avLst/>
          </a:prstGeom>
          <a:solidFill>
            <a:srgbClr val="D6DCE2">
              <a:alpha val="65000"/>
            </a:srgbClr>
          </a:solidFill>
          <a:ln w="12700">
            <a:solidFill>
              <a:srgbClr val="D6DC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03504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</a:rPr>
              <a:t>Series motor: high starting torque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1792" y="17007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6525F"/>
                </a:solidFill>
              </a:rPr>
              <a:t>The same current flows through field and armature, making the field strong at start-up.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77240" y="3193085"/>
            <a:ext cx="903427" cy="496885"/>
          </a:xfrm>
          <a:prstGeom prst="rect">
            <a:avLst/>
          </a:prstGeom>
          <a:solidFill>
            <a:srgbClr val="FFFFFF"/>
          </a:solidFill>
          <a:ln w="1651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85651" y="3319565"/>
            <a:ext cx="198754" cy="14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6" b="1" dirty="0">
                <a:solidFill>
                  <a:srgbClr val="D94E41"/>
                </a:solidFill>
              </a:rPr>
              <a:t>+</a:t>
            </a:r>
            <a:endParaRPr lang="en-US" sz="1186" dirty="0"/>
          </a:p>
        </p:txBody>
      </p:sp>
      <p:sp>
        <p:nvSpPr>
          <p:cNvPr id="11" name="Text 8"/>
          <p:cNvSpPr/>
          <p:nvPr/>
        </p:nvSpPr>
        <p:spPr>
          <a:xfrm>
            <a:off x="1355433" y="3319565"/>
            <a:ext cx="198754" cy="14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6" b="1" dirty="0">
                <a:solidFill>
                  <a:srgbClr val="46525F"/>
                </a:solidFill>
              </a:rPr>
              <a:t>−</a:t>
            </a:r>
            <a:endParaRPr lang="en-US" sz="1186" dirty="0"/>
          </a:p>
        </p:txBody>
      </p:sp>
      <p:sp>
        <p:nvSpPr>
          <p:cNvPr id="12" name="Shape 9"/>
          <p:cNvSpPr/>
          <p:nvPr/>
        </p:nvSpPr>
        <p:spPr>
          <a:xfrm>
            <a:off x="975994" y="3102742"/>
            <a:ext cx="162617" cy="90343"/>
          </a:xfrm>
          <a:prstGeom prst="rect">
            <a:avLst/>
          </a:prstGeom>
          <a:solidFill>
            <a:srgbClr val="D94E41"/>
          </a:solidFill>
          <a:ln w="12700">
            <a:solidFill>
              <a:srgbClr val="D94E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391570" y="3102742"/>
            <a:ext cx="162617" cy="90343"/>
          </a:xfrm>
          <a:prstGeom prst="rect">
            <a:avLst/>
          </a:prstGeom>
          <a:solidFill>
            <a:srgbClr val="46525F"/>
          </a:solidFill>
          <a:ln w="1270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1680667" y="3430829"/>
            <a:ext cx="427939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2108606" y="3193085"/>
            <a:ext cx="1521562" cy="475488"/>
          </a:xfrm>
          <a:prstGeom prst="roundRect">
            <a:avLst>
              <a:gd name="adj" fmla="val 11538"/>
            </a:avLst>
          </a:prstGeom>
          <a:solidFill>
            <a:srgbClr val="EAF3FC"/>
          </a:solidFill>
          <a:ln w="1905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2245766" y="3604565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2495215" y="3604565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2744663" y="3604565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994111" y="3604565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243560" y="3604565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2108606" y="3741725"/>
            <a:ext cx="15215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25F"/>
                </a:solidFill>
              </a:rPr>
              <a:t>SERIES FIELD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30168" y="3430829"/>
            <a:ext cx="285293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3915461" y="3002890"/>
            <a:ext cx="1312347" cy="855878"/>
          </a:xfrm>
          <a:prstGeom prst="ellipse">
            <a:avLst/>
          </a:prstGeom>
          <a:solidFill>
            <a:srgbClr val="FFF4E3"/>
          </a:solidFill>
          <a:ln w="2032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4138560" y="3430829"/>
            <a:ext cx="866149" cy="0"/>
          </a:xfrm>
          <a:prstGeom prst="line">
            <a:avLst/>
          </a:prstGeom>
          <a:noFill/>
          <a:ln w="25400">
            <a:solidFill>
              <a:srgbClr val="F18F01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4571634" y="3148389"/>
            <a:ext cx="0" cy="564880"/>
          </a:xfrm>
          <a:prstGeom prst="line">
            <a:avLst/>
          </a:prstGeom>
          <a:noFill/>
          <a:ln w="25400">
            <a:solidFill>
              <a:srgbClr val="F18F01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4401029" y="3276771"/>
            <a:ext cx="341210" cy="188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4"/>
                </a:solidFill>
              </a:rPr>
              <a:t>A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824021" y="3931920"/>
            <a:ext cx="14952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6525F"/>
                </a:solidFill>
              </a:rPr>
              <a:t>ARMATURE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227808" y="3430829"/>
            <a:ext cx="39941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5627218" y="3430829"/>
            <a:ext cx="0" cy="118872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5627218" y="4619549"/>
            <a:ext cx="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1205179" y="4619549"/>
            <a:ext cx="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635508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4"/>
                </a:solidFill>
              </a:rPr>
              <a:t>Why torque is high at start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6446520" y="2606040"/>
            <a:ext cx="100584" cy="10058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6675120" y="2523744"/>
            <a:ext cx="46177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46525F"/>
                </a:solidFill>
              </a:rPr>
              <a:t>At standstill there is little back EMF</a:t>
            </a:r>
            <a:endParaRPr lang="en-US" sz="1540" dirty="0"/>
          </a:p>
        </p:txBody>
      </p:sp>
      <p:sp>
        <p:nvSpPr>
          <p:cNvPr id="35" name="Shape 32"/>
          <p:cNvSpPr/>
          <p:nvPr/>
        </p:nvSpPr>
        <p:spPr>
          <a:xfrm>
            <a:off x="6446520" y="3118104"/>
            <a:ext cx="100584" cy="10058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6675120" y="3035808"/>
            <a:ext cx="46177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46525F"/>
                </a:solidFill>
              </a:rPr>
              <a:t>Large starting current flows</a:t>
            </a:r>
            <a:endParaRPr lang="en-US" sz="1540" dirty="0"/>
          </a:p>
        </p:txBody>
      </p:sp>
      <p:sp>
        <p:nvSpPr>
          <p:cNvPr id="37" name="Shape 34"/>
          <p:cNvSpPr/>
          <p:nvPr/>
        </p:nvSpPr>
        <p:spPr>
          <a:xfrm>
            <a:off x="6446520" y="3630168"/>
            <a:ext cx="100584" cy="10058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6675120" y="3547872"/>
            <a:ext cx="46177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46525F"/>
                </a:solidFill>
              </a:rPr>
              <a:t>Field flux and armature current are both high</a:t>
            </a:r>
            <a:endParaRPr lang="en-US" sz="1540" dirty="0"/>
          </a:p>
        </p:txBody>
      </p:sp>
      <p:sp>
        <p:nvSpPr>
          <p:cNvPr id="39" name="Shape 36"/>
          <p:cNvSpPr/>
          <p:nvPr/>
        </p:nvSpPr>
        <p:spPr>
          <a:xfrm>
            <a:off x="6446520" y="4142232"/>
            <a:ext cx="100584" cy="10058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675120" y="4059936"/>
            <a:ext cx="46177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46525F"/>
                </a:solidFill>
              </a:rPr>
              <a:t>Result: very high starting torque</a:t>
            </a:r>
            <a:endParaRPr lang="en-US" sz="1540" dirty="0"/>
          </a:p>
        </p:txBody>
      </p:sp>
      <p:sp>
        <p:nvSpPr>
          <p:cNvPr id="41" name="Shape 38"/>
          <p:cNvSpPr/>
          <p:nvPr/>
        </p:nvSpPr>
        <p:spPr>
          <a:xfrm>
            <a:off x="6355080" y="4919472"/>
            <a:ext cx="4937760" cy="731520"/>
          </a:xfrm>
          <a:prstGeom prst="roundRect">
            <a:avLst>
              <a:gd name="adj" fmla="val 7500"/>
            </a:avLst>
          </a:prstGeom>
          <a:solidFill>
            <a:srgbClr val="FFF0F0"/>
          </a:solidFill>
          <a:ln w="16510">
            <a:solidFill>
              <a:srgbClr val="D94E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6547104" y="51023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D94E41"/>
                </a:solidFill>
              </a:rPr>
              <a:t>Important: a DC series motor should not be run unloaded because speed may rise excessively.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0392"/>
          </a:xfrm>
          <a:prstGeom prst="rect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mnt/data/master_unzip/ppt/media/image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" y="164592"/>
            <a:ext cx="288036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2112" y="347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06640" y="192024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0" y="850392"/>
            <a:ext cx="12191695" cy="18288"/>
          </a:xfrm>
          <a:prstGeom prst="rect">
            <a:avLst/>
          </a:prstGeom>
          <a:solidFill>
            <a:srgbClr val="D6DCE2">
              <a:alpha val="65000"/>
            </a:srgbClr>
          </a:solidFill>
          <a:ln w="12700">
            <a:solidFill>
              <a:srgbClr val="D6DC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03504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</a:rPr>
              <a:t>Shunt motor vs series motor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1792" y="17007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6525F"/>
                </a:solidFill>
              </a:rPr>
              <a:t>The field connection changes starting torque, speed regulation and safe operation.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9808" y="2057400"/>
            <a:ext cx="10789920" cy="457200"/>
          </a:xfrm>
          <a:prstGeom prst="rect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41248" y="21854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Feature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538728" y="218541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Shunt motor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242048" y="218541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Series motor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9808" y="2514600"/>
            <a:ext cx="10789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841248" y="2679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B1F24"/>
                </a:solidFill>
              </a:rPr>
              <a:t>Field connection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3538728" y="266090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6525F"/>
                </a:solidFill>
              </a:rPr>
              <a:t>Parallel with armature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7242048" y="26609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6525F"/>
                </a:solidFill>
              </a:rPr>
              <a:t>Series with armature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749808" y="3136392"/>
            <a:ext cx="10789920" cy="621792"/>
          </a:xfrm>
          <a:prstGeom prst="rect">
            <a:avLst/>
          </a:prstGeom>
          <a:solidFill>
            <a:srgbClr val="F4F7F9"/>
          </a:solidFill>
          <a:ln w="6350">
            <a:solidFill>
              <a:srgbClr val="D6DC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841248" y="33009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B1F24"/>
                </a:solidFill>
              </a:rPr>
              <a:t>Starting torque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3538728" y="328269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6525F"/>
                </a:solidFill>
              </a:rPr>
              <a:t>Moderate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7242048" y="32826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6525F"/>
                </a:solidFill>
              </a:rPr>
              <a:t>Very high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49808" y="3758184"/>
            <a:ext cx="10789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41248" y="3922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B1F24"/>
                </a:solidFill>
              </a:rPr>
              <a:t>Speed behaviour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3538728" y="390448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6525F"/>
                </a:solidFill>
              </a:rPr>
              <a:t>Fairly constant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7242048" y="3904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6525F"/>
                </a:solidFill>
              </a:rPr>
              <a:t>Varies strongly with load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749808" y="4379976"/>
            <a:ext cx="10789920" cy="621792"/>
          </a:xfrm>
          <a:prstGeom prst="rect">
            <a:avLst/>
          </a:prstGeom>
          <a:solidFill>
            <a:srgbClr val="F4F7F9"/>
          </a:solidFill>
          <a:ln w="6350">
            <a:solidFill>
              <a:srgbClr val="D6DC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841248" y="4544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B1F24"/>
                </a:solidFill>
              </a:rPr>
              <a:t>No-load operation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3538728" y="45262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6525F"/>
                </a:solidFill>
              </a:rPr>
              <a:t>Avoid field failure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7242048" y="45262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6525F"/>
                </a:solidFill>
              </a:rPr>
              <a:t>Do not run unloaded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749808" y="5001768"/>
            <a:ext cx="10789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841248" y="5166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B1F24"/>
                </a:solidFill>
              </a:rPr>
              <a:t>Good examples</a:t>
            </a:r>
            <a:endParaRPr lang="en-US" sz="1220" dirty="0"/>
          </a:p>
        </p:txBody>
      </p:sp>
      <p:sp>
        <p:nvSpPr>
          <p:cNvPr id="31" name="Text 28"/>
          <p:cNvSpPr/>
          <p:nvPr/>
        </p:nvSpPr>
        <p:spPr>
          <a:xfrm>
            <a:off x="3538728" y="514807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6525F"/>
                </a:solidFill>
              </a:rPr>
              <a:t>Fans, test rigs, constant-speed drives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7242048" y="5148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6525F"/>
                </a:solidFill>
              </a:rPr>
              <a:t>Starter motors, hoists, traction-style loads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841248" y="5870448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4B5A"/>
                </a:solidFill>
              </a:rPr>
              <a:t>Classroom shortcut: shunt = steady speed; series = strong start.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0392"/>
          </a:xfrm>
          <a:prstGeom prst="rect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mnt/data/master_unzip/ppt/media/image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" y="164592"/>
            <a:ext cx="288036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2112" y="347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06640" y="192024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Starter Motor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0" y="850392"/>
            <a:ext cx="12191695" cy="18288"/>
          </a:xfrm>
          <a:prstGeom prst="rect">
            <a:avLst/>
          </a:prstGeom>
          <a:solidFill>
            <a:srgbClr val="D6DCE2">
              <a:alpha val="65000"/>
            </a:srgbClr>
          </a:solidFill>
          <a:ln w="12700">
            <a:solidFill>
              <a:srgbClr val="D6DC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03504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</a:rPr>
              <a:t>Car starter motor: a practical series motor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1792" y="1700784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6525F"/>
                </a:solidFill>
              </a:rPr>
              <a:t>A starter motor needs a short burst of very high torque to crank the engine.</a:t>
            </a:r>
            <a:endParaRPr lang="en-US" sz="1320" dirty="0"/>
          </a:p>
        </p:txBody>
      </p:sp>
      <p:pic>
        <p:nvPicPr>
          <p:cNvPr id="9" name="Image 1" descr="/mnt/data/a_clean_technical_illustration_photorealistic_rend.png"/>
          <p:cNvPicPr>
            <a:picLocks noChangeAspect="1"/>
          </p:cNvPicPr>
          <p:nvPr/>
        </p:nvPicPr>
        <p:blipFill>
          <a:blip r:embed="rId4"/>
          <a:srcRect l="854" r="854"/>
          <a:stretch/>
        </p:blipFill>
        <p:spPr>
          <a:xfrm>
            <a:off x="713232" y="1965960"/>
            <a:ext cx="5669280" cy="32461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3232" y="5358384"/>
            <a:ext cx="5669280" cy="420624"/>
          </a:xfrm>
          <a:prstGeom prst="roundRect">
            <a:avLst>
              <a:gd name="adj" fmla="val 10870"/>
            </a:avLst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896112" y="549554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Pinion gear engages the flywheel, then the motor cranks the engine.</a:t>
            </a:r>
            <a:endParaRPr lang="en-US" sz="1180" dirty="0"/>
          </a:p>
        </p:txBody>
      </p:sp>
      <p:sp>
        <p:nvSpPr>
          <p:cNvPr id="12" name="Text 8"/>
          <p:cNvSpPr/>
          <p:nvPr/>
        </p:nvSpPr>
        <p:spPr>
          <a:xfrm>
            <a:off x="672084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24"/>
                </a:solidFill>
              </a:rPr>
              <a:t>Why series?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6812280" y="2569464"/>
            <a:ext cx="100584" cy="10058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7040880" y="2487168"/>
            <a:ext cx="42519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46525F"/>
                </a:solidFill>
              </a:rPr>
              <a:t>Maximum torque is needed at zero speed</a:t>
            </a:r>
            <a:endParaRPr lang="en-US" sz="1520" dirty="0"/>
          </a:p>
        </p:txBody>
      </p:sp>
      <p:sp>
        <p:nvSpPr>
          <p:cNvPr id="15" name="Shape 11"/>
          <p:cNvSpPr/>
          <p:nvPr/>
        </p:nvSpPr>
        <p:spPr>
          <a:xfrm>
            <a:off x="6812280" y="3090672"/>
            <a:ext cx="100584" cy="10058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7040880" y="3008376"/>
            <a:ext cx="42519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46525F"/>
                </a:solidFill>
              </a:rPr>
              <a:t>Low supply voltage means very high current</a:t>
            </a:r>
            <a:endParaRPr lang="en-US" sz="1520" dirty="0"/>
          </a:p>
        </p:txBody>
      </p:sp>
      <p:sp>
        <p:nvSpPr>
          <p:cNvPr id="17" name="Shape 13"/>
          <p:cNvSpPr/>
          <p:nvPr/>
        </p:nvSpPr>
        <p:spPr>
          <a:xfrm>
            <a:off x="6812280" y="3611880"/>
            <a:ext cx="100584" cy="10058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7040880" y="3529584"/>
            <a:ext cx="42519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46525F"/>
                </a:solidFill>
              </a:rPr>
              <a:t>Operation is brief, so heating is managed by duty cycle</a:t>
            </a:r>
            <a:endParaRPr lang="en-US" sz="1520" dirty="0"/>
          </a:p>
        </p:txBody>
      </p:sp>
      <p:sp>
        <p:nvSpPr>
          <p:cNvPr id="19" name="Shape 15"/>
          <p:cNvSpPr/>
          <p:nvPr/>
        </p:nvSpPr>
        <p:spPr>
          <a:xfrm>
            <a:off x="6812280" y="4133088"/>
            <a:ext cx="100584" cy="10058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7040880" y="4050792"/>
            <a:ext cx="42519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46525F"/>
                </a:solidFill>
              </a:rPr>
              <a:t>Solenoid both switches current and moves the pinion</a:t>
            </a:r>
            <a:endParaRPr lang="en-US" sz="1520" dirty="0"/>
          </a:p>
        </p:txBody>
      </p:sp>
      <p:sp>
        <p:nvSpPr>
          <p:cNvPr id="21" name="Shape 17"/>
          <p:cNvSpPr/>
          <p:nvPr/>
        </p:nvSpPr>
        <p:spPr>
          <a:xfrm>
            <a:off x="6812280" y="525780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F18F01">
              <a:alpha val="90000"/>
            </a:srgbClr>
          </a:solidFill>
          <a:ln w="12700">
            <a:solidFill>
              <a:srgbClr val="F18F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6867144" y="5308092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SERIES MOTOR EXAMPLE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0392"/>
          </a:xfrm>
          <a:prstGeom prst="rect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mnt/data/master_unzip/ppt/media/image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" y="164592"/>
            <a:ext cx="288036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2112" y="347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06640" y="192024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Current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0" y="850392"/>
            <a:ext cx="12191695" cy="18288"/>
          </a:xfrm>
          <a:prstGeom prst="rect">
            <a:avLst/>
          </a:prstGeom>
          <a:solidFill>
            <a:srgbClr val="D6DCE2">
              <a:alpha val="65000"/>
            </a:srgbClr>
          </a:solidFill>
          <a:ln w="12700">
            <a:solidFill>
              <a:srgbClr val="D6DC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03504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</a:rPr>
              <a:t>Example starter motor voltage and current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1792" y="17007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6525F"/>
                </a:solidFill>
              </a:rPr>
              <a:t>Values vary with engine size, temperature, battery condition and motor design.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22960" y="210312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EAF3FC"/>
          </a:solidFill>
          <a:ln w="1905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051560" y="2404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72B8"/>
                </a:solidFill>
              </a:rPr>
              <a:t>12 V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109728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46525F"/>
                </a:solidFill>
              </a:rPr>
              <a:t>typical light-vehicle battery supply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4572000" y="210312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 w="1905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709160" y="2404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18F01"/>
                </a:solidFill>
              </a:rPr>
              <a:t>150–300 A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80060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46525F"/>
                </a:solidFill>
              </a:rPr>
              <a:t>example cranking current range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321040" y="210312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9050">
            <a:solidFill>
              <a:srgbClr val="D94E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8549640" y="2404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4E41"/>
                </a:solidFill>
              </a:rPr>
              <a:t>500 A+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854964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46525F"/>
                </a:solidFill>
              </a:rPr>
              <a:t>possible cold-start or stall peak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1965960" y="470916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EA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219456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4"/>
                </a:solidFill>
              </a:rPr>
              <a:t>Example calculation: P = V × I = 12 V × 250 A = 3000 W ≈ 3 kW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14400" y="589788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7B8794"/>
                </a:solidFill>
              </a:rPr>
              <a:t>Teaching note: keep starter motor demonstrations controlled; high current can overheat cables and contacts quickly.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0392"/>
          </a:xfrm>
          <a:prstGeom prst="rect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mnt/data/master_unzip/ppt/media/image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" y="164592"/>
            <a:ext cx="288036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2112" y="347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06640" y="192024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Solenoid Circuit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0" y="850392"/>
            <a:ext cx="12191695" cy="18288"/>
          </a:xfrm>
          <a:prstGeom prst="rect">
            <a:avLst/>
          </a:prstGeom>
          <a:solidFill>
            <a:srgbClr val="D6DCE2">
              <a:alpha val="65000"/>
            </a:srgbClr>
          </a:solidFill>
          <a:ln w="12700">
            <a:solidFill>
              <a:srgbClr val="D6DC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03504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</a:rPr>
              <a:t>Starter circuit with solenoid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1792" y="167335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6525F"/>
                </a:solidFill>
              </a:rPr>
              <a:t>The solenoid is both a relay and actuator: it closes the high-current contact and engages the pinion.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804672" y="3429000"/>
            <a:ext cx="914400" cy="502920"/>
          </a:xfrm>
          <a:prstGeom prst="rect">
            <a:avLst/>
          </a:prstGeom>
          <a:solidFill>
            <a:srgbClr val="FFFFFF"/>
          </a:solidFill>
          <a:ln w="1651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914400" y="35570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4E41"/>
                </a:solidFill>
              </a:rPr>
              <a:t>+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89888" y="35570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525F"/>
                </a:solidFill>
              </a:rPr>
              <a:t>−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05840" y="3337560"/>
            <a:ext cx="164592" cy="91440"/>
          </a:xfrm>
          <a:prstGeom prst="rect">
            <a:avLst/>
          </a:prstGeom>
          <a:solidFill>
            <a:srgbClr val="D94E41"/>
          </a:solidFill>
          <a:ln w="12700">
            <a:solidFill>
              <a:srgbClr val="D94E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426464" y="3337560"/>
            <a:ext cx="164592" cy="91440"/>
          </a:xfrm>
          <a:prstGeom prst="rect">
            <a:avLst/>
          </a:prstGeom>
          <a:solidFill>
            <a:srgbClr val="46525F"/>
          </a:solidFill>
          <a:ln w="1270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67512" y="40507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B8794"/>
                </a:solidFill>
              </a:rPr>
              <a:t>12 V battery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719072" y="3675888"/>
            <a:ext cx="566928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2286000" y="3675888"/>
            <a:ext cx="310896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2596896" y="3675888"/>
            <a:ext cx="438912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3108960" y="3675888"/>
            <a:ext cx="292608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560320" y="362559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072384" y="362559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2340864" y="39684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6525F"/>
                </a:solidFill>
              </a:rPr>
              <a:t>Ignition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46525F"/>
                </a:solidFill>
              </a:rPr>
              <a:t>START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3401568" y="3675888"/>
            <a:ext cx="896112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4297680" y="3383280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EAF3FC"/>
          </a:solidFill>
          <a:ln w="1905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4434840" y="3913632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4700016" y="3913632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4965192" y="3913632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5230368" y="3913632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5495544" y="3913632"/>
            <a:ext cx="109728" cy="0"/>
          </a:xfrm>
          <a:prstGeom prst="line">
            <a:avLst/>
          </a:prstGeom>
          <a:noFill/>
          <a:ln w="13970">
            <a:solidFill>
              <a:srgbClr val="2D72B8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4297680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25F"/>
                </a:solidFill>
              </a:rPr>
              <a:t>SOLENOID COIL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97880" y="3675888"/>
            <a:ext cx="502920" cy="0"/>
          </a:xfrm>
          <a:prstGeom prst="line">
            <a:avLst/>
          </a:prstGeom>
          <a:noFill/>
          <a:ln w="254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6144768" y="3675888"/>
            <a:ext cx="512064" cy="0"/>
          </a:xfrm>
          <a:prstGeom prst="line">
            <a:avLst/>
          </a:prstGeom>
          <a:noFill/>
          <a:ln w="1905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6227064" y="3776472"/>
            <a:ext cx="347472" cy="0"/>
          </a:xfrm>
          <a:prstGeom prst="line">
            <a:avLst/>
          </a:prstGeom>
          <a:noFill/>
          <a:ln w="1905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6309360" y="3877056"/>
            <a:ext cx="182880" cy="0"/>
          </a:xfrm>
          <a:prstGeom prst="line">
            <a:avLst/>
          </a:prstGeom>
          <a:noFill/>
          <a:ln w="1905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1298448" y="3429000"/>
            <a:ext cx="0" cy="0"/>
          </a:xfrm>
          <a:prstGeom prst="line">
            <a:avLst/>
          </a:prstGeom>
          <a:noFill/>
          <a:ln w="38100">
            <a:solidFill>
              <a:srgbClr val="D94E41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1298448" y="2423160"/>
            <a:ext cx="2587752" cy="0"/>
          </a:xfrm>
          <a:prstGeom prst="line">
            <a:avLst/>
          </a:prstGeom>
          <a:noFill/>
          <a:ln w="38100">
            <a:solidFill>
              <a:srgbClr val="D94E41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3886200" y="2084832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4E3"/>
          </a:solidFill>
          <a:ln w="1905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4023360" y="2249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4"/>
                </a:solidFill>
              </a:rPr>
              <a:t>Heavy solenoid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1F24"/>
                </a:solidFill>
              </a:rPr>
              <a:t>contacts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263640" y="2423160"/>
            <a:ext cx="1051560" cy="0"/>
          </a:xfrm>
          <a:prstGeom prst="line">
            <a:avLst/>
          </a:prstGeom>
          <a:noFill/>
          <a:ln w="38100">
            <a:solidFill>
              <a:srgbClr val="D94E41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7315200" y="19202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652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7576718" y="2171700"/>
            <a:ext cx="482803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24"/>
                </a:solidFill>
              </a:rPr>
              <a:t>M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7059168" y="30815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6525F"/>
                </a:solidFill>
              </a:rPr>
              <a:t>Series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6525F"/>
                </a:solidFill>
              </a:rPr>
              <a:t>starter motor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8321040" y="2423160"/>
            <a:ext cx="822960" cy="0"/>
          </a:xfrm>
          <a:prstGeom prst="line">
            <a:avLst/>
          </a:prstGeom>
          <a:noFill/>
          <a:ln w="381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9144000" y="2423160"/>
            <a:ext cx="0" cy="1920240"/>
          </a:xfrm>
          <a:prstGeom prst="line">
            <a:avLst/>
          </a:prstGeom>
          <a:noFill/>
          <a:ln w="3810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8887968" y="4709160"/>
            <a:ext cx="512064" cy="0"/>
          </a:xfrm>
          <a:prstGeom prst="line">
            <a:avLst/>
          </a:prstGeom>
          <a:noFill/>
          <a:ln w="1905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8970264" y="4809744"/>
            <a:ext cx="347472" cy="0"/>
          </a:xfrm>
          <a:prstGeom prst="line">
            <a:avLst/>
          </a:prstGeom>
          <a:noFill/>
          <a:ln w="1905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9052560" y="4910328"/>
            <a:ext cx="182880" cy="0"/>
          </a:xfrm>
          <a:prstGeom prst="line">
            <a:avLst/>
          </a:prstGeom>
          <a:noFill/>
          <a:ln w="19050">
            <a:solidFill>
              <a:srgbClr val="46525F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5102352" y="3383280"/>
            <a:ext cx="0" cy="0"/>
          </a:xfrm>
          <a:prstGeom prst="line">
            <a:avLst/>
          </a:prstGeom>
          <a:noFill/>
          <a:ln w="19050">
            <a:solidFill>
              <a:srgbClr val="2D72B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4983480" y="2834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D72B8"/>
                </a:solidFill>
              </a:rPr>
              <a:t>magnetic pull closes contacts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2057400" y="473659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2B8"/>
                </a:solidFill>
              </a:rPr>
              <a:t>Low-current control path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463040" y="204825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4E41"/>
                </a:solidFill>
              </a:rPr>
              <a:t>High-current motor path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726680" y="5230368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EAF7F5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7863840" y="5422392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4"/>
                </a:solidFill>
              </a:rPr>
              <a:t>The small START switch does not carry starter current.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0392"/>
          </a:xfrm>
          <a:prstGeom prst="rect">
            <a:avLst/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/mnt/data/master_unzip/ppt/media/image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" y="164592"/>
            <a:ext cx="288036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2112" y="347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Machines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06640" y="192024"/>
            <a:ext cx="4279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0" y="850392"/>
            <a:ext cx="12191695" cy="18288"/>
          </a:xfrm>
          <a:prstGeom prst="rect">
            <a:avLst/>
          </a:prstGeom>
          <a:solidFill>
            <a:srgbClr val="D6DCE2">
              <a:alpha val="65000"/>
            </a:srgbClr>
          </a:solidFill>
          <a:ln w="12700">
            <a:solidFill>
              <a:srgbClr val="D6DC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03504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1F24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1792" y="17007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6525F"/>
                </a:solidFill>
              </a:rPr>
              <a:t>Use the motor connection to predict behaviour and choose the right application.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77240" y="2057400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EAF3FC"/>
          </a:solidFill>
          <a:ln w="15240">
            <a:solidFill>
              <a:srgbClr val="2D72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923544" y="2167128"/>
            <a:ext cx="4736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</a:rPr>
              <a:t>Shunt motor: field is parallel with armature, giving relatively steady speed.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2057400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FF4E3"/>
          </a:solidFill>
          <a:ln w="1524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455664" y="2167128"/>
            <a:ext cx="4736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</a:rPr>
              <a:t>Series motor: field and armature carry the same current, giving very high starting torque.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3246120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EA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923544" y="3355848"/>
            <a:ext cx="4736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</a:rPr>
              <a:t>Car starter motor: series motor with a solenoid to switch high current and engage the pinion.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309360" y="3246120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EAF3FC"/>
          </a:solidFill>
          <a:ln w="15240">
            <a:solidFill>
              <a:srgbClr val="D94E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455664" y="3355848"/>
            <a:ext cx="4736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</a:rPr>
              <a:t>Typical example: 12 V system, about 150–300 A cranking and higher cold-start peaks.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143000" y="4773168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114B5A"/>
          </a:solidFill>
          <a:ln w="12700">
            <a:solidFill>
              <a:srgbClr val="114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1417320" y="50292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Safety reminder: high-current DC systems need short duty cycles, secure connections, suitable cables and guarded rotating parts.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9808" y="5989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8794"/>
                </a:solidFill>
              </a:rPr>
              <a:t>End of section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Microsoft Office PowerPoint</Application>
  <PresentationFormat>Widescreen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Electrical Machines: Shunt and Series Motors</dc:title>
  <dc:subject>DC Electrical Machines: Shunt and Series Motors</dc:subject>
  <dc:creator>OpenAI</dc:creator>
  <cp:lastModifiedBy>John Dobson</cp:lastModifiedBy>
  <cp:revision>2</cp:revision>
  <dcterms:created xsi:type="dcterms:W3CDTF">2026-07-16T10:18:39Z</dcterms:created>
  <dcterms:modified xsi:type="dcterms:W3CDTF">2026-07-16T10:22:05Z</dcterms:modified>
</cp:coreProperties>
</file>