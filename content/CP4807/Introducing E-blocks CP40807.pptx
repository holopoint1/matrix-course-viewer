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323" r:id="rId3"/>
    <p:sldId id="324" r:id="rId4"/>
    <p:sldId id="310" r:id="rId5"/>
    <p:sldId id="312" r:id="rId6"/>
    <p:sldId id="311" r:id="rId7"/>
    <p:sldId id="313" r:id="rId8"/>
    <p:sldId id="314" r:id="rId9"/>
    <p:sldId id="325" r:id="rId10"/>
    <p:sldId id="294" r:id="rId11"/>
    <p:sldId id="326" r:id="rId12"/>
    <p:sldId id="327" r:id="rId13"/>
    <p:sldId id="334" r:id="rId14"/>
    <p:sldId id="329" r:id="rId15"/>
    <p:sldId id="330" r:id="rId16"/>
    <p:sldId id="331" r:id="rId17"/>
    <p:sldId id="297" r:id="rId18"/>
    <p:sldId id="298" r:id="rId19"/>
    <p:sldId id="315" r:id="rId20"/>
    <p:sldId id="309" r:id="rId21"/>
    <p:sldId id="319" r:id="rId22"/>
    <p:sldId id="332" r:id="rId23"/>
    <p:sldId id="333" r:id="rId24"/>
    <p:sldId id="335" r:id="rId25"/>
    <p:sldId id="336" r:id="rId26"/>
    <p:sldId id="299" r:id="rId27"/>
    <p:sldId id="318" r:id="rId28"/>
    <p:sldId id="337" r:id="rId29"/>
    <p:sldId id="338" r:id="rId30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1953"/>
    <a:srgbClr val="4A20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6247" autoAdjust="0"/>
  </p:normalViewPr>
  <p:slideViewPr>
    <p:cSldViewPr snapToGrid="0">
      <p:cViewPr varScale="1">
        <p:scale>
          <a:sx n="103" d="100"/>
          <a:sy n="103" d="100"/>
        </p:scale>
        <p:origin x="774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B51EA73D-59EA-4038-8D8D-FFDC81E35B42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E196C0D3-D58E-4130-B62D-A05C3AE4F6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6637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F4833-C0BC-7B1F-2853-0B8F12E5EE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A914E6-31DB-46F5-ADB6-221B43F24B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39840-D33E-B9CA-5BC1-9E83F80E0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4D88-B82C-4E4D-9F7A-871A22650F02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A4EE2-719A-E8C0-3ADB-C6D372392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15959-4F4B-5022-81E7-C0006DF79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BBDBB-1B77-4967-A1E1-1CF99F873A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3293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FC0B8-8110-4118-CDC0-3B795ACC6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6E6EC-D079-6F5C-94D8-8629E3C3E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D47AAF-9781-7C59-3B7D-E0BBB5C1C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4D88-B82C-4E4D-9F7A-871A22650F02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167CF-06BC-10A7-4261-E45F3D5AB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BEFCA-C76B-4BE5-5680-C4C87AE23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BBDBB-1B77-4967-A1E1-1CF99F873A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2851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2F2D0-4655-62BD-8E16-F642AE7A4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35507A-E440-259B-807F-158940F1D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DDD3A-0D57-41D2-1CE6-1089B720C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4D88-B82C-4E4D-9F7A-871A22650F02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FC1C6-76A8-7537-B397-96446CD6F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DA474-1E29-196A-7A20-EE723A716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BBDBB-1B77-4967-A1E1-1CF99F873A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9354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A7E6D-FA95-6AB3-ECF4-A49389FC1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96C0E-335E-8C94-7419-6107BC1048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97749D-879D-92A4-1E34-3BED31C008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FA4CA-D48C-4940-875F-8B40DE9F2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4D88-B82C-4E4D-9F7A-871A22650F02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87F932-56A6-57D2-3A83-5B03709D3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9B94C6-9897-7C55-7ADC-AA17B34C0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BBDBB-1B77-4967-A1E1-1CF99F873A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4611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EB47-AB35-9236-4D6F-4A792D328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AC0754-18A8-1330-DCB7-2B6006449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3FF9EB-F501-022A-2D4D-6FC10EEC26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41C5CC-82B2-00C9-9971-9F217C724C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91D10D-B3CA-A575-5539-F03E124646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154478-AC0C-8929-574C-F8475D73C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4D88-B82C-4E4D-9F7A-871A22650F02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D851DB-3CC8-D80D-A772-8E38E9886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A2B9D5-D880-DF8C-A91D-ACB6EE0AC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BBDBB-1B77-4967-A1E1-1CF99F873A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3116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18C43-BFD7-A07B-6322-1156DCE7F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A67F2C-D9D4-521E-2624-636E1CAED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4D88-B82C-4E4D-9F7A-871A22650F02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99BC6C-E934-4004-71CE-FE5892B5E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134BC8-9BB9-9451-CF8B-D49451DBB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BBDBB-1B77-4967-A1E1-1CF99F873A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6558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EB9212-74DA-9E18-2F14-6BD1E87CC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4D88-B82C-4E4D-9F7A-871A22650F02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574EE7-91C7-73A2-D616-AF07364EC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B98DC8-9390-3AE8-BF0E-E061CC48E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BBDBB-1B77-4967-A1E1-1CF99F873A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7693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01A2C-4DD1-0FB1-FD96-48FD1EEC7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28422-37C0-2225-229C-C4A7928066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8359A2-6C46-F2BE-4FF3-65A42B4EB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FC7E94-59F0-1C71-5EC4-72B8FCA3E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4D88-B82C-4E4D-9F7A-871A22650F02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1959A-61E9-27D8-04E4-03DDB7A1C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1E4619-076C-A37F-CCDF-D04CB7C5D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BBDBB-1B77-4967-A1E1-1CF99F873A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7151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68545-DAA1-2EAF-8C62-51021E024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69B6E1-CC9C-E65E-01AA-2E69905982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C1AFB9-4BFB-B36E-D849-3A79991564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21FF01-5CB7-6D1E-E14F-6FBD1787D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4D88-B82C-4E4D-9F7A-871A22650F02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BEFC6A-5755-11F6-1CED-0FA12C880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D22B84-A541-4A57-4124-669842EF8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BBDBB-1B77-4967-A1E1-1CF99F873A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4494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E1F14-8444-3E3D-F5FE-6B4B27502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9EFF42-F039-8DF7-61D8-583055B3E8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CCD19-0E3F-EA87-EDEE-5677E62FB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4D88-B82C-4E4D-9F7A-871A22650F02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A5A04-D8EC-5480-462E-09EAD0006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17157-A534-9A88-86B1-10940626E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BBDBB-1B77-4967-A1E1-1CF99F873A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2628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4D0070-191A-DE1B-BEE4-6DB07F284B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B4BF49-6D97-8E62-FEB6-8513C98BF8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054FA-9EB1-BF0C-3663-8BA612DF6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4D88-B82C-4E4D-9F7A-871A22650F02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A7891-1C43-244A-DA63-1FC46F7CD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FFB5E-DAEB-B29A-6D62-8BF8C3CF4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BBDBB-1B77-4967-A1E1-1CF99F873A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2231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5823AC-4C33-3B22-38AB-7E7E642FC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631987-D893-7B33-4C58-C34B650D66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332CA-73F2-1857-DCBD-E24360D648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24D88-B82C-4E4D-9F7A-871A22650F02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DDE12-D895-AE5D-2833-4686BFC195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231A7-866B-ACD4-EA87-BF72D2F73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6BBDBB-1B77-4967-A1E1-1CF99F873A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3611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file:///C:\Users\JohnD\OneDrive%20-%20MATRIX%20TECHNOLOGY%20SOLUTIONS\Documents\Matrix\Dev\CPxxxx%20E-blocks%20publicity%20sheet\motors%20cover.png" TargetMode="External"/><Relationship Id="rId7" Type="http://schemas.openxmlformats.org/officeDocument/2006/relationships/image" Target="../media/image4.png"/><Relationship Id="rId2" Type="http://schemas.openxmlformats.org/officeDocument/2006/relationships/image" Target="file:///C:\Users\JohnD\OneDrive%20-%20MATRIX%20TECHNOLOGY%20SOLUTIONS\Documents\Matrix\Dev\CPxxxx%20E-blocks%20publicity%20sheet\intros%20cover.png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file:///C:\Users\JohnD\OneDrive%20-%20MATRIX%20TECHNOLOGY%20SOLUTIONS\Documents\Matrix\Dev\CPxxxx%20E-blocks%20publicity%20sheet\PC%20cover.png" TargetMode="External"/><Relationship Id="rId4" Type="http://schemas.openxmlformats.org/officeDocument/2006/relationships/image" Target="file:///C:\Users\JohnD\OneDrive%20-%20MATRIX%20TECHNOLOGY%20SOLUTIONS\Documents\Matrix\Dev\CPxxxx%20E-blocks%20publicity%20sheet\sensors%20cover.png" TargetMode="External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file:///C:\Users\JohnD\OneDrive%20-%20MATRIX%20TECHNOLOGY%20SOLUTIONS\Documents\Matrix\Dev\CPxxxx%20E-blocks%20publicity%20sheet\intros%20cover.png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file:///C:\Users\JohnD\OneDrive%20-%20MATRIX%20TECHNOLOGY%20SOLUTIONS\Documents\Matrix\Dev\CPxxxx%20E-blocks%20publicity%20sheet\sensors%20cover.png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file:///C:\Users\JohnD\OneDrive%20-%20MATRIX%20TECHNOLOGY%20SOLUTIONS\Documents\Matrix\Dev\CPxxxx%20E-blocks%20publicity%20sheet\motors%20cover.png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file:///C:\Users\JohnD\OneDrive%20-%20MATRIX%20TECHNOLOGY%20SOLUTIONS\Documents\Matrix\Dev\CPxxxx%20E-blocks%20publicity%20sheet\PC%20cover.png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owcode.co.uk/wiki/index.php?title=Main_Page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jpg"/><Relationship Id="rId4" Type="http://schemas.openxmlformats.org/officeDocument/2006/relationships/hyperlink" Target="http://www.flowcode.co.uk/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emf"/><Relationship Id="rId4" Type="http://schemas.openxmlformats.org/officeDocument/2006/relationships/oleObject" Target="file:///C:\Users\JohnD\OneDrive%20-%20MATRIX%20TECHNOLOGY%20SOLUTIONS\Documents\Matrix\Dev\E-blocks%203\products%20and%20prices%2013%2011%2025.xlsx!Products!R3C2:R47C4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rixtsl.com/eblocks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file:///C:\Users\JohnD\OneDrive%20-%20MATRIX%20TECHNOLOGY%20SOLUTIONS\Documents\Matrix\Dev\CPxxxx%20E-blocks%20publicity%20sheet\intros%20cover.png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17BD7CC6-2F7F-4587-8E92-D041AB2CEB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E7ED1F4-19EF-4BC2-A6EA-DF1525142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EE7C14F-442F-4416-A4A9-6DA10263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7AC4CCD-70AA-4916-97EA-D9C12FED1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5694289-EA59-4679-9DB4-0646321A8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32EDAD0A-6995-496D-9789-A34C66F5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CBBB211-248C-4F94-900A-80CD8D52F3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48DCC953-87D5-419D-A529-94A9462512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0F67D0B7-A0F4-47EB-8DF7-2630C056AB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A3919D60-F174-4FEB-9E9D-5AF6BD659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8EF7474-F1F7-47A7-AF33-E38A86EBF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B14C3B3-01E7-4DD2-80BC-D6605BDB3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29E2ED25-9BE8-462A-BE54-D3E506DBA2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3E48329-07A0-4DBB-9D0C-0614AE372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ED609B4-86D5-44D5-8511-42AE9B129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912E1BF-76C2-49D5-A5AC-1CE20255C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4E6722B-B0C0-4A43-91F6-6E2D6E2D7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C8EAB6DA-9741-4668-8E47-957CD515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E36EC6AA-9E44-4DD2-B718-EE04111414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38DE653-B3C7-49E5-A3B0-6C00B26083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90AE89EB-4F51-4181-9475-7E1048FB3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78285A0-9022-40FD-B520-91444BA16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0E2EED1A-F137-41BB-A555-7CDFF9C334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3E1EC980-DEDC-41BF-995C-1D471C90E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A2F9486-DC13-4EDD-82CE-7FFC6F484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46A2475-19E5-46B8-B7FE-C2CF42971F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91CD8CAA-4614-4393-ADD7-7FDFD8ABD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89F5BF84-4D12-40EB-B3CA-72B55341A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ACF91815-2B4A-44C8-BAC2-6732AD11A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23960DB-F7E9-40C5-BDC7-9700C71B1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A95623C8-E3C3-425E-B186-ADFF5B6702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A427E4A-B9C7-9B2E-9D8F-3ABEB27DD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858" y="-5105"/>
            <a:ext cx="12192000" cy="685714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69BF76F-A608-506A-2E9A-A19B1D2FA68C}"/>
              </a:ext>
            </a:extLst>
          </p:cNvPr>
          <p:cNvSpPr txBox="1"/>
          <p:nvPr/>
        </p:nvSpPr>
        <p:spPr>
          <a:xfrm>
            <a:off x="21717" y="3307229"/>
            <a:ext cx="12178093" cy="304698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GB" sz="9600" b="1" dirty="0">
                <a:solidFill>
                  <a:schemeClr val="bg1"/>
                </a:solidFill>
              </a:rPr>
              <a:t>Microcontroller programming</a:t>
            </a:r>
          </a:p>
        </p:txBody>
      </p:sp>
    </p:spTree>
    <p:extLst>
      <p:ext uri="{BB962C8B-B14F-4D97-AF65-F5344CB8AC3E}">
        <p14:creationId xmlns:p14="http://schemas.microsoft.com/office/powerpoint/2010/main" val="1377842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FE3D464-F414-1D80-F14D-E01FD5D658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06044"/>
            <a:ext cx="4695435" cy="4896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7D8E18-98A9-6B6A-623A-952D6B2BC569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FDF4EA-D751-E7B1-14A3-84FEEF525DFE}"/>
              </a:ext>
            </a:extLst>
          </p:cNvPr>
          <p:cNvSpPr txBox="1"/>
          <p:nvPr/>
        </p:nvSpPr>
        <p:spPr>
          <a:xfrm>
            <a:off x="516073" y="1430151"/>
            <a:ext cx="536221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In this presentation: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We talk about what we are going to learn in this module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We talk about how the learning will take place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We introduce the E-blocks hardware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We introduce the E-blocks software: </a:t>
            </a:r>
            <a:r>
              <a:rPr lang="en-GB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Flowcode</a:t>
            </a: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We introduce the worksheet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We talk about assessment and grading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9947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8FB66C7-0BC2-B026-E14F-3E88D893D1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06044"/>
            <a:ext cx="4695435" cy="4896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3EAD48-DB83-6FBC-ACE4-2CA2A952E830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What we are going to learn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6F048C-F3E7-2F84-FFAF-2018EE3D655A}"/>
              </a:ext>
            </a:extLst>
          </p:cNvPr>
          <p:cNvSpPr txBox="1"/>
          <p:nvPr/>
        </p:nvSpPr>
        <p:spPr>
          <a:xfrm>
            <a:off x="478751" y="963620"/>
            <a:ext cx="651920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How long:</a:t>
            </a: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	</a:t>
            </a: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Option 1 - 60 guided hour module:</a:t>
            </a: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		60 hours of classes</a:t>
            </a: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		30 hours of homework</a:t>
            </a: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Option 2 - 120 guided hour module:</a:t>
            </a: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		120 hours of classes</a:t>
            </a: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		60 hours of homework</a:t>
            </a: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We are going to learn how to create modern electronics systems. That means</a:t>
            </a: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lvl="1"/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Microcontroller programming</a:t>
            </a:r>
          </a:p>
          <a:p>
            <a:pPr lvl="1"/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Microcontroller hardware</a:t>
            </a:r>
          </a:p>
          <a:p>
            <a:pPr lvl="1"/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Microcontroller system design – the electronics part</a:t>
            </a:r>
          </a:p>
          <a:p>
            <a:pPr lvl="1"/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When you have finished this module you will be able to design complex electronic systems. </a:t>
            </a:r>
          </a:p>
          <a:p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7EAC2A-CAF0-EA1F-B887-AF9C1DB54C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7159" y="1137680"/>
            <a:ext cx="3314302" cy="4984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72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tro to microcontrollers.png">
            <a:extLst>
              <a:ext uri="{FF2B5EF4-FFF2-40B4-BE49-F238E27FC236}">
                <a16:creationId xmlns:a16="http://schemas.microsoft.com/office/drawing/2014/main" id="{B4A52056-B201-8595-C5FA-BA712A1A8CEA}"/>
              </a:ext>
            </a:extLst>
          </p:cNvPr>
          <p:cNvPicPr>
            <a:picLocks noChangeAspect="1"/>
          </p:cNvPicPr>
          <p:nvPr/>
        </p:nvPicPr>
        <p:blipFill>
          <a:blip r:link="rId2"/>
          <a:stretch>
            <a:fillRect/>
          </a:stretch>
        </p:blipFill>
        <p:spPr>
          <a:xfrm>
            <a:off x="5342092" y="1160197"/>
            <a:ext cx="1723106" cy="24403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motors and microcontrollers cover.png">
            <a:extLst>
              <a:ext uri="{FF2B5EF4-FFF2-40B4-BE49-F238E27FC236}">
                <a16:creationId xmlns:a16="http://schemas.microsoft.com/office/drawing/2014/main" id="{29759A9E-2CF6-746F-2A06-7BE25FB9090B}"/>
              </a:ext>
            </a:extLst>
          </p:cNvPr>
          <p:cNvPicPr>
            <a:picLocks noChangeAspect="1"/>
          </p:cNvPicPr>
          <p:nvPr/>
        </p:nvPicPr>
        <p:blipFill>
          <a:blip r:link="rId3"/>
          <a:stretch>
            <a:fillRect/>
          </a:stretch>
        </p:blipFill>
        <p:spPr>
          <a:xfrm>
            <a:off x="7573029" y="3782099"/>
            <a:ext cx="1723106" cy="244903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sensors and microcontrollers.png">
            <a:extLst>
              <a:ext uri="{FF2B5EF4-FFF2-40B4-BE49-F238E27FC236}">
                <a16:creationId xmlns:a16="http://schemas.microsoft.com/office/drawing/2014/main" id="{1F01B5DC-1AFF-3446-95AA-06B5A8D8604D}"/>
              </a:ext>
            </a:extLst>
          </p:cNvPr>
          <p:cNvPicPr>
            <a:picLocks noChangeAspect="1"/>
          </p:cNvPicPr>
          <p:nvPr/>
        </p:nvPicPr>
        <p:blipFill>
          <a:blip r:link="rId4"/>
          <a:stretch>
            <a:fillRect/>
          </a:stretch>
        </p:blipFill>
        <p:spPr>
          <a:xfrm>
            <a:off x="5346260" y="3782099"/>
            <a:ext cx="1718938" cy="24403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pc adn web interfacing.png">
            <a:extLst>
              <a:ext uri="{FF2B5EF4-FFF2-40B4-BE49-F238E27FC236}">
                <a16:creationId xmlns:a16="http://schemas.microsoft.com/office/drawing/2014/main" id="{89E70087-B72D-50F4-AF1D-DBFC45614539}"/>
              </a:ext>
            </a:extLst>
          </p:cNvPr>
          <p:cNvPicPr>
            <a:picLocks noChangeAspect="1"/>
          </p:cNvPicPr>
          <p:nvPr/>
        </p:nvPicPr>
        <p:blipFill>
          <a:blip r:link="rId5"/>
          <a:stretch>
            <a:fillRect/>
          </a:stretch>
        </p:blipFill>
        <p:spPr>
          <a:xfrm>
            <a:off x="7573029" y="1160197"/>
            <a:ext cx="1715770" cy="24403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A2F288-03BF-58C5-9CD0-B7F5DDAD09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39638"/>
            <a:ext cx="4695435" cy="4896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B23E49-3B4F-4A3C-66B2-F810FA08082B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Microcontroller curriculum</a:t>
            </a:r>
            <a:endParaRPr lang="en-GB" sz="2800" b="1" dirty="0">
              <a:solidFill>
                <a:srgbClr val="3A1953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F168B6-E3C9-1FEE-AE51-428185154CF3}"/>
              </a:ext>
            </a:extLst>
          </p:cNvPr>
          <p:cNvSpPr txBox="1"/>
          <p:nvPr/>
        </p:nvSpPr>
        <p:spPr>
          <a:xfrm>
            <a:off x="1148392" y="1396644"/>
            <a:ext cx="370927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Full courses are provided – designed around </a:t>
            </a:r>
            <a:r>
              <a:rPr lang="en-GB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Flowcode</a:t>
            </a: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Around 50 hours of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Flowcode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example files included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Integration with YouTube videos.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5DF05CB-FC20-9311-5AF1-D6F503A817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1039" y="1015179"/>
            <a:ext cx="1885625" cy="258532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F8BFE74-DBE1-2F35-8801-F5A5A90580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00303" y="2489437"/>
            <a:ext cx="1881673" cy="258532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397DE42-B3A5-B405-85B6-898DCD2E8EF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90387" y="3785479"/>
            <a:ext cx="1817447" cy="2578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377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1384C-BBC9-F081-FC0F-A07A4F3ED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9A55DD5-46A3-C143-E879-C9072B204D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39638"/>
            <a:ext cx="4695435" cy="4896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4A405E-6A76-DD44-83F0-DDD8C273624E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Introduction to microcontrollers</a:t>
            </a:r>
          </a:p>
        </p:txBody>
      </p:sp>
      <p:pic>
        <p:nvPicPr>
          <p:cNvPr id="4" name="intro to microcontrollers.png">
            <a:extLst>
              <a:ext uri="{FF2B5EF4-FFF2-40B4-BE49-F238E27FC236}">
                <a16:creationId xmlns:a16="http://schemas.microsoft.com/office/drawing/2014/main" id="{FAB58546-105A-345D-5918-7A86E3C1394D}"/>
              </a:ext>
            </a:extLst>
          </p:cNvPr>
          <p:cNvPicPr>
            <a:picLocks noChangeAspect="1"/>
          </p:cNvPicPr>
          <p:nvPr/>
        </p:nvPicPr>
        <p:blipFill>
          <a:blip r:link="rId3"/>
          <a:stretch>
            <a:fillRect/>
          </a:stretch>
        </p:blipFill>
        <p:spPr>
          <a:xfrm>
            <a:off x="779939" y="1306285"/>
            <a:ext cx="3051252" cy="432125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AE1822-1600-B038-ADC8-D4A540F82F50}"/>
              </a:ext>
            </a:extLst>
          </p:cNvPr>
          <p:cNvSpPr txBox="1"/>
          <p:nvPr/>
        </p:nvSpPr>
        <p:spPr>
          <a:xfrm>
            <a:off x="4857667" y="1143080"/>
            <a:ext cx="6833591" cy="5222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This beginner’s curriculum frames the work for students wanting to program microcontrollers for the first time. The core curriculum consists of a  number worksheets covering topics from flashing your first LED through to the sue of timer and pin interrupts. The worksheets are accompanied by a series of videos available free of charge on the </a:t>
            </a:r>
            <a:r>
              <a:rPr lang="en-GB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Flowcode</a:t>
            </a: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YouTube site. 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Microcontroller programming in flowcharts using </a:t>
            </a:r>
            <a:r>
              <a:rPr lang="en-GB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Flowcode</a:t>
            </a: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Hardware: LEDs, Switches, LCD displays, graphical displays, 7-segment displays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Software: inputs, outputs, delays, decisions (IF, CASE) connection points, variables, types, strings, loops, hardware macro functions, software macro functions, calculations, comments, timer interrupts, pin interrupts, A/D, D/A, binary, hexadecimal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More than 20 videos free on YouTube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Accompanying example files on the </a:t>
            </a:r>
            <a:r>
              <a:rPr lang="en-GB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Flowcode</a:t>
            </a: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Wiki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15 hours of learning</a:t>
            </a:r>
          </a:p>
        </p:txBody>
      </p:sp>
    </p:spTree>
    <p:extLst>
      <p:ext uri="{BB962C8B-B14F-4D97-AF65-F5344CB8AC3E}">
        <p14:creationId xmlns:p14="http://schemas.microsoft.com/office/powerpoint/2010/main" val="2655558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011928D-C06A-C7C8-1295-D4267CD0FA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39638"/>
            <a:ext cx="4695435" cy="4896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1F570C-3C56-3E08-1A97-DE65E9038E12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Sensors and microcontrollers</a:t>
            </a:r>
          </a:p>
        </p:txBody>
      </p:sp>
      <p:pic>
        <p:nvPicPr>
          <p:cNvPr id="6" name="sensors and microcontrollers.png">
            <a:extLst>
              <a:ext uri="{FF2B5EF4-FFF2-40B4-BE49-F238E27FC236}">
                <a16:creationId xmlns:a16="http://schemas.microsoft.com/office/drawing/2014/main" id="{C347A9CC-9DBC-0593-8860-C4B7AB3A5B38}"/>
              </a:ext>
            </a:extLst>
          </p:cNvPr>
          <p:cNvPicPr>
            <a:picLocks noChangeAspect="1"/>
          </p:cNvPicPr>
          <p:nvPr/>
        </p:nvPicPr>
        <p:blipFill>
          <a:blip r:link="rId3"/>
          <a:stretch>
            <a:fillRect/>
          </a:stretch>
        </p:blipFill>
        <p:spPr>
          <a:xfrm>
            <a:off x="779939" y="1306285"/>
            <a:ext cx="3043871" cy="432125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EC26431-68A9-74EF-7655-7EA0167D2598}"/>
              </a:ext>
            </a:extLst>
          </p:cNvPr>
          <p:cNvSpPr txBox="1"/>
          <p:nvPr/>
        </p:nvSpPr>
        <p:spPr>
          <a:xfrm>
            <a:off x="4857667" y="1854787"/>
            <a:ext cx="6097554" cy="3148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This curriculum allows students to explore the use of analogue and digital sensors. 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Analogue </a:t>
            </a:r>
            <a:r>
              <a:rPr lang="fr-F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sensors</a:t>
            </a:r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fr-F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potentiometer</a:t>
            </a:r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light </a:t>
            </a:r>
            <a:r>
              <a:rPr lang="fr-F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sensor</a:t>
            </a:r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thermistor</a:t>
            </a: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Digital sensors : temperature/humidity, g force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Graphing sensor data on LCD displays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I2C and SPI buses.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Free videos on YouTube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Examples on the </a:t>
            </a:r>
            <a:r>
              <a:rPr lang="en-GB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Flowcode</a:t>
            </a: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Wiki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8 hours of learning for core worksheets</a:t>
            </a:r>
          </a:p>
        </p:txBody>
      </p:sp>
    </p:spTree>
    <p:extLst>
      <p:ext uri="{BB962C8B-B14F-4D97-AF65-F5344CB8AC3E}">
        <p14:creationId xmlns:p14="http://schemas.microsoft.com/office/powerpoint/2010/main" val="900809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3C12D-3765-3812-43E5-6BBCB4DA8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5A31286-4AB3-055C-182B-1FDE65152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39638"/>
            <a:ext cx="4695435" cy="4896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057909-AB03-FBC2-4BA6-BD7F63489EA1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Motors and microcontrollers</a:t>
            </a:r>
          </a:p>
        </p:txBody>
      </p:sp>
      <p:pic>
        <p:nvPicPr>
          <p:cNvPr id="6" name="motors and microcontrollers cover.png">
            <a:extLst>
              <a:ext uri="{FF2B5EF4-FFF2-40B4-BE49-F238E27FC236}">
                <a16:creationId xmlns:a16="http://schemas.microsoft.com/office/drawing/2014/main" id="{940077A4-563D-3254-481E-2BBF5CC09442}"/>
              </a:ext>
            </a:extLst>
          </p:cNvPr>
          <p:cNvPicPr>
            <a:picLocks noChangeAspect="1"/>
          </p:cNvPicPr>
          <p:nvPr/>
        </p:nvPicPr>
        <p:blipFill>
          <a:blip r:link="rId3"/>
          <a:stretch>
            <a:fillRect/>
          </a:stretch>
        </p:blipFill>
        <p:spPr>
          <a:xfrm>
            <a:off x="779938" y="1306285"/>
            <a:ext cx="3051251" cy="433672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BBD8DB-F794-CC11-A25B-3CBD7E5C8AA9}"/>
              </a:ext>
            </a:extLst>
          </p:cNvPr>
          <p:cNvSpPr txBox="1"/>
          <p:nvPr/>
        </p:nvSpPr>
        <p:spPr>
          <a:xfrm>
            <a:off x="5064190" y="1306285"/>
            <a:ext cx="6097554" cy="4037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This curriculum allows students to explore the control of small motors using microcontrollers using the E-blocks compatible Actuators board. The worksheets are accompanied by videos on </a:t>
            </a:r>
            <a:r>
              <a:rPr lang="en-GB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Youtube</a:t>
            </a: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Requires a logic analyser.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Motor control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DC motor full bridge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Motor speed measurement with optical feedback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Servo motor control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Stepper motor control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Free videos on YouTube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Examples on the </a:t>
            </a:r>
            <a:r>
              <a:rPr lang="en-GB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Flowcode</a:t>
            </a: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Wiki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7 hours of learning</a:t>
            </a:r>
          </a:p>
        </p:txBody>
      </p:sp>
    </p:spTree>
    <p:extLst>
      <p:ext uri="{BB962C8B-B14F-4D97-AF65-F5344CB8AC3E}">
        <p14:creationId xmlns:p14="http://schemas.microsoft.com/office/powerpoint/2010/main" val="3235859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E4684-FA4C-1F18-0CDC-213DCBABE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E4EF0EA-C8DC-8EEF-D764-58E9B11BBA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39638"/>
            <a:ext cx="4695435" cy="4896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E8BE67-9A63-31C7-B908-0A8756BB184C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PC interfacing</a:t>
            </a:r>
          </a:p>
        </p:txBody>
      </p:sp>
      <p:pic>
        <p:nvPicPr>
          <p:cNvPr id="5" name="pc adn web interfacing.png">
            <a:extLst>
              <a:ext uri="{FF2B5EF4-FFF2-40B4-BE49-F238E27FC236}">
                <a16:creationId xmlns:a16="http://schemas.microsoft.com/office/drawing/2014/main" id="{5CC7FEA9-86D8-F3D8-C193-C88DC074DC36}"/>
              </a:ext>
            </a:extLst>
          </p:cNvPr>
          <p:cNvPicPr>
            <a:picLocks noChangeAspect="1"/>
          </p:cNvPicPr>
          <p:nvPr/>
        </p:nvPicPr>
        <p:blipFill>
          <a:blip r:link="rId3"/>
          <a:stretch>
            <a:fillRect/>
          </a:stretch>
        </p:blipFill>
        <p:spPr>
          <a:xfrm>
            <a:off x="775516" y="1586203"/>
            <a:ext cx="3051251" cy="43367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3E2EEA7-35F9-0E5C-7F98-8D404E73650C}"/>
              </a:ext>
            </a:extLst>
          </p:cNvPr>
          <p:cNvSpPr txBox="1"/>
          <p:nvPr/>
        </p:nvSpPr>
        <p:spPr>
          <a:xfrm>
            <a:off x="4857667" y="1782359"/>
            <a:ext cx="6097554" cy="285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This curriculum allows students to interface embedded projects with other computer-based systems: a Windows PC and a mobile phone. Students use </a:t>
            </a:r>
            <a:r>
              <a:rPr lang="en-GB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Flowcode</a:t>
            </a: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Embedded, and </a:t>
            </a:r>
            <a:r>
              <a:rPr lang="en-GB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Flowcode</a:t>
            </a: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PC Developer software. 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USB to PC communications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PC software development – </a:t>
            </a:r>
            <a:r>
              <a:rPr lang="en-GB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Flowcode</a:t>
            </a: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PC Developer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Free videos on YouTube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Examples on the </a:t>
            </a:r>
            <a:r>
              <a:rPr lang="en-GB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Flowcode</a:t>
            </a: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Wiki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 hours of learning</a:t>
            </a:r>
          </a:p>
        </p:txBody>
      </p:sp>
    </p:spTree>
    <p:extLst>
      <p:ext uri="{BB962C8B-B14F-4D97-AF65-F5344CB8AC3E}">
        <p14:creationId xmlns:p14="http://schemas.microsoft.com/office/powerpoint/2010/main" val="872180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ABDD23F-8E46-0C37-FF64-D26405DCD9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06044"/>
            <a:ext cx="4695435" cy="4896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61C832-F87E-109B-D785-3661D5ECEB78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How we are going to learn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5A477E-1ED6-99D9-FEDE-DD9BFA791A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5015" y="2516934"/>
            <a:ext cx="1235593" cy="13944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333AEA-5053-FAAA-CF54-97911A085E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159" y="2354927"/>
            <a:ext cx="1228896" cy="14384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9D4B44-2401-5228-FFCA-402B351783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327" y="2516934"/>
            <a:ext cx="1404804" cy="139445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CF4AC5D-3913-B0E1-6D1F-7AEE2D0D8FC1}"/>
              </a:ext>
            </a:extLst>
          </p:cNvPr>
          <p:cNvSpPr txBox="1"/>
          <p:nvPr/>
        </p:nvSpPr>
        <p:spPr>
          <a:xfrm>
            <a:off x="491159" y="4104524"/>
            <a:ext cx="26835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Lectures:</a:t>
            </a: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Very few – this is a practical module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5D374D-4CF0-B3B7-E723-180737B4A004}"/>
              </a:ext>
            </a:extLst>
          </p:cNvPr>
          <p:cNvSpPr txBox="1"/>
          <p:nvPr/>
        </p:nvSpPr>
        <p:spPr>
          <a:xfrm>
            <a:off x="3397737" y="4104523"/>
            <a:ext cx="268359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Practical work:</a:t>
            </a: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Close to 60 hours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DFE065-1860-2AF6-37B5-F79EA62C1665}"/>
              </a:ext>
            </a:extLst>
          </p:cNvPr>
          <p:cNvSpPr txBox="1"/>
          <p:nvPr/>
        </p:nvSpPr>
        <p:spPr>
          <a:xfrm>
            <a:off x="6418808" y="4104523"/>
            <a:ext cx="268359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Homework:</a:t>
            </a: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30 hours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7E354AD-6400-EE9F-88E6-C6542E3F7C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4913" y="2524389"/>
            <a:ext cx="1235593" cy="1387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230FF9D-9E9F-74BC-E0BE-A0A89C55BAF0}"/>
              </a:ext>
            </a:extLst>
          </p:cNvPr>
          <p:cNvSpPr txBox="1"/>
          <p:nvPr/>
        </p:nvSpPr>
        <p:spPr>
          <a:xfrm>
            <a:off x="9278706" y="4104523"/>
            <a:ext cx="268359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Tests:</a:t>
            </a: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All practical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13847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omputer screen with a display&#10;&#10;AI-generated content may be incorrect.">
            <a:extLst>
              <a:ext uri="{FF2B5EF4-FFF2-40B4-BE49-F238E27FC236}">
                <a16:creationId xmlns:a16="http://schemas.microsoft.com/office/drawing/2014/main" id="{A8FC5F97-38EE-8F9D-E643-03395E0B2F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553" y="1374516"/>
            <a:ext cx="5031867" cy="498917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81E1303-ABF5-A179-F5D1-174603EBF53D}"/>
              </a:ext>
            </a:extLst>
          </p:cNvPr>
          <p:cNvSpPr txBox="1"/>
          <p:nvPr/>
        </p:nvSpPr>
        <p:spPr>
          <a:xfrm>
            <a:off x="7756628" y="1700739"/>
            <a:ext cx="370927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Modular ‘plug and play’ hardware development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Rapid assembly of multiple electronic systems to practice 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Includes 320 x 480 capacitive touchscreen display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Includes SD card, </a:t>
            </a:r>
            <a:r>
              <a:rPr lang="en-GB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WiFi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, and Bluetooth modules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Serial debugging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Large selection of peripherals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947C9E-4B2B-1F79-9063-8FAED21161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06044"/>
            <a:ext cx="4695435" cy="4896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8341E2-B791-0236-E249-970FCAC17E98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Hardware</a:t>
            </a:r>
          </a:p>
        </p:txBody>
      </p:sp>
    </p:spTree>
    <p:extLst>
      <p:ext uri="{BB962C8B-B14F-4D97-AF65-F5344CB8AC3E}">
        <p14:creationId xmlns:p14="http://schemas.microsoft.com/office/powerpoint/2010/main" val="2318773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273E6AB-735B-50DE-9A4D-FEC7F90F0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06044"/>
            <a:ext cx="4695435" cy="4896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675538-D27E-8460-8B3B-5A10B6AEBBA0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Software – </a:t>
            </a:r>
            <a:r>
              <a:rPr lang="en-GB" sz="2800" b="1" dirty="0" err="1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Flowcode</a:t>
            </a:r>
            <a:r>
              <a:rPr lang="en-GB" sz="2800" b="1" dirty="0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V11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C1F45F-CB90-343A-71C3-D895D4492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3731" y="1786934"/>
            <a:ext cx="6044066" cy="32841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BBFE6D-0AB5-65D6-9440-BC4A9CA7D234}"/>
              </a:ext>
            </a:extLst>
          </p:cNvPr>
          <p:cNvSpPr txBox="1"/>
          <p:nvPr/>
        </p:nvSpPr>
        <p:spPr>
          <a:xfrm>
            <a:off x="1148392" y="1915343"/>
            <a:ext cx="370927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Program in Flowcharts, Blocks, Script or 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Software and hardware libraries built 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Simulation built 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In Circuit Debugging with hardware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7143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EB60351-82CC-2AC9-8EA6-DF9AFE031D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06044"/>
            <a:ext cx="4695435" cy="4896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2796E2-A19E-401B-E284-6E2F7B962E6D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Curriculum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D33C0E-016D-B89D-59B8-FB889CBBD46E}"/>
              </a:ext>
            </a:extLst>
          </p:cNvPr>
          <p:cNvSpPr txBox="1"/>
          <p:nvPr/>
        </p:nvSpPr>
        <p:spPr>
          <a:xfrm>
            <a:off x="924458" y="1622137"/>
            <a:ext cx="370927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In general the way this works is: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You load a worksheet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Watch an introduction video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Load an example in </a:t>
            </a:r>
            <a:r>
              <a:rPr lang="en-GB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Flowcode</a:t>
            </a: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Follow the instructions on the worksheet to complete the task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Sometimes you will watch the video on your own, sometimes we will watch it at the start of the practical session together.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0386BB-36C9-0C6C-2F59-21DC48684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847" y="849085"/>
            <a:ext cx="3997893" cy="5663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349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E277643-5EDF-A489-EFC3-AFCF318EB8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06044"/>
            <a:ext cx="4695435" cy="4896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0C0BE2-F52A-100A-E6D7-3BA88091D3F9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Wiki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9E9ADD-F866-5E6E-7FF0-D17F3EEA5B37}"/>
              </a:ext>
            </a:extLst>
          </p:cNvPr>
          <p:cNvSpPr txBox="1"/>
          <p:nvPr/>
        </p:nvSpPr>
        <p:spPr>
          <a:xfrm>
            <a:off x="924458" y="1622137"/>
            <a:ext cx="370927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There is a full Wiki for </a:t>
            </a:r>
            <a:r>
              <a:rPr lang="en-GB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Flowcode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with hundreds of examples here:</a:t>
            </a: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  <a:hlinkClick r:id="rId3"/>
              </a:rPr>
              <a:t>https://www.flowcode.co.uk/wiki/index.php?title=Main_Page</a:t>
            </a: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C66958-94A0-228C-3C31-4C4FD058A7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0284" y="1847849"/>
            <a:ext cx="6523454" cy="39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596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4B238A0-587C-12E7-B716-8B0352BF71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06044"/>
            <a:ext cx="4695435" cy="4896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7670D4-07DF-727F-63F4-77E5DCB0793D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Homework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6E38BB-5622-1F4B-A292-4F7D9BCEB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9047" y="1132411"/>
            <a:ext cx="1235593" cy="13944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E1E4E0F-FE8D-3BA8-5E33-88FF9F9824AA}"/>
              </a:ext>
            </a:extLst>
          </p:cNvPr>
          <p:cNvSpPr txBox="1"/>
          <p:nvPr/>
        </p:nvSpPr>
        <p:spPr>
          <a:xfrm>
            <a:off x="924458" y="1622137"/>
            <a:ext cx="504713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You can work using </a:t>
            </a:r>
            <a:r>
              <a:rPr lang="en-GB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Flowcode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on your computer at home</a:t>
            </a: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There is a free copy of </a:t>
            </a:r>
            <a:r>
              <a:rPr lang="en-GB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Flowcode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which is very functional. 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  <a:hlinkClick r:id="rId4"/>
              </a:rPr>
              <a:t>www.flowcode.co.uk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You can get a 1 year full license if you give your teacher your email address</a:t>
            </a: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You can use simulation only</a:t>
            </a: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You can buy a cheap target like Arduino and use a breadboard.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circuit board with wires&#10;&#10;Description automatically generated">
            <a:extLst>
              <a:ext uri="{FF2B5EF4-FFF2-40B4-BE49-F238E27FC236}">
                <a16:creationId xmlns:a16="http://schemas.microsoft.com/office/drawing/2014/main" id="{8F50C6DA-D2C1-C164-2FEE-31EC80A134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7854" y="3429000"/>
            <a:ext cx="4804941" cy="2702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1550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057B291-63A4-3316-0F19-95F5588FCF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06044"/>
            <a:ext cx="4695435" cy="4896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BBFB21-B7C7-59E8-63A0-A70D671FD830}"/>
              </a:ext>
            </a:extLst>
          </p:cNvPr>
          <p:cNvSpPr txBox="1"/>
          <p:nvPr/>
        </p:nvSpPr>
        <p:spPr>
          <a:xfrm>
            <a:off x="0" y="3026526"/>
            <a:ext cx="121920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2800" b="1" dirty="0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3234221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3B441-8C21-6755-04FB-C90950B6E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6650698E-1558-9929-4280-95FE4FACDB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00DE0A8-F3F0-3957-7D7D-F39B7C97A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EB69657-46C3-BF1C-8EF5-B44A02CAB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B1C6BB1-1DDF-17A0-0E09-E94CB09E79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7BE393CE-EC2C-BEFA-8906-163C50789B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85F305F-310D-3DA3-6659-B6772A5E91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7A24D2D-E387-D9A0-259D-7206E5D54C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D09B787-03AF-ED1E-06B8-4B310F6F0F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186678A4-B943-4A10-6662-DBA828B235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3D79AC6B-F1EE-9B83-046D-461E1A319C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C789548-9126-3E53-5334-B94AFA0D5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AA479BD-AB0E-3270-7696-C153E74267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214EA6D9-3B7F-6613-23A1-82CC45D70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59398579-9237-7B08-E56C-B7EA94F1F2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96AFF59-89FE-80EF-845E-ECA735C16C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0B26B0D-9123-62EB-6744-C1093F45C6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27CD2F72-6757-0E0F-7146-E81F2071C1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3D8792FA-A1E2-4678-6FC5-9B2595B212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CA4B942E-3BB7-1E9E-867C-3120A0580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A00EA7B-31E9-2D9A-3CF4-86F06E1E01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1E82A6AC-294E-27F6-A6A0-2A3FB09BA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7B13B95-DD70-DD9D-5922-93561D4F7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F2502E03-DCF9-584E-8973-E67DD27B15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DD2FE4C-9EF7-3BB0-6698-203F8BA075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CCA3FE4D-7831-C778-1188-44F3516464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EB7BE051-D7D6-A150-85C1-F4BBAE2444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4DD51146-6B9B-BB58-ABCC-77B9C1ADF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F787C848-EA61-C4D6-4B74-226D47590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8F260964-B98F-F8E3-6320-72DEF68B59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B96E743F-373E-621A-9994-DCFF58367F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2CA0CE4-D8B5-46F6-517F-2854E5B7B7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CD31F0B4-31ED-9CED-2A1B-176141D1E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858" y="-5105"/>
            <a:ext cx="12192000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2622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 shot of a device&#10;&#10;AI-generated content may be incorrect.">
            <a:extLst>
              <a:ext uri="{FF2B5EF4-FFF2-40B4-BE49-F238E27FC236}">
                <a16:creationId xmlns:a16="http://schemas.microsoft.com/office/drawing/2014/main" id="{2C42F9EE-1B3A-3787-EBFC-1800316040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890" y="1589675"/>
            <a:ext cx="10353368" cy="27275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025D321-CBA1-D3AA-9189-1891A70407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06044"/>
            <a:ext cx="4695435" cy="4896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CAEA22-7773-D87D-675B-3CBE09FC4B99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Upstream boards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C054E1-0FD1-54A1-F558-63C1A000EA9C}"/>
              </a:ext>
            </a:extLst>
          </p:cNvPr>
          <p:cNvSpPr txBox="1"/>
          <p:nvPr/>
        </p:nvSpPr>
        <p:spPr>
          <a:xfrm>
            <a:off x="245028" y="4576568"/>
            <a:ext cx="37092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ESP32S3 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32 bit microcontroller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Compatible with </a:t>
            </a:r>
            <a:r>
              <a:rPr lang="en-GB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Flowcode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, Arduino and </a:t>
            </a:r>
            <a:r>
              <a:rPr lang="en-GB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Espressif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800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800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Great for web enabled projects</a:t>
            </a:r>
            <a:endParaRPr lang="en-GB" sz="1800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CE7ECD-24EB-073D-4DA8-E8141DA2224A}"/>
              </a:ext>
            </a:extLst>
          </p:cNvPr>
          <p:cNvSpPr txBox="1"/>
          <p:nvPr/>
        </p:nvSpPr>
        <p:spPr>
          <a:xfrm>
            <a:off x="4241362" y="4576568"/>
            <a:ext cx="37092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PIC16F18877 8 bit device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Compatible with </a:t>
            </a:r>
            <a:r>
              <a:rPr lang="en-GB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Flowcode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and MPLAB 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Easiest for learners</a:t>
            </a:r>
          </a:p>
          <a:p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EF8529-1B82-9E7D-340A-5189D4473A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398" y="1021773"/>
            <a:ext cx="1895740" cy="438211"/>
          </a:xfrm>
          <a:prstGeom prst="rect">
            <a:avLst/>
          </a:prstGeom>
        </p:spPr>
      </p:pic>
      <p:pic>
        <p:nvPicPr>
          <p:cNvPr id="8" name="Picture 7" descr="A blue and white logo&#10;&#10;AI-generated content may be incorrect.">
            <a:extLst>
              <a:ext uri="{FF2B5EF4-FFF2-40B4-BE49-F238E27FC236}">
                <a16:creationId xmlns:a16="http://schemas.microsoft.com/office/drawing/2014/main" id="{8E3C2EB0-108A-4242-C900-C5FDFE5061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3388" y="1021773"/>
            <a:ext cx="665269" cy="43821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746F7B4-385C-C05F-0F5F-DD880525D7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4503" y="1018466"/>
            <a:ext cx="1724126" cy="4415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67FE1E-8CAF-F01A-0523-1FAB966F4529}"/>
              </a:ext>
            </a:extLst>
          </p:cNvPr>
          <p:cNvSpPr txBox="1"/>
          <p:nvPr/>
        </p:nvSpPr>
        <p:spPr>
          <a:xfrm>
            <a:off x="7981203" y="4576568"/>
            <a:ext cx="37092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Arduino  / AT 2650 8 bit device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Compatible with </a:t>
            </a:r>
            <a:r>
              <a:rPr lang="en-GB" sz="1800" dirty="0" err="1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Flowcode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,  and Arduino 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Huge online libraries of code</a:t>
            </a:r>
          </a:p>
          <a:p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94540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49CA6-1C8B-724E-22B1-7057FA20B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E5413EE-77C1-D05F-D15E-212CA046D6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39638"/>
            <a:ext cx="4695435" cy="4896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9C7E02-DA87-9490-D4E6-6080A144CDB4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Downstream boards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CB19A2-DFA6-DA62-DE05-5E77968DEEB0}"/>
              </a:ext>
            </a:extLst>
          </p:cNvPr>
          <p:cNvSpPr txBox="1"/>
          <p:nvPr/>
        </p:nvSpPr>
        <p:spPr>
          <a:xfrm>
            <a:off x="1030245" y="5029054"/>
            <a:ext cx="37092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Good range of boards and sensors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Compatibility with Grove and </a:t>
            </a:r>
            <a:r>
              <a:rPr lang="en-GB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Mikroe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expands to thousands of add-ons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group of electronic components&#10;&#10;AI-generated content may be incorrect.">
            <a:extLst>
              <a:ext uri="{FF2B5EF4-FFF2-40B4-BE49-F238E27FC236}">
                <a16:creationId xmlns:a16="http://schemas.microsoft.com/office/drawing/2014/main" id="{8FBD3D23-2436-8471-0897-D866591781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0700" y="928437"/>
            <a:ext cx="3078820" cy="4002829"/>
          </a:xfrm>
          <a:prstGeom prst="rect">
            <a:avLst/>
          </a:prstGeom>
        </p:spPr>
      </p:pic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D199DE79-00BF-93EF-ABD3-35D358183E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4083495"/>
              </p:ext>
            </p:extLst>
          </p:nvPr>
        </p:nvGraphicFramePr>
        <p:xfrm>
          <a:off x="7154687" y="719931"/>
          <a:ext cx="3376613" cy="541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5200802" imgH="8343939" progId="Excel.Sheet.12">
                  <p:link updateAutomatic="1"/>
                </p:oleObj>
              </mc:Choice>
              <mc:Fallback>
                <p:oleObj name="Worksheet" r:id="rId4" imgW="5200802" imgH="8343939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154687" y="719931"/>
                        <a:ext cx="3376613" cy="5418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524743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4344584-9451-30E0-33AE-801D10D502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39638"/>
            <a:ext cx="4695435" cy="4896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90DF33-1726-1E4C-9F6F-032BEF5CB8C6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Kit contents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199430-35A9-1DFA-BC31-A14CD6E43EDD}"/>
              </a:ext>
            </a:extLst>
          </p:cNvPr>
          <p:cNvSpPr txBox="1"/>
          <p:nvPr/>
        </p:nvSpPr>
        <p:spPr>
          <a:xfrm>
            <a:off x="6718699" y="990118"/>
            <a:ext cx="4695282" cy="378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Your kits include: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CF62925-24EA-4D8D-E3D1-D77E65AB62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17" y="737874"/>
            <a:ext cx="1905738" cy="1429304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7828245-DF1D-F6EF-9C33-CFB8FC9968CE}"/>
              </a:ext>
            </a:extLst>
          </p:cNvPr>
          <p:cNvGraphicFramePr>
            <a:graphicFrameLocks noGrp="1"/>
          </p:cNvGraphicFramePr>
          <p:nvPr/>
        </p:nvGraphicFramePr>
        <p:xfrm>
          <a:off x="8503122" y="2025900"/>
          <a:ext cx="3295413" cy="43513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1032">
                  <a:extLst>
                    <a:ext uri="{9D8B030D-6E8A-4147-A177-3AD203B41FA5}">
                      <a16:colId xmlns:a16="http://schemas.microsoft.com/office/drawing/2014/main" val="555431672"/>
                    </a:ext>
                  </a:extLst>
                </a:gridCol>
                <a:gridCol w="2554381">
                  <a:extLst>
                    <a:ext uri="{9D8B030D-6E8A-4147-A177-3AD203B41FA5}">
                      <a16:colId xmlns:a16="http://schemas.microsoft.com/office/drawing/2014/main" val="1490664265"/>
                    </a:ext>
                  </a:extLst>
                </a:gridCol>
              </a:tblGrid>
              <a:tr h="174054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E-blocks III development centres include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1573972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/>
                </a:tc>
                <a:extLst>
                  <a:ext uri="{0D108BD9-81ED-4DB2-BD59-A6C34878D82A}">
                    <a16:rowId xmlns:a16="http://schemas.microsoft.com/office/drawing/2014/main" val="3776290159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One of:</a:t>
                      </a:r>
                      <a:endParaRPr lang="en-GB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/>
                </a:tc>
                <a:extLst>
                  <a:ext uri="{0D108BD9-81ED-4DB2-BD59-A6C34878D82A}">
                    <a16:rowId xmlns:a16="http://schemas.microsoft.com/office/drawing/2014/main" val="367201447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BL0082 PIC board and panel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extLst>
                  <a:ext uri="{0D108BD9-81ED-4DB2-BD59-A6C34878D82A}">
                    <a16:rowId xmlns:a16="http://schemas.microsoft.com/office/drawing/2014/main" val="963441575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BL3797 Arduino board and panel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extLst>
                  <a:ext uri="{0D108BD9-81ED-4DB2-BD59-A6C34878D82A}">
                    <a16:rowId xmlns:a16="http://schemas.microsoft.com/office/drawing/2014/main" val="3747554951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BL0070 ESP32 board and panel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extLst>
                  <a:ext uri="{0D108BD9-81ED-4DB2-BD59-A6C34878D82A}">
                    <a16:rowId xmlns:a16="http://schemas.microsoft.com/office/drawing/2014/main" val="395981170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3870286292"/>
                  </a:ext>
                </a:extLst>
              </a:tr>
              <a:tr h="174054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Downstream boards:</a:t>
                      </a:r>
                      <a:endParaRPr lang="en-GB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885638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BL0114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Combo board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506448153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BL0127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Actuators panel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800406810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BL0145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Switch x 8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1242586756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BL0167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LED x 8 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847925085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BL0156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Splitter 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2828294963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BL0118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Prototype board with protoblock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1582570382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BL0183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Relay board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extLst>
                  <a:ext uri="{0D108BD9-81ED-4DB2-BD59-A6C34878D82A}">
                    <a16:rowId xmlns:a16="http://schemas.microsoft.com/office/drawing/2014/main" val="1294028875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1915928723"/>
                  </a:ext>
                </a:extLst>
              </a:tr>
              <a:tr h="174054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Sensor boards:</a:t>
                      </a:r>
                      <a:endParaRPr lang="en-GB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017939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BL0135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E-blocks III 9 axis motion sensor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2987746961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BL0144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E-blocks III temperature humidity sensor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956889502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BL0189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Analogue sensor board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1956688880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4294715660"/>
                  </a:ext>
                </a:extLst>
              </a:tr>
              <a:tr h="174054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Accessories:</a:t>
                      </a:r>
                      <a:endParaRPr lang="en-GB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495656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HP2666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power supply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2358198991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COM4822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USB 2.0 lead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extLst>
                  <a:ext uri="{0D108BD9-81ED-4DB2-BD59-A6C34878D82A}">
                    <a16:rowId xmlns:a16="http://schemas.microsoft.com/office/drawing/2014/main" val="2363929929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BL0172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00" u="none" strike="noStrike" dirty="0">
                          <a:effectLst/>
                        </a:rPr>
                        <a:t>Logic analyser</a:t>
                      </a:r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598087391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3AF9C1E7-601B-2F60-86CE-89167F35F2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059" y="2374039"/>
            <a:ext cx="6405996" cy="4250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3075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F81B9E4-50F9-F149-17FF-BC82182E5F55}"/>
              </a:ext>
            </a:extLst>
          </p:cNvPr>
          <p:cNvSpPr/>
          <p:nvPr/>
        </p:nvSpPr>
        <p:spPr>
          <a:xfrm>
            <a:off x="334297" y="1245934"/>
            <a:ext cx="5761703" cy="52826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DB88D9-6632-BFB0-7E4D-610F5387B3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39638"/>
            <a:ext cx="4695435" cy="4896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45B5D9-31A0-A2A8-DB51-62A112D9C790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E-blocks platform</a:t>
            </a:r>
          </a:p>
        </p:txBody>
      </p:sp>
      <p:pic>
        <p:nvPicPr>
          <p:cNvPr id="5" name="Picture 4" descr="A black electronic device with a screen&#10;&#10;AI-generated content may be incorrect.">
            <a:extLst>
              <a:ext uri="{FF2B5EF4-FFF2-40B4-BE49-F238E27FC236}">
                <a16:creationId xmlns:a16="http://schemas.microsoft.com/office/drawing/2014/main" id="{498AAD0A-E1AA-C64A-C514-91F1937D9D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187" y="1403902"/>
            <a:ext cx="5077031" cy="49308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8FC9E0E-E68A-5B7F-7A19-AEB3E79650B4}"/>
              </a:ext>
            </a:extLst>
          </p:cNvPr>
          <p:cNvSpPr txBox="1"/>
          <p:nvPr/>
        </p:nvSpPr>
        <p:spPr>
          <a:xfrm>
            <a:off x="6851560" y="1245934"/>
            <a:ext cx="506434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All kits are supplied with the Upstream board bolted to a rugged platform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Downstream boards can be easily changed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Kits are supplied with standard tray and accessories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Boards simply plug in and 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The Actuators panel needs a separate 5V power supply which is in the equipment tray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One set per student – programming is an individual task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1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0F72376-3A28-EDE1-789A-682F6C6731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39638"/>
            <a:ext cx="4695435" cy="4896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CA106A-7A4B-5706-0C17-5C964B9B0690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Hardware details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A6F9EC-C576-EDC9-8BF4-7A1A227688D1}"/>
              </a:ext>
            </a:extLst>
          </p:cNvPr>
          <p:cNvSpPr txBox="1"/>
          <p:nvPr/>
        </p:nvSpPr>
        <p:spPr>
          <a:xfrm>
            <a:off x="6096000" y="1119645"/>
            <a:ext cx="525866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USB C connection: USB powered (except actuators board) 5V or 3V3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PIC, Arduino Mega and ESP32 variants available.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Compatible with: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Flowcode</a:t>
            </a: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Ardunio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tool chain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Microchip Integrated Development Environment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Espressif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Up to 6 x 8 bit ports: 48 connections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Uses 14 way quick snap connectors:	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8 bits, power, ground, and management signals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Integrated 420 x 380 pixel colour touch screen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Integrated Wi-Fi and Bluetooth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IDC connectors for each 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Auto ID for downstream boards – saves configuration issues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In-Circuit debug for all software platforms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4919BA-EA06-4336-6217-E4DFCC052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660" y="1418253"/>
            <a:ext cx="4566781" cy="402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0768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D33A26-D5D6-1FC9-FD4A-7D9A34621A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39638"/>
            <a:ext cx="4695435" cy="4896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81276A0-ADDD-3D33-6190-ED4AC4B96C63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Hardware details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00FC5F9-7ADA-9D36-CAC9-A3D598FC41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96" t="25510" r="10545" b="22342"/>
          <a:stretch>
            <a:fillRect/>
          </a:stretch>
        </p:blipFill>
        <p:spPr bwMode="auto">
          <a:xfrm>
            <a:off x="529706" y="1462645"/>
            <a:ext cx="4415517" cy="1877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40732E1-7A1F-899C-6D85-A45AF56AE9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09" t="25399" r="11819" b="24558"/>
          <a:stretch>
            <a:fillRect/>
          </a:stretch>
        </p:blipFill>
        <p:spPr bwMode="auto">
          <a:xfrm>
            <a:off x="606490" y="3517643"/>
            <a:ext cx="4338733" cy="1804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D110552-0DBC-CDC9-3E24-5D9554032D1B}"/>
              </a:ext>
            </a:extLst>
          </p:cNvPr>
          <p:cNvSpPr txBox="1"/>
          <p:nvPr/>
        </p:nvSpPr>
        <p:spPr>
          <a:xfrm>
            <a:off x="5675903" y="1462645"/>
            <a:ext cx="50643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Switch board: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8 x push to make switches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Series resistor to prevent circuit damage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Puts the pin to +V when pressed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Resistor to 0V – ensures that input is logic 0 when switch not pressed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EB2872-0B9D-AB76-D77C-ED33352E01A5}"/>
              </a:ext>
            </a:extLst>
          </p:cNvPr>
          <p:cNvSpPr txBox="1"/>
          <p:nvPr/>
        </p:nvSpPr>
        <p:spPr>
          <a:xfrm>
            <a:off x="5675903" y="3567319"/>
            <a:ext cx="50643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LED board: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8 x LEDs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Series resistor to limit current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045BD1-678F-6664-1073-C15AABDECB1F}"/>
              </a:ext>
            </a:extLst>
          </p:cNvPr>
          <p:cNvSpPr txBox="1"/>
          <p:nvPr/>
        </p:nvSpPr>
        <p:spPr>
          <a:xfrm>
            <a:off x="3143733" y="5498929"/>
            <a:ext cx="5064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These are the simplest circuits. You will use these boards in the first few worksheets.</a:t>
            </a:r>
          </a:p>
        </p:txBody>
      </p:sp>
    </p:spTree>
    <p:extLst>
      <p:ext uri="{BB962C8B-B14F-4D97-AF65-F5344CB8AC3E}">
        <p14:creationId xmlns:p14="http://schemas.microsoft.com/office/powerpoint/2010/main" val="32233931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FDB24FC-1411-057A-4A40-881AF7BBCD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06044"/>
            <a:ext cx="4695435" cy="4896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1087C3-F967-8FC7-D39E-33CBF812827F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Hardware details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9DEB8A3-64CF-F385-5FAD-43071199C9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66" t="14231" r="8381" b="13426"/>
          <a:stretch>
            <a:fillRect/>
          </a:stretch>
        </p:blipFill>
        <p:spPr bwMode="auto">
          <a:xfrm>
            <a:off x="587828" y="2015412"/>
            <a:ext cx="5340236" cy="303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3DB8E5-5288-04B4-B5E4-F063B65D523C}"/>
              </a:ext>
            </a:extLst>
          </p:cNvPr>
          <p:cNvSpPr txBox="1"/>
          <p:nvPr/>
        </p:nvSpPr>
        <p:spPr>
          <a:xfrm>
            <a:off x="6096000" y="2551837"/>
            <a:ext cx="506434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Combo board: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16 x push to make switches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16 LEDs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Quad 7-segment display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LCD display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Audio out jack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Potentiometer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Light sensor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463025-9702-FF71-A4AD-B2E6F31A088F}"/>
              </a:ext>
            </a:extLst>
          </p:cNvPr>
          <p:cNvSpPr txBox="1"/>
          <p:nvPr/>
        </p:nvSpPr>
        <p:spPr>
          <a:xfrm>
            <a:off x="3143733" y="5498929"/>
            <a:ext cx="60189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 very flexible board.</a:t>
            </a: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Hardware circuit and function is controlled by switches – needs more care</a:t>
            </a: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Many devices on one pin – so a more complex circuit</a:t>
            </a:r>
          </a:p>
        </p:txBody>
      </p:sp>
    </p:spTree>
    <p:extLst>
      <p:ext uri="{BB962C8B-B14F-4D97-AF65-F5344CB8AC3E}">
        <p14:creationId xmlns:p14="http://schemas.microsoft.com/office/powerpoint/2010/main" val="29632089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FC62E9B-9032-0D7A-C32E-DD62748FC4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06044"/>
            <a:ext cx="4695435" cy="4896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F3FCBB2-E4B2-FF08-CD32-56E3801BC6EB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Hardware datasheet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069232-A358-5297-4E1D-35C00BAB5232}"/>
              </a:ext>
            </a:extLst>
          </p:cNvPr>
          <p:cNvSpPr txBox="1"/>
          <p:nvPr/>
        </p:nvSpPr>
        <p:spPr>
          <a:xfrm>
            <a:off x="702906" y="2481571"/>
            <a:ext cx="442893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All the circuits for all the boards can be found in the E-blocks 3 datasheet which you can find here: 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  <a:hlinkClick r:id="rId3"/>
              </a:rPr>
              <a:t>https://www.matrixtsl.com/eblocks/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B0683C-4247-9A22-E9C9-E79E4839E7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8482" y="1110342"/>
            <a:ext cx="3559334" cy="50105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B4A2DA-DE1B-31EC-FEC7-4F9F887C305D}"/>
              </a:ext>
            </a:extLst>
          </p:cNvPr>
          <p:cNvSpPr txBox="1"/>
          <p:nvPr/>
        </p:nvSpPr>
        <p:spPr>
          <a:xfrm>
            <a:off x="10248690" y="1707502"/>
            <a:ext cx="709126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5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0587047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0937B98-CC26-457A-56E4-A9E45101D71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3274" y="1362566"/>
            <a:ext cx="2562225" cy="1969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2AE8A68-01AE-8FEB-F6BB-C16A21668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239" y="3145110"/>
            <a:ext cx="2378475" cy="2511283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866E861-C686-EED3-A00C-E3E4F4A5AA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2714" y="4400752"/>
            <a:ext cx="2378475" cy="24277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D291DB-2E2F-BDC5-E60D-89E51B43CF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06044"/>
            <a:ext cx="4695435" cy="4896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B932A2-1BC8-8B3D-EC47-0A730645B9BE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Auto ID feature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C7B886-EFC6-684D-B249-E066B93230A6}"/>
              </a:ext>
            </a:extLst>
          </p:cNvPr>
          <p:cNvSpPr txBox="1"/>
          <p:nvPr/>
        </p:nvSpPr>
        <p:spPr>
          <a:xfrm>
            <a:off x="710811" y="4099232"/>
            <a:ext cx="50643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Every E-blocks downstream board has a small microcontroller on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When you load </a:t>
            </a:r>
            <a:r>
              <a:rPr lang="en-GB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Flowcode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the software interrogates the hardware to find out what is connected and it sets the software up for you.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2698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EC1E3B9-859D-2FD8-817C-D9477422FC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39638"/>
            <a:ext cx="4695435" cy="4896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590CEF-236F-D84C-5072-9E66075153BE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Engineering sensor add-ons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ED752A-8F4F-7420-AD5B-C790555D8F60}"/>
              </a:ext>
            </a:extLst>
          </p:cNvPr>
          <p:cNvSpPr txBox="1"/>
          <p:nvPr/>
        </p:nvSpPr>
        <p:spPr>
          <a:xfrm>
            <a:off x="301274" y="1754077"/>
            <a:ext cx="658381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More complex projects need additional sensors</a:t>
            </a: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Type K thermocouple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Pressure sensor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Flow sensor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Compressive strain sensor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Tensile strain sensor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All these engineering sensor boards have worked examples embedded within </a:t>
            </a:r>
            <a:r>
              <a:rPr lang="en-GB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Flowcode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The Power board – 40V, 10A allows you to power any actuators that you might want to go in your kit – heaters, motors, pumps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1101545-08E9-B685-7283-37396725E8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8801" y="1071716"/>
            <a:ext cx="3730327" cy="4468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5231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9691873-2791-CA72-A8BE-7205A83B95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39638"/>
            <a:ext cx="4695435" cy="4896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7CA58E9-629F-A480-644C-676CC35B92ED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Logic analyser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6A9C49-D91B-EE2F-6B6C-FFA7FCC12C87}"/>
              </a:ext>
            </a:extLst>
          </p:cNvPr>
          <p:cNvSpPr txBox="1"/>
          <p:nvPr/>
        </p:nvSpPr>
        <p:spPr>
          <a:xfrm>
            <a:off x="8285584" y="1510757"/>
            <a:ext cx="3545631" cy="3661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8 channel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Signal decoding – I2C, SPI, etc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Connects to E-blocks port IDC connector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Free </a:t>
            </a:r>
            <a:r>
              <a:rPr lang="en-GB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PulseView</a:t>
            </a: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software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great alternative way of looking at time-varying signals in microcontroller systems</a:t>
            </a: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CF40A2-4573-FDE7-A4BE-DC61CC8AD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232" y="1212178"/>
            <a:ext cx="8050580" cy="459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5049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C94A22-9FF4-9D6E-825D-0EA7200B9C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39638"/>
            <a:ext cx="4695435" cy="4896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A78BE7B-1CD2-71C4-11E1-1A96A420D5A6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Assessment and grading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09B141-42A0-4950-2D5E-E0F402A9AF0E}"/>
              </a:ext>
            </a:extLst>
          </p:cNvPr>
          <p:cNvSpPr txBox="1"/>
          <p:nvPr/>
        </p:nvSpPr>
        <p:spPr>
          <a:xfrm>
            <a:off x="823788" y="2006004"/>
            <a:ext cx="658381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Workflow in each curriculum pack:</a:t>
            </a:r>
          </a:p>
          <a:p>
            <a:endParaRPr lang="en-GB" sz="1800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Worksheet 1 and Challenge 1</a:t>
            </a: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Worksheet 2 and Challenge 2</a:t>
            </a: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Etc.</a:t>
            </a: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Home work assignments</a:t>
            </a: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Assessment projects</a:t>
            </a: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Test</a:t>
            </a: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pic>
        <p:nvPicPr>
          <p:cNvPr id="6" name="intro to microcontrollers.png">
            <a:extLst>
              <a:ext uri="{FF2B5EF4-FFF2-40B4-BE49-F238E27FC236}">
                <a16:creationId xmlns:a16="http://schemas.microsoft.com/office/drawing/2014/main" id="{13E776C9-8897-CB99-D312-E2B3ECC43487}"/>
              </a:ext>
            </a:extLst>
          </p:cNvPr>
          <p:cNvPicPr>
            <a:picLocks noChangeAspect="1"/>
          </p:cNvPicPr>
          <p:nvPr/>
        </p:nvPicPr>
        <p:blipFill>
          <a:blip r:link="rId3"/>
          <a:stretch>
            <a:fillRect/>
          </a:stretch>
        </p:blipFill>
        <p:spPr>
          <a:xfrm>
            <a:off x="8370755" y="1489833"/>
            <a:ext cx="2738502" cy="387833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818209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49C5AF1-1307-A360-0087-B10640FEF0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39638"/>
            <a:ext cx="4695435" cy="4896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5944CC-4580-AA0B-6751-AF1B6877F084}"/>
              </a:ext>
            </a:extLst>
          </p:cNvPr>
          <p:cNvSpPr txBox="1"/>
          <p:nvPr/>
        </p:nvSpPr>
        <p:spPr>
          <a:xfrm>
            <a:off x="4857667" y="106044"/>
            <a:ext cx="70582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2800" b="1" dirty="0">
                <a:solidFill>
                  <a:srgbClr val="3A1953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Demonstration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BD8865-3D4E-5DB7-0AD1-02C581B603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40" y="1969692"/>
            <a:ext cx="5852160" cy="32918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A2FF9A-0855-DF23-915B-8B57471E1422}"/>
              </a:ext>
            </a:extLst>
          </p:cNvPr>
          <p:cNvSpPr txBox="1"/>
          <p:nvPr/>
        </p:nvSpPr>
        <p:spPr>
          <a:xfrm>
            <a:off x="7803794" y="2089980"/>
            <a:ext cx="411210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Next we will demonstrate the hardware and the software working</a:t>
            </a: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There is a video of this on the </a:t>
            </a:r>
            <a:r>
              <a:rPr lang="en-GB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Flowcode</a:t>
            </a:r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YouTube site.</a:t>
            </a: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r>
              <a:rPr lang="en-GB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</a:p>
          <a:p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591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1420</Words>
  <Application>Microsoft Office PowerPoint</Application>
  <PresentationFormat>Widescreen</PresentationFormat>
  <Paragraphs>297</Paragraphs>
  <Slides>29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Links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Aptos</vt:lpstr>
      <vt:lpstr>Aptos Narrow</vt:lpstr>
      <vt:lpstr>Arial</vt:lpstr>
      <vt:lpstr>Calibri</vt:lpstr>
      <vt:lpstr>Calibri Light</vt:lpstr>
      <vt:lpstr>Segoe UI</vt:lpstr>
      <vt:lpstr>Symbol</vt:lpstr>
      <vt:lpstr>Office Theme</vt:lpstr>
      <vt:lpstr>file:///C:\Users\JohnD\OneDrive%20-%20MATRIX%20TECHNOLOGY%20SOLUTIONS\Documents\Matrix\Dev\E-blocks%203\products%20and%20prices%2013%2011%2025.xlsx!Products!R3C2:R47C4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Alyce Holt</dc:creator>
  <cp:lastModifiedBy>John Dobson</cp:lastModifiedBy>
  <cp:revision>165</cp:revision>
  <cp:lastPrinted>2024-07-24T17:03:27Z</cp:lastPrinted>
  <dcterms:created xsi:type="dcterms:W3CDTF">2023-10-05T11:55:27Z</dcterms:created>
  <dcterms:modified xsi:type="dcterms:W3CDTF">2026-02-18T08:51:21Z</dcterms:modified>
</cp:coreProperties>
</file>