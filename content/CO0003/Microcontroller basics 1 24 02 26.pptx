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23" r:id="rId3"/>
    <p:sldId id="324" r:id="rId4"/>
    <p:sldId id="310" r:id="rId5"/>
    <p:sldId id="312" r:id="rId6"/>
    <p:sldId id="311" r:id="rId7"/>
    <p:sldId id="313" r:id="rId8"/>
    <p:sldId id="314" r:id="rId9"/>
    <p:sldId id="325" r:id="rId10"/>
    <p:sldId id="294" r:id="rId11"/>
    <p:sldId id="326" r:id="rId12"/>
    <p:sldId id="327" r:id="rId13"/>
    <p:sldId id="334" r:id="rId14"/>
    <p:sldId id="329" r:id="rId15"/>
    <p:sldId id="330" r:id="rId16"/>
    <p:sldId id="331" r:id="rId17"/>
    <p:sldId id="297" r:id="rId18"/>
    <p:sldId id="298" r:id="rId19"/>
    <p:sldId id="315" r:id="rId20"/>
    <p:sldId id="309" r:id="rId21"/>
    <p:sldId id="319" r:id="rId22"/>
    <p:sldId id="332" r:id="rId23"/>
    <p:sldId id="333" r:id="rId24"/>
    <p:sldId id="335" r:id="rId25"/>
    <p:sldId id="336" r:id="rId26"/>
    <p:sldId id="299" r:id="rId27"/>
    <p:sldId id="318" r:id="rId28"/>
    <p:sldId id="337" r:id="rId29"/>
    <p:sldId id="339" r:id="rId30"/>
    <p:sldId id="338" r:id="rId3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1953"/>
    <a:srgbClr val="4A20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774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51EA73D-59EA-4038-8D8D-FFDC81E35B4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196C0D3-D58E-4130-B62D-A05C3AE4F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63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4833-C0BC-7B1F-2853-0B8F12E5E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914E6-31DB-46F5-ADB6-221B43F24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39840-D33E-B9CA-5BC1-9E83F80E0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A4EE2-719A-E8C0-3ADB-C6D372392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15959-4F4B-5022-81E7-C0006DF7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293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C0B8-8110-4118-CDC0-3B795ACC6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6E6EC-D079-6F5C-94D8-8629E3C3E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47AAF-9781-7C59-3B7D-E0BBB5C1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167CF-06BC-10A7-4261-E45F3D5AB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BEFCA-C76B-4BE5-5680-C4C87AE23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85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F2D0-4655-62BD-8E16-F642AE7A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5507A-E440-259B-807F-158940F1D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DDD3A-0D57-41D2-1CE6-1089B720C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FC1C6-76A8-7537-B397-96446CD6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DA474-1E29-196A-7A20-EE723A716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35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7E6D-FA95-6AB3-ECF4-A49389FC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96C0E-335E-8C94-7419-6107BC104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7749D-879D-92A4-1E34-3BED31C00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FA4CA-D48C-4940-875F-8B40DE9F2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7F932-56A6-57D2-3A83-5B03709D3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B94C6-9897-7C55-7ADC-AA17B34C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611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EB47-AB35-9236-4D6F-4A792D32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C0754-18A8-1330-DCB7-2B6006449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FF9EB-F501-022A-2D4D-6FC10EEC2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1C5CC-82B2-00C9-9971-9F217C724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1D10D-B3CA-A575-5539-F03E12464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54478-AC0C-8929-574C-F8475D73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D851DB-3CC8-D80D-A772-8E38E9886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A2B9D5-D880-DF8C-A91D-ACB6EE0A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11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8C43-BFD7-A07B-6322-1156DCE7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A67F2C-D9D4-521E-2624-636E1CAE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99BC6C-E934-4004-71CE-FE5892B5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34BC8-9BB9-9451-CF8B-D49451DB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55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EB9212-74DA-9E18-2F14-6BD1E87C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74EE7-91C7-73A2-D616-AF07364E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98DC8-9390-3AE8-BF0E-E061CC48E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1A30DC12-5F6F-7D7F-8F1A-85C582C55898}"/>
              </a:ext>
            </a:extLst>
          </p:cNvPr>
          <p:cNvGrpSpPr/>
          <p:nvPr userDrawn="1"/>
        </p:nvGrpSpPr>
        <p:grpSpPr>
          <a:xfrm>
            <a:off x="-1" y="0"/>
            <a:ext cx="12192001" cy="841829"/>
            <a:chOff x="0" y="0"/>
            <a:chExt cx="6837594" cy="824595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961C286B-526D-CF91-F1FE-A261D43E9348}"/>
                </a:ext>
              </a:extLst>
            </p:cNvPr>
            <p:cNvSpPr/>
            <p:nvPr/>
          </p:nvSpPr>
          <p:spPr>
            <a:xfrm>
              <a:off x="0" y="0"/>
              <a:ext cx="6837593" cy="824595"/>
            </a:xfrm>
            <a:custGeom>
              <a:avLst/>
              <a:gdLst/>
              <a:ahLst/>
              <a:cxnLst/>
              <a:rect l="l" t="t" r="r" b="b"/>
              <a:pathLst>
                <a:path w="6837593" h="824595">
                  <a:moveTo>
                    <a:pt x="0" y="0"/>
                  </a:moveTo>
                  <a:lnTo>
                    <a:pt x="6837593" y="0"/>
                  </a:lnTo>
                  <a:lnTo>
                    <a:pt x="6837593" y="824595"/>
                  </a:lnTo>
                  <a:lnTo>
                    <a:pt x="0" y="824595"/>
                  </a:lnTo>
                  <a:close/>
                </a:path>
              </a:pathLst>
            </a:custGeom>
            <a:solidFill>
              <a:srgbClr val="0E4557"/>
            </a:solidFill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70B890D-9FE0-6EF3-95D9-1173E5AB44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142171"/>
            <a:ext cx="5152571" cy="53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69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01A2C-4DD1-0FB1-FD96-48FD1EEC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28422-37C0-2225-229C-C4A792806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359A2-6C46-F2BE-4FF3-65A42B4EB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C7E94-59F0-1C71-5EC4-72B8FCA3E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1959A-61E9-27D8-04E4-03DDB7A1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E4619-076C-A37F-CCDF-D04CB7C5D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15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68545-DAA1-2EAF-8C62-51021E024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69B6E1-CC9C-E65E-01AA-2E6990598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1AFB9-4BFB-B36E-D849-3A7999156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1FF01-5CB7-6D1E-E14F-6FBD1787D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EFC6A-5755-11F6-1CED-0FA12C88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22B84-A541-4A57-4124-669842EF8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49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1F14-8444-3E3D-F5FE-6B4B2750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EFF42-F039-8DF7-61D8-583055B3E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CCD19-0E3F-EA87-EDEE-5677E62F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A5A04-D8EC-5480-462E-09EAD000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17157-A534-9A88-86B1-10940626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62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4D0070-191A-DE1B-BEE4-6DB07F284B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4BF49-6D97-8E62-FEB6-8513C98BF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054FA-9EB1-BF0C-3663-8BA612DF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A7891-1C43-244A-DA63-1FC46F7CD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FFB5E-DAEB-B29A-6D62-8BF8C3CF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23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823AC-4C33-3B22-38AB-7E7E642FC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31987-D893-7B33-4C58-C34B650D6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332CA-73F2-1857-DCBD-E24360D64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24D88-B82C-4E4D-9F7A-871A22650F0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DDE12-D895-AE5D-2833-4686BFC19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231A7-866B-ACD4-EA87-BF72D2F73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361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file:///C:\Users\JohnD\OneDrive%20-%20MATRIX%20TECHNOLOGY%20SOLUTIONS\Documents\Matrix\Dev\CPxxxx%20E-blocks%20publicity%20sheet\motors%20cover.png" TargetMode="External"/><Relationship Id="rId7" Type="http://schemas.openxmlformats.org/officeDocument/2006/relationships/image" Target="../media/image5.png"/><Relationship Id="rId2" Type="http://schemas.openxmlformats.org/officeDocument/2006/relationships/image" Target="file:///C:\Users\JohnD\OneDrive%20-%20MATRIX%20TECHNOLOGY%20SOLUTIONS\Documents\Matrix\Dev\CPxxxx%20E-blocks%20publicity%20sheet\intros%20cover.png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file:///C:\Users\JohnD\OneDrive%20-%20MATRIX%20TECHNOLOGY%20SOLUTIONS\Documents\Matrix\Dev\CPxxxx%20E-blocks%20publicity%20sheet\PC%20cover.png" TargetMode="External"/><Relationship Id="rId4" Type="http://schemas.openxmlformats.org/officeDocument/2006/relationships/image" Target="file:///C:\Users\JohnD\OneDrive%20-%20MATRIX%20TECHNOLOGY%20SOLUTIONS\Documents\Matrix\Dev\CPxxxx%20E-blocks%20publicity%20sheet\sensors%20cover.png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file:///C:\Users\JohnD\OneDrive%20-%20MATRIX%20TECHNOLOGY%20SOLUTIONS\Documents\Matrix\Dev\CPxxxx%20E-blocks%20publicity%20sheet\intros%20cover.png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file:///C:\Users\JohnD\OneDrive%20-%20MATRIX%20TECHNOLOGY%20SOLUTIONS\Documents\Matrix\Dev\CPxxxx%20E-blocks%20publicity%20sheet\sensors%20cover.png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file:///C:\Users\JohnD\OneDrive%20-%20MATRIX%20TECHNOLOGY%20SOLUTIONS\Documents\Matrix\Dev\CPxxxx%20E-blocks%20publicity%20sheet\motors%20cover.png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file:///C:\Users\JohnD\OneDrive%20-%20MATRIX%20TECHNOLOGY%20SOLUTIONS\Documents\Matrix\Dev\CPxxxx%20E-blocks%20publicity%20sheet\PC%20cover.png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flowcode.co.uk/wiki/index.php?title=Main_Page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owcode.co.uk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hnD\OneDrive%20-%20MATRIX%20TECHNOLOGY%20SOLUTIONS\Documents\Matrix\Dev\E-blocks%203\products%20and%20prices%2013%2011%2025.xlsx!Products!R3C2:R47C4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www.matrixtsl.com/eblocks/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file:///C:\Users\JohnD\OneDrive%20-%20MATRIX%20TECHNOLOGY%20SOLUTIONS\Documents\Matrix\Dev\CPxxxx%20E-blocks%20publicity%20sheet\intros%20cover.png" TargetMode="Externa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A427E4A-B9C7-9B2E-9D8F-3ABEB27DD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717" y="-5105"/>
            <a:ext cx="12192000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9BF76F-A608-506A-2E9A-A19B1D2FA68C}"/>
              </a:ext>
            </a:extLst>
          </p:cNvPr>
          <p:cNvSpPr txBox="1"/>
          <p:nvPr/>
        </p:nvSpPr>
        <p:spPr>
          <a:xfrm>
            <a:off x="21717" y="3307229"/>
            <a:ext cx="12178093" cy="304698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9600" b="1" dirty="0">
                <a:solidFill>
                  <a:schemeClr val="bg1"/>
                </a:solidFill>
              </a:rPr>
              <a:t>Microcontroller</a:t>
            </a:r>
          </a:p>
          <a:p>
            <a:r>
              <a:rPr lang="en-GB" sz="9600" b="1" dirty="0">
                <a:solidFill>
                  <a:schemeClr val="bg1"/>
                </a:solidFill>
              </a:rPr>
              <a:t>Basics 1</a:t>
            </a:r>
          </a:p>
        </p:txBody>
      </p:sp>
    </p:spTree>
    <p:extLst>
      <p:ext uri="{BB962C8B-B14F-4D97-AF65-F5344CB8AC3E}">
        <p14:creationId xmlns:p14="http://schemas.microsoft.com/office/powerpoint/2010/main" val="1377842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7D8E18-98A9-6B6A-623A-952D6B2BC569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DF4EA-D751-E7B1-14A3-84FEEF525DFE}"/>
              </a:ext>
            </a:extLst>
          </p:cNvPr>
          <p:cNvSpPr txBox="1"/>
          <p:nvPr/>
        </p:nvSpPr>
        <p:spPr>
          <a:xfrm>
            <a:off x="516073" y="1430151"/>
            <a:ext cx="53622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 this presentation: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talk about what we are going to learn in this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talk about how the learning will take 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introduce the E-blocks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introduce the E-blocks software: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introduce the worksheet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talk about assessment and grading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947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6F048C-F3E7-2F84-FFAF-2018EE3D655A}"/>
              </a:ext>
            </a:extLst>
          </p:cNvPr>
          <p:cNvSpPr txBox="1"/>
          <p:nvPr/>
        </p:nvSpPr>
        <p:spPr>
          <a:xfrm>
            <a:off x="478751" y="963620"/>
            <a:ext cx="651920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How long: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Option 1 - 60 guided hour module: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	60 hours of classes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	30 hours of homework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Option 2 - 120 guided hour module: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	120 hours of classes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	60 hours of homework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are going to learn how to create modern electronics systems. That means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lvl="1"/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Microcontroller programming</a:t>
            </a:r>
          </a:p>
          <a:p>
            <a:pPr lvl="1"/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Microcontroller hardware</a:t>
            </a:r>
          </a:p>
          <a:p>
            <a:pPr lvl="1"/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Microcontroller system design – the electronics part</a:t>
            </a:r>
          </a:p>
          <a:p>
            <a:pPr lvl="1"/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When you have finished this module you will be able to design complex electronic systems. </a:t>
            </a: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7EAC2A-CAF0-EA1F-B887-AF9C1DB54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159" y="1137680"/>
            <a:ext cx="3314302" cy="49841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3EAD48-DB83-6FBC-ACE4-2CA2A952E830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What we are going to learn</a:t>
            </a:r>
          </a:p>
        </p:txBody>
      </p:sp>
    </p:spTree>
    <p:extLst>
      <p:ext uri="{BB962C8B-B14F-4D97-AF65-F5344CB8AC3E}">
        <p14:creationId xmlns:p14="http://schemas.microsoft.com/office/powerpoint/2010/main" val="151872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to microcontrollers.png">
            <a:extLst>
              <a:ext uri="{FF2B5EF4-FFF2-40B4-BE49-F238E27FC236}">
                <a16:creationId xmlns:a16="http://schemas.microsoft.com/office/drawing/2014/main" id="{B4A52056-B201-8595-C5FA-BA712A1A8CEA}"/>
              </a:ext>
            </a:extLst>
          </p:cNvPr>
          <p:cNvPicPr>
            <a:picLocks noChangeAspect="1"/>
          </p:cNvPicPr>
          <p:nvPr/>
        </p:nvPicPr>
        <p:blipFill>
          <a:blip r:link="rId2"/>
          <a:stretch>
            <a:fillRect/>
          </a:stretch>
        </p:blipFill>
        <p:spPr>
          <a:xfrm>
            <a:off x="5342092" y="1160197"/>
            <a:ext cx="1723106" cy="24403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motors and microcontrollers cover.png">
            <a:extLst>
              <a:ext uri="{FF2B5EF4-FFF2-40B4-BE49-F238E27FC236}">
                <a16:creationId xmlns:a16="http://schemas.microsoft.com/office/drawing/2014/main" id="{29759A9E-2CF6-746F-2A06-7BE25FB9090B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7573029" y="3782099"/>
            <a:ext cx="1723106" cy="24490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sensors and microcontrollers.png">
            <a:extLst>
              <a:ext uri="{FF2B5EF4-FFF2-40B4-BE49-F238E27FC236}">
                <a16:creationId xmlns:a16="http://schemas.microsoft.com/office/drawing/2014/main" id="{1F01B5DC-1AFF-3446-95AA-06B5A8D8604D}"/>
              </a:ext>
            </a:extLst>
          </p:cNvPr>
          <p:cNvPicPr>
            <a:picLocks noChangeAspect="1"/>
          </p:cNvPicPr>
          <p:nvPr/>
        </p:nvPicPr>
        <p:blipFill>
          <a:blip r:link="rId4"/>
          <a:stretch>
            <a:fillRect/>
          </a:stretch>
        </p:blipFill>
        <p:spPr>
          <a:xfrm>
            <a:off x="5346260" y="3782099"/>
            <a:ext cx="1718938" cy="24403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c adn web interfacing.png">
            <a:extLst>
              <a:ext uri="{FF2B5EF4-FFF2-40B4-BE49-F238E27FC236}">
                <a16:creationId xmlns:a16="http://schemas.microsoft.com/office/drawing/2014/main" id="{89E70087-B72D-50F4-AF1D-DBFC45614539}"/>
              </a:ext>
            </a:extLst>
          </p:cNvPr>
          <p:cNvPicPr>
            <a:picLocks noChangeAspect="1"/>
          </p:cNvPicPr>
          <p:nvPr/>
        </p:nvPicPr>
        <p:blipFill>
          <a:blip r:link="rId5"/>
          <a:stretch>
            <a:fillRect/>
          </a:stretch>
        </p:blipFill>
        <p:spPr>
          <a:xfrm>
            <a:off x="7573029" y="1160197"/>
            <a:ext cx="1715770" cy="24403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B23E49-3B4F-4A3C-66B2-F810FA08082B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Microcontroller curriculum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F168B6-E3C9-1FEE-AE51-428185154CF3}"/>
              </a:ext>
            </a:extLst>
          </p:cNvPr>
          <p:cNvSpPr txBox="1"/>
          <p:nvPr/>
        </p:nvSpPr>
        <p:spPr>
          <a:xfrm>
            <a:off x="638565" y="2030841"/>
            <a:ext cx="37092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Full courses are provided – designed around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Around 50 hours of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example files included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Integration with YouTube videos.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DF05CB-FC20-9311-5AF1-D6F503A817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1039" y="1015179"/>
            <a:ext cx="1885625" cy="25853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8BFE74-DBE1-2F35-8801-F5A5A90580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0303" y="2489437"/>
            <a:ext cx="1881673" cy="25853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97DE42-B3A5-B405-85B6-898DCD2E8E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0387" y="3785479"/>
            <a:ext cx="1817447" cy="25785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337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384C-BBC9-F081-FC0F-A07A4F3ED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4A405E-6A76-DD44-83F0-DDD8C273624E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Introduction to microcontrollers</a:t>
            </a:r>
          </a:p>
        </p:txBody>
      </p:sp>
      <p:pic>
        <p:nvPicPr>
          <p:cNvPr id="4" name="intro to microcontrollers.png">
            <a:extLst>
              <a:ext uri="{FF2B5EF4-FFF2-40B4-BE49-F238E27FC236}">
                <a16:creationId xmlns:a16="http://schemas.microsoft.com/office/drawing/2014/main" id="{FAB58546-105A-345D-5918-7A86E3C1394D}"/>
              </a:ext>
            </a:extLst>
          </p:cNvPr>
          <p:cNvPicPr>
            <a:picLocks noChangeAspect="1"/>
          </p:cNvPicPr>
          <p:nvPr/>
        </p:nvPicPr>
        <p:blipFill>
          <a:blip r:link="rId2"/>
          <a:stretch>
            <a:fillRect/>
          </a:stretch>
        </p:blipFill>
        <p:spPr>
          <a:xfrm>
            <a:off x="779939" y="1306285"/>
            <a:ext cx="3051252" cy="43212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AE1822-1600-B038-ADC8-D4A540F82F50}"/>
              </a:ext>
            </a:extLst>
          </p:cNvPr>
          <p:cNvSpPr txBox="1"/>
          <p:nvPr/>
        </p:nvSpPr>
        <p:spPr>
          <a:xfrm>
            <a:off x="4857667" y="1143080"/>
            <a:ext cx="6833591" cy="522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beginner’s curriculum frames the work for students wanting to program microcontrollers for the first time. The core curriculum consists of a  number worksheets covering topics from flashing your first LED through to the sue of timer and pin interrupts. The worksheets are accompanied by a series of videos available free of charge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YouTube site.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Microcontroller programming in flowcharts using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Hardware: LEDs, Switches, LCD displays, graphical displays, 7-segment displays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Software: inputs, outputs, delays, decisions (IF, CASE) connection points, variables, types, strings, loops, hardware macro functions, software macro functions, calculations, comments, timer interrupts, pin interrupts, A/D, D/A, binary, hexadecimal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More than 20 videos free on YouTube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Accompanying example files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Wiki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15 hours of learning</a:t>
            </a:r>
          </a:p>
        </p:txBody>
      </p:sp>
    </p:spTree>
    <p:extLst>
      <p:ext uri="{BB962C8B-B14F-4D97-AF65-F5344CB8AC3E}">
        <p14:creationId xmlns:p14="http://schemas.microsoft.com/office/powerpoint/2010/main" val="2655558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1F570C-3C56-3E08-1A97-DE65E9038E12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Sensors and microcontrollers</a:t>
            </a:r>
          </a:p>
        </p:txBody>
      </p:sp>
      <p:pic>
        <p:nvPicPr>
          <p:cNvPr id="6" name="sensors and microcontrollers.png">
            <a:extLst>
              <a:ext uri="{FF2B5EF4-FFF2-40B4-BE49-F238E27FC236}">
                <a16:creationId xmlns:a16="http://schemas.microsoft.com/office/drawing/2014/main" id="{C347A9CC-9DBC-0593-8860-C4B7AB3A5B38}"/>
              </a:ext>
            </a:extLst>
          </p:cNvPr>
          <p:cNvPicPr>
            <a:picLocks noChangeAspect="1"/>
          </p:cNvPicPr>
          <p:nvPr/>
        </p:nvPicPr>
        <p:blipFill>
          <a:blip r:link="rId2"/>
          <a:stretch>
            <a:fillRect/>
          </a:stretch>
        </p:blipFill>
        <p:spPr>
          <a:xfrm>
            <a:off x="779939" y="1306285"/>
            <a:ext cx="3043871" cy="43212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C26431-68A9-74EF-7655-7EA0167D2598}"/>
              </a:ext>
            </a:extLst>
          </p:cNvPr>
          <p:cNvSpPr txBox="1"/>
          <p:nvPr/>
        </p:nvSpPr>
        <p:spPr>
          <a:xfrm>
            <a:off x="4857667" y="1854787"/>
            <a:ext cx="6097554" cy="3148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curriculum allows students to explore the use of analogue and digital sensors.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Analogue </a:t>
            </a:r>
            <a:r>
              <a:rPr lang="fr-F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sensors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fr-F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potentiometer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light </a:t>
            </a:r>
            <a:r>
              <a:rPr lang="fr-F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sensor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thermistor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Digital sensors : temperature/humidity, g force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Graphing sensor data on LCD displays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I2C and SPI buses.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Free videos on YouTube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Wiki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 hours of learning for core worksheets</a:t>
            </a:r>
          </a:p>
        </p:txBody>
      </p:sp>
    </p:spTree>
    <p:extLst>
      <p:ext uri="{BB962C8B-B14F-4D97-AF65-F5344CB8AC3E}">
        <p14:creationId xmlns:p14="http://schemas.microsoft.com/office/powerpoint/2010/main" val="900809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3C12D-3765-3812-43E5-6BBCB4DA8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057909-AB03-FBC2-4BA6-BD7F63489EA1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Motors and microcontrollers</a:t>
            </a:r>
          </a:p>
        </p:txBody>
      </p:sp>
      <p:pic>
        <p:nvPicPr>
          <p:cNvPr id="6" name="motors and microcontrollers cover.png">
            <a:extLst>
              <a:ext uri="{FF2B5EF4-FFF2-40B4-BE49-F238E27FC236}">
                <a16:creationId xmlns:a16="http://schemas.microsoft.com/office/drawing/2014/main" id="{940077A4-563D-3254-481E-2BBF5CC09442}"/>
              </a:ext>
            </a:extLst>
          </p:cNvPr>
          <p:cNvPicPr>
            <a:picLocks noChangeAspect="1"/>
          </p:cNvPicPr>
          <p:nvPr/>
        </p:nvPicPr>
        <p:blipFill>
          <a:blip r:link="rId2"/>
          <a:stretch>
            <a:fillRect/>
          </a:stretch>
        </p:blipFill>
        <p:spPr>
          <a:xfrm>
            <a:off x="779938" y="1306285"/>
            <a:ext cx="3051251" cy="43367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BBD8DB-F794-CC11-A25B-3CBD7E5C8AA9}"/>
              </a:ext>
            </a:extLst>
          </p:cNvPr>
          <p:cNvSpPr txBox="1"/>
          <p:nvPr/>
        </p:nvSpPr>
        <p:spPr>
          <a:xfrm>
            <a:off x="5064190" y="1306285"/>
            <a:ext cx="6097554" cy="4037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curriculum allows students to explore the control of small motors using microcontrollers using the E-blocks compatible Actuators board. The worksheets are accompanied by videos on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Requires a logic analyser.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Motor control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DC motor full bridge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Motor speed measurement with optical feedback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Servo motor control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Stepper motor control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Free videos on YouTube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Wiki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 hours of learning</a:t>
            </a:r>
          </a:p>
        </p:txBody>
      </p:sp>
    </p:spTree>
    <p:extLst>
      <p:ext uri="{BB962C8B-B14F-4D97-AF65-F5344CB8AC3E}">
        <p14:creationId xmlns:p14="http://schemas.microsoft.com/office/powerpoint/2010/main" val="3235859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E4684-FA4C-1F18-0CDC-213DCBAB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8BE67-9A63-31C7-B908-0A8756BB184C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PC interfacing</a:t>
            </a:r>
          </a:p>
        </p:txBody>
      </p:sp>
      <p:pic>
        <p:nvPicPr>
          <p:cNvPr id="5" name="pc adn web interfacing.png">
            <a:extLst>
              <a:ext uri="{FF2B5EF4-FFF2-40B4-BE49-F238E27FC236}">
                <a16:creationId xmlns:a16="http://schemas.microsoft.com/office/drawing/2014/main" id="{5CC7FEA9-86D8-F3D8-C193-C88DC074DC36}"/>
              </a:ext>
            </a:extLst>
          </p:cNvPr>
          <p:cNvPicPr>
            <a:picLocks noChangeAspect="1"/>
          </p:cNvPicPr>
          <p:nvPr/>
        </p:nvPicPr>
        <p:blipFill>
          <a:blip r:link="rId2"/>
          <a:stretch>
            <a:fillRect/>
          </a:stretch>
        </p:blipFill>
        <p:spPr>
          <a:xfrm>
            <a:off x="775516" y="1586203"/>
            <a:ext cx="3051251" cy="43367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E2EEA7-35F9-0E5C-7F98-8D404E73650C}"/>
              </a:ext>
            </a:extLst>
          </p:cNvPr>
          <p:cNvSpPr txBox="1"/>
          <p:nvPr/>
        </p:nvSpPr>
        <p:spPr>
          <a:xfrm>
            <a:off x="4857667" y="1782359"/>
            <a:ext cx="6097554" cy="285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curriculum allows students to interface embedded projects with other computer-based systems: a Windows PC and a mobile phone. Students use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Embedded, and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PC Developer software.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USB to PC communications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PC software development –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PC Developer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Free videos on YouTube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Wiki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 hours of learning</a:t>
            </a:r>
          </a:p>
        </p:txBody>
      </p:sp>
    </p:spTree>
    <p:extLst>
      <p:ext uri="{BB962C8B-B14F-4D97-AF65-F5344CB8AC3E}">
        <p14:creationId xmlns:p14="http://schemas.microsoft.com/office/powerpoint/2010/main" val="872180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61C832-F87E-109B-D785-3661D5ECEB78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How we are going to learn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A477E-1ED6-99D9-FEDE-DD9BFA791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015" y="2516934"/>
            <a:ext cx="1235593" cy="1394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333AEA-5053-FAAA-CF54-97911A085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59" y="2354927"/>
            <a:ext cx="1228896" cy="1438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9D4B44-2401-5228-FFCA-402B35178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327" y="2516934"/>
            <a:ext cx="1404804" cy="13944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F4AC5D-3913-B0E1-6D1F-7AEE2D0D8FC1}"/>
              </a:ext>
            </a:extLst>
          </p:cNvPr>
          <p:cNvSpPr txBox="1"/>
          <p:nvPr/>
        </p:nvSpPr>
        <p:spPr>
          <a:xfrm>
            <a:off x="491159" y="4104524"/>
            <a:ext cx="2683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Lectures: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Very few – this is a practical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5D374D-4CF0-B3B7-E723-180737B4A004}"/>
              </a:ext>
            </a:extLst>
          </p:cNvPr>
          <p:cNvSpPr txBox="1"/>
          <p:nvPr/>
        </p:nvSpPr>
        <p:spPr>
          <a:xfrm>
            <a:off x="3397737" y="4104523"/>
            <a:ext cx="2683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Practical work: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Close to 60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DFE065-1860-2AF6-37B5-F79EA62C1665}"/>
              </a:ext>
            </a:extLst>
          </p:cNvPr>
          <p:cNvSpPr txBox="1"/>
          <p:nvPr/>
        </p:nvSpPr>
        <p:spPr>
          <a:xfrm>
            <a:off x="6418808" y="4104523"/>
            <a:ext cx="2683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Homework: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30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E354AD-6400-EE9F-88E6-C6542E3F7C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913" y="2524389"/>
            <a:ext cx="1235593" cy="1387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30FF9D-9E9F-74BC-E0BE-A0A89C55BAF0}"/>
              </a:ext>
            </a:extLst>
          </p:cNvPr>
          <p:cNvSpPr txBox="1"/>
          <p:nvPr/>
        </p:nvSpPr>
        <p:spPr>
          <a:xfrm>
            <a:off x="9278706" y="4104523"/>
            <a:ext cx="2683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Tests: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All practical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384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omputer screen with a display&#10;&#10;AI-generated content may be incorrect.">
            <a:extLst>
              <a:ext uri="{FF2B5EF4-FFF2-40B4-BE49-F238E27FC236}">
                <a16:creationId xmlns:a16="http://schemas.microsoft.com/office/drawing/2014/main" id="{A8FC5F97-38EE-8F9D-E643-03395E0B2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53" y="1374516"/>
            <a:ext cx="5031867" cy="49891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1E1303-ABF5-A179-F5D1-174603EBF53D}"/>
              </a:ext>
            </a:extLst>
          </p:cNvPr>
          <p:cNvSpPr txBox="1"/>
          <p:nvPr/>
        </p:nvSpPr>
        <p:spPr>
          <a:xfrm>
            <a:off x="7756628" y="1700739"/>
            <a:ext cx="37092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Modular ‘plug and play’ hardware development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Rapid assembly of multiple electronic systems to practice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Includes 320 x 480 capacitive touchscreen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Includes SD card,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WiFi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and Bluetooth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Serial debugging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Large selection of peripherals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341E2-B791-0236-E249-970FCAC17E98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2318773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675538-D27E-8460-8B3B-5A10B6AEBBA0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Software – </a:t>
            </a:r>
            <a:r>
              <a:rPr lang="en-GB" sz="2800" b="1" dirty="0" err="1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V11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C1F45F-CB90-343A-71C3-D895D4492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731" y="1786934"/>
            <a:ext cx="6044066" cy="32841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BBFE6D-0AB5-65D6-9440-BC4A9CA7D234}"/>
              </a:ext>
            </a:extLst>
          </p:cNvPr>
          <p:cNvSpPr txBox="1"/>
          <p:nvPr/>
        </p:nvSpPr>
        <p:spPr>
          <a:xfrm>
            <a:off x="1148392" y="1915343"/>
            <a:ext cx="37092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Program in Flowcharts, Blocks, Script or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Software and hardware libraries built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Simulation built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 Circuit Debugging with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143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796E2-A19E-401B-E284-6E2F7B962E6D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Curriculum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33C0E-016D-B89D-59B8-FB889CBBD46E}"/>
              </a:ext>
            </a:extLst>
          </p:cNvPr>
          <p:cNvSpPr txBox="1"/>
          <p:nvPr/>
        </p:nvSpPr>
        <p:spPr>
          <a:xfrm>
            <a:off x="924458" y="1622137"/>
            <a:ext cx="370927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 general the way this works 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load a worksheet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Watch an introduction 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Load an example in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Follow the instructions on the worksheet to complete the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Sometimes you will watch the video on your own, sometimes we will watch it at the start of the practical session together.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0386BB-36C9-0C6C-2F59-21DC48684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847" y="849085"/>
            <a:ext cx="3997893" cy="566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49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0C0BE2-F52A-100A-E6D7-3BA88091D3F9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Wiki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E9ADD-F866-5E6E-7FF0-D17F3EEA5B37}"/>
              </a:ext>
            </a:extLst>
          </p:cNvPr>
          <p:cNvSpPr txBox="1"/>
          <p:nvPr/>
        </p:nvSpPr>
        <p:spPr>
          <a:xfrm>
            <a:off x="924458" y="1622137"/>
            <a:ext cx="37092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There is a full Wiki for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with hundreds of examples here: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  <a:hlinkClick r:id="rId2"/>
              </a:rPr>
              <a:t>https://www.flowcode.co.uk/wiki/index.php?title=Main_Page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6958-94A0-228C-3C31-4C4FD058A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284" y="1847849"/>
            <a:ext cx="6523454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96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7670D4-07DF-727F-63F4-77E5DCB0793D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Homework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6E38BB-5622-1F4B-A292-4F7D9BCEB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047" y="1132411"/>
            <a:ext cx="1235593" cy="1394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1E4E0F-FE8D-3BA8-5E33-88FF9F9824AA}"/>
              </a:ext>
            </a:extLst>
          </p:cNvPr>
          <p:cNvSpPr txBox="1"/>
          <p:nvPr/>
        </p:nvSpPr>
        <p:spPr>
          <a:xfrm>
            <a:off x="924458" y="1622137"/>
            <a:ext cx="50471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can work using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on your computer at home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There is a free copy of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which is very functional. 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  <a:hlinkClick r:id="rId3"/>
              </a:rPr>
              <a:t>www.flowcode.co.uk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can get a 1 year full license if you give your teacher your email address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can use simulation only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can buy a cheap target like Arduino and use a breadboard.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ircuit board with wires&#10;&#10;Description automatically generated">
            <a:extLst>
              <a:ext uri="{FF2B5EF4-FFF2-40B4-BE49-F238E27FC236}">
                <a16:creationId xmlns:a16="http://schemas.microsoft.com/office/drawing/2014/main" id="{8F50C6DA-D2C1-C164-2FEE-31EC80A134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854" y="3429000"/>
            <a:ext cx="4804941" cy="270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55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BBFB21-B7C7-59E8-63A0-A70D671FD830}"/>
              </a:ext>
            </a:extLst>
          </p:cNvPr>
          <p:cNvSpPr txBox="1"/>
          <p:nvPr/>
        </p:nvSpPr>
        <p:spPr>
          <a:xfrm>
            <a:off x="0" y="3026526"/>
            <a:ext cx="121920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234221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3B441-8C21-6755-04FB-C90950B6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650698E-1558-9929-4280-95FE4FACD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0DE0A8-F3F0-3957-7D7D-F39B7C97A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EB69657-46C3-BF1C-8EF5-B44A02CAB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B1C6BB1-1DDF-17A0-0E09-E94CB09E7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BE393CE-EC2C-BEFA-8906-163C50789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85F305F-310D-3DA3-6659-B6772A5E91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A24D2D-E387-D9A0-259D-7206E5D5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D09B787-03AF-ED1E-06B8-4B310F6F0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86678A4-B943-4A10-6662-DBA828B23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3D79AC6B-F1EE-9B83-046D-461E1A319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C789548-9126-3E53-5334-B94AFA0D5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AA479BD-AB0E-3270-7696-C153E74267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14EA6D9-3B7F-6613-23A1-82CC45D70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9398579-9237-7B08-E56C-B7EA94F1F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96AFF59-89FE-80EF-845E-ECA735C16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0B26B0D-9123-62EB-6744-C1093F45C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7CD2F72-6757-0E0F-7146-E81F2071C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D8792FA-A1E2-4678-6FC5-9B2595B21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A4B942E-3BB7-1E9E-867C-3120A0580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A00EA7B-31E9-2D9A-3CF4-86F06E1E0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1E82A6AC-294E-27F6-A6A0-2A3FB09BA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7B13B95-DD70-DD9D-5922-93561D4F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2502E03-DCF9-584E-8973-E67DD27B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DD2FE4C-9EF7-3BB0-6698-203F8BA07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CA3FE4D-7831-C778-1188-44F351646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B7BE051-D7D6-A150-85C1-F4BBAE244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DD51146-6B9B-BB58-ABCC-77B9C1ADF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787C848-EA61-C4D6-4B74-226D47590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F260964-B98F-F8E3-6320-72DEF68B5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96E743F-373E-621A-9994-DCFF58367F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2CA0CE4-D8B5-46F6-517F-2854E5B7B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D31F0B4-31ED-9CED-2A1B-176141D1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8" y="-5105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62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device&#10;&#10;AI-generated content may be incorrect.">
            <a:extLst>
              <a:ext uri="{FF2B5EF4-FFF2-40B4-BE49-F238E27FC236}">
                <a16:creationId xmlns:a16="http://schemas.microsoft.com/office/drawing/2014/main" id="{2C42F9EE-1B3A-3787-EBFC-180031604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15" y="1654519"/>
            <a:ext cx="10353368" cy="27275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CAEA22-7773-D87D-675B-3CBE09FC4B99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Upstream boards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C054E1-0FD1-54A1-F558-63C1A000EA9C}"/>
              </a:ext>
            </a:extLst>
          </p:cNvPr>
          <p:cNvSpPr txBox="1"/>
          <p:nvPr/>
        </p:nvSpPr>
        <p:spPr>
          <a:xfrm>
            <a:off x="245028" y="4576568"/>
            <a:ext cx="3709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ESP32S3 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32 bit microcontroller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Compatible with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Arduino and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Espressif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Great for web enabled projects</a:t>
            </a:r>
            <a:endParaRPr lang="en-GB" sz="18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E7ECD-24EB-073D-4DA8-E8141DA2224A}"/>
              </a:ext>
            </a:extLst>
          </p:cNvPr>
          <p:cNvSpPr txBox="1"/>
          <p:nvPr/>
        </p:nvSpPr>
        <p:spPr>
          <a:xfrm>
            <a:off x="4241362" y="4576568"/>
            <a:ext cx="3709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PIC16F18877 8 bit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Compatible with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and MPLAB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Easiest for learners</a:t>
            </a: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EF8529-1B82-9E7D-340A-5189D4473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398" y="1021773"/>
            <a:ext cx="1895740" cy="438211"/>
          </a:xfrm>
          <a:prstGeom prst="rect">
            <a:avLst/>
          </a:prstGeom>
        </p:spPr>
      </p:pic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8E3C2EB0-108A-4242-C900-C5FDFE5061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388" y="1021773"/>
            <a:ext cx="665269" cy="4382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46F7B4-385C-C05F-0F5F-DD880525D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503" y="1018466"/>
            <a:ext cx="1724126" cy="4415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67FE1E-8CAF-F01A-0523-1FAB966F4529}"/>
              </a:ext>
            </a:extLst>
          </p:cNvPr>
          <p:cNvSpPr txBox="1"/>
          <p:nvPr/>
        </p:nvSpPr>
        <p:spPr>
          <a:xfrm>
            <a:off x="7981203" y="4576568"/>
            <a:ext cx="3709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Arduino  / AT 2650 8 bit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Compatible with </a:t>
            </a:r>
            <a:r>
              <a:rPr lang="en-GB" sz="18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 and Arduino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Huge online libraries of code</a:t>
            </a: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454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49CA6-1C8B-724E-22B1-7057FA20B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9C7E02-DA87-9490-D4E6-6080A144CDB4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Downstream boards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B19A2-DFA6-DA62-DE05-5E77968DEEB0}"/>
              </a:ext>
            </a:extLst>
          </p:cNvPr>
          <p:cNvSpPr txBox="1"/>
          <p:nvPr/>
        </p:nvSpPr>
        <p:spPr>
          <a:xfrm>
            <a:off x="1030245" y="5029054"/>
            <a:ext cx="3709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Good range of boards and sensors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Compatibility with Grove and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Mikroe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expands to thousands of add-ons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group of electronic components&#10;&#10;AI-generated content may be incorrect.">
            <a:extLst>
              <a:ext uri="{FF2B5EF4-FFF2-40B4-BE49-F238E27FC236}">
                <a16:creationId xmlns:a16="http://schemas.microsoft.com/office/drawing/2014/main" id="{8FBD3D23-2436-8471-0897-D86659178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700" y="928437"/>
            <a:ext cx="3078820" cy="4002829"/>
          </a:xfrm>
          <a:prstGeom prst="rect">
            <a:avLst/>
          </a:prstGeom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199DE79-00BF-93EF-ABD3-35D358183E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165357"/>
              </p:ext>
            </p:extLst>
          </p:nvPr>
        </p:nvGraphicFramePr>
        <p:xfrm>
          <a:off x="7154687" y="928437"/>
          <a:ext cx="3376613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200802" imgH="8343939" progId="Excel.Sheet.12">
                  <p:link updateAutomatic="1"/>
                </p:oleObj>
              </mc:Choice>
              <mc:Fallback>
                <p:oleObj name="Worksheet" r:id="rId3" imgW="5200802" imgH="834393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54687" y="928437"/>
                        <a:ext cx="3376613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2474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90DF33-1726-1E4C-9F6F-032BEF5CB8C6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Kit 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99430-35A9-1DFA-BC31-A14CD6E43EDD}"/>
              </a:ext>
            </a:extLst>
          </p:cNvPr>
          <p:cNvSpPr txBox="1"/>
          <p:nvPr/>
        </p:nvSpPr>
        <p:spPr>
          <a:xfrm>
            <a:off x="6718699" y="990118"/>
            <a:ext cx="4695282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kits include: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F62925-24EA-4D8D-E3D1-D77E65AB6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17" y="737874"/>
            <a:ext cx="1905738" cy="1429304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7828245-DF1D-F6EF-9C33-CFB8FC9968CE}"/>
              </a:ext>
            </a:extLst>
          </p:cNvPr>
          <p:cNvGraphicFramePr>
            <a:graphicFrameLocks noGrp="1"/>
          </p:cNvGraphicFramePr>
          <p:nvPr/>
        </p:nvGraphicFramePr>
        <p:xfrm>
          <a:off x="8503122" y="2025900"/>
          <a:ext cx="3295413" cy="4351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032">
                  <a:extLst>
                    <a:ext uri="{9D8B030D-6E8A-4147-A177-3AD203B41FA5}">
                      <a16:colId xmlns:a16="http://schemas.microsoft.com/office/drawing/2014/main" val="555431672"/>
                    </a:ext>
                  </a:extLst>
                </a:gridCol>
                <a:gridCol w="2554381">
                  <a:extLst>
                    <a:ext uri="{9D8B030D-6E8A-4147-A177-3AD203B41FA5}">
                      <a16:colId xmlns:a16="http://schemas.microsoft.com/office/drawing/2014/main" val="1490664265"/>
                    </a:ext>
                  </a:extLst>
                </a:gridCol>
              </a:tblGrid>
              <a:tr h="17405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E-blocks III development centres include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57397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377629015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One of: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36720144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BL0082 PIC board and panel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96344157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BL3797 Arduino board and panel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374755495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BL0070 ESP32 board and panel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39598117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3870286292"/>
                  </a:ext>
                </a:extLst>
              </a:tr>
              <a:tr h="17405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Downstream boards: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88563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BL0114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Combo board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50644815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BL0127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Actuators panel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80040681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BL0145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Switch x 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24258675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BL0167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LED x 8 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84792508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BL0156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Splitter 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282829496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BL0118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Prototype board with protoblock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58257038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BL0183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Relay board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129402887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915928723"/>
                  </a:ext>
                </a:extLst>
              </a:tr>
              <a:tr h="17405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Sensor boards: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1793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BL0135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E-blocks III 9 axis motion sensor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298774696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BL0144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E-blocks III temperature humidity sensor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95688950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BL0189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Analogue sensor board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95668888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4294715660"/>
                  </a:ext>
                </a:extLst>
              </a:tr>
              <a:tr h="17405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Accessories: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49565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HP2666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power supply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235819899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COM4822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USB 2.0 lead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236392992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BL0172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 dirty="0">
                          <a:effectLst/>
                        </a:rPr>
                        <a:t>Logic analyser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59808739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3AF9C1E7-601B-2F60-86CE-89167F35F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059" y="2374039"/>
            <a:ext cx="6405996" cy="425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07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81B9E4-50F9-F149-17FF-BC82182E5F55}"/>
              </a:ext>
            </a:extLst>
          </p:cNvPr>
          <p:cNvSpPr/>
          <p:nvPr/>
        </p:nvSpPr>
        <p:spPr>
          <a:xfrm>
            <a:off x="334297" y="1245934"/>
            <a:ext cx="5761703" cy="52826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5B5D9-31A0-A2A8-DB51-62A112D9C790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E-blocks platform</a:t>
            </a:r>
          </a:p>
        </p:txBody>
      </p:sp>
      <p:pic>
        <p:nvPicPr>
          <p:cNvPr id="5" name="Picture 4" descr="A black electronic device with a screen&#10;&#10;AI-generated content may be incorrect.">
            <a:extLst>
              <a:ext uri="{FF2B5EF4-FFF2-40B4-BE49-F238E27FC236}">
                <a16:creationId xmlns:a16="http://schemas.microsoft.com/office/drawing/2014/main" id="{498AAD0A-E1AA-C64A-C514-91F1937D9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87" y="1403902"/>
            <a:ext cx="5077031" cy="49308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FC9E0E-E68A-5B7F-7A19-AEB3E79650B4}"/>
              </a:ext>
            </a:extLst>
          </p:cNvPr>
          <p:cNvSpPr txBox="1"/>
          <p:nvPr/>
        </p:nvSpPr>
        <p:spPr>
          <a:xfrm>
            <a:off x="6851560" y="1245934"/>
            <a:ext cx="50643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All kits are supplied with the Upstream board bolted to a rugged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Downstream boards can be easily changed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Kits are supplied with standard tray and accessories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Boards simply plug in and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 Actuators panel needs a separate 5V power supply which is in the equipment tray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One set per student – programming is an individual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1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CA106A-7A4B-5706-0C17-5C964B9B0690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6F9EC-C576-EDC9-8BF4-7A1A227688D1}"/>
              </a:ext>
            </a:extLst>
          </p:cNvPr>
          <p:cNvSpPr txBox="1"/>
          <p:nvPr/>
        </p:nvSpPr>
        <p:spPr>
          <a:xfrm>
            <a:off x="6096000" y="1119645"/>
            <a:ext cx="52586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USB C connection: USB powered (except actuators board) 5V or 3V3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PIC, Arduino Mega and ESP32 variants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Compatible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Ardunio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tool chain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Microchip Integrated Development Environment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Espressif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Up to 6 x 8 bit ports: 48 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Uses 14 way quick snap connectors: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8 bits, power, ground, and management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Integrated 420 x 380 pixel colour touch screen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Integrated Wi-Fi and Bluetooth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IDC connectors for each 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Auto ID for downstream boards – saves configuration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In-Circuit debug for all software platforms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4919BA-EA06-4336-6217-E4DFCC052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60" y="1418253"/>
            <a:ext cx="4566781" cy="40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076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1276A0-ADDD-3D33-6190-ED4AC4B96C63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details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0FC5F9-7ADA-9D36-CAC9-A3D598FC41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6" t="25510" r="10545" b="22342"/>
          <a:stretch>
            <a:fillRect/>
          </a:stretch>
        </p:blipFill>
        <p:spPr bwMode="auto">
          <a:xfrm>
            <a:off x="529706" y="1462645"/>
            <a:ext cx="4415517" cy="187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40732E1-7A1F-899C-6D85-A45AF56AE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9" t="25399" r="11819" b="24558"/>
          <a:stretch>
            <a:fillRect/>
          </a:stretch>
        </p:blipFill>
        <p:spPr bwMode="auto">
          <a:xfrm>
            <a:off x="606490" y="3517643"/>
            <a:ext cx="4338733" cy="1804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110552-0DBC-CDC9-3E24-5D9554032D1B}"/>
              </a:ext>
            </a:extLst>
          </p:cNvPr>
          <p:cNvSpPr txBox="1"/>
          <p:nvPr/>
        </p:nvSpPr>
        <p:spPr>
          <a:xfrm>
            <a:off x="5675903" y="1462645"/>
            <a:ext cx="50643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Switch board: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8 x push to make switches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Series resistor to prevent circuit damage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Puts the pin to +V when pressed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Resistor to 0V – ensures that input is logic 0 when switch not pressed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B2872-0B9D-AB76-D77C-ED33352E01A5}"/>
              </a:ext>
            </a:extLst>
          </p:cNvPr>
          <p:cNvSpPr txBox="1"/>
          <p:nvPr/>
        </p:nvSpPr>
        <p:spPr>
          <a:xfrm>
            <a:off x="5675903" y="3567319"/>
            <a:ext cx="5064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LED board: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8 x LEDs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Series resistor to limit current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45BD1-678F-6664-1073-C15AABDECB1F}"/>
              </a:ext>
            </a:extLst>
          </p:cNvPr>
          <p:cNvSpPr txBox="1"/>
          <p:nvPr/>
        </p:nvSpPr>
        <p:spPr>
          <a:xfrm>
            <a:off x="3143733" y="5498929"/>
            <a:ext cx="5064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These are the simplest circuits. You will use these boards in the first few worksheets.</a:t>
            </a:r>
          </a:p>
        </p:txBody>
      </p:sp>
    </p:spTree>
    <p:extLst>
      <p:ext uri="{BB962C8B-B14F-4D97-AF65-F5344CB8AC3E}">
        <p14:creationId xmlns:p14="http://schemas.microsoft.com/office/powerpoint/2010/main" val="3223393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087C3-F967-8FC7-D39E-33CBF812827F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details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9DEB8A3-64CF-F385-5FAD-43071199C9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6" t="14231" r="8381" b="13426"/>
          <a:stretch>
            <a:fillRect/>
          </a:stretch>
        </p:blipFill>
        <p:spPr bwMode="auto">
          <a:xfrm>
            <a:off x="587828" y="2015412"/>
            <a:ext cx="5340236" cy="303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3DB8E5-5288-04B4-B5E4-F063B65D523C}"/>
              </a:ext>
            </a:extLst>
          </p:cNvPr>
          <p:cNvSpPr txBox="1"/>
          <p:nvPr/>
        </p:nvSpPr>
        <p:spPr>
          <a:xfrm>
            <a:off x="6096000" y="2551837"/>
            <a:ext cx="50643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Combo board: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16 x push to make switches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16 LEDs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Quad 7-segment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LCD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Audio out jack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Potentiometer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Light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63025-9702-FF71-A4AD-B2E6F31A088F}"/>
              </a:ext>
            </a:extLst>
          </p:cNvPr>
          <p:cNvSpPr txBox="1"/>
          <p:nvPr/>
        </p:nvSpPr>
        <p:spPr>
          <a:xfrm>
            <a:off x="3143733" y="5498929"/>
            <a:ext cx="6018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 very flexible board.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circuit and function is controlled by switches – needs more care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Many devices on one pin – so a more complex circuit</a:t>
            </a:r>
          </a:p>
        </p:txBody>
      </p:sp>
    </p:spTree>
    <p:extLst>
      <p:ext uri="{BB962C8B-B14F-4D97-AF65-F5344CB8AC3E}">
        <p14:creationId xmlns:p14="http://schemas.microsoft.com/office/powerpoint/2010/main" val="2963208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3FCBB2-E4B2-FF08-CD32-56E3801BC6EB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datasheet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69232-A358-5297-4E1D-35C00BAB5232}"/>
              </a:ext>
            </a:extLst>
          </p:cNvPr>
          <p:cNvSpPr txBox="1"/>
          <p:nvPr/>
        </p:nvSpPr>
        <p:spPr>
          <a:xfrm>
            <a:off x="702906" y="2481571"/>
            <a:ext cx="44289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All the circuits for all the boards can be found in the E-blocks 3 datasheet which you can find here: 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  <a:hlinkClick r:id="rId2"/>
              </a:rPr>
              <a:t>https://www.matrixtsl.com/eblocks/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B0683C-4247-9A22-E9C9-E79E4839E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482" y="1110342"/>
            <a:ext cx="3559334" cy="5010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B4A2DA-DE1B-31EC-FEC7-4F9F887C305D}"/>
              </a:ext>
            </a:extLst>
          </p:cNvPr>
          <p:cNvSpPr txBox="1"/>
          <p:nvPr/>
        </p:nvSpPr>
        <p:spPr>
          <a:xfrm>
            <a:off x="10248690" y="1707502"/>
            <a:ext cx="70912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5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58704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937B98-CC26-457A-56E4-A9E45101D7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274" y="1362566"/>
            <a:ext cx="2562225" cy="1969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AE8A68-01AE-8FEB-F6BB-C16A21668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239" y="3145110"/>
            <a:ext cx="2378475" cy="2511283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66E861-C686-EED3-A00C-E3E4F4A5A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714" y="4400752"/>
            <a:ext cx="2378475" cy="2427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B932A2-1BC8-8B3D-EC47-0A730645B9BE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Auto ID feature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7B886-EFC6-684D-B249-E066B93230A6}"/>
              </a:ext>
            </a:extLst>
          </p:cNvPr>
          <p:cNvSpPr txBox="1"/>
          <p:nvPr/>
        </p:nvSpPr>
        <p:spPr>
          <a:xfrm>
            <a:off x="710811" y="4099232"/>
            <a:ext cx="50643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Every E-blocks downstream board has a small microcontroller on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When you load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the software interrogates the hardware to find out what is connected and it sets the software up for you.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269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590CEF-236F-D84C-5072-9E66075153BE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Engineering sensor add-ons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ED752A-8F4F-7420-AD5B-C790555D8F60}"/>
              </a:ext>
            </a:extLst>
          </p:cNvPr>
          <p:cNvSpPr txBox="1"/>
          <p:nvPr/>
        </p:nvSpPr>
        <p:spPr>
          <a:xfrm>
            <a:off x="301274" y="1754077"/>
            <a:ext cx="65838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More complex projects need additional sensors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Type K thermocouple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Pressure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Compressive strain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Tensile strain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All these engineering sensor boards have worked examples embedded within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 Power board – 40V, 10A allows you to power any actuators that you might want to go in your kit – heaters, motors, pumps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101545-08E9-B685-7283-37396725E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801" y="1071716"/>
            <a:ext cx="3730327" cy="446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23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CA58E9-629F-A480-644C-676CC35B92ED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Logic analyser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A9C49-D91B-EE2F-6B6C-FFA7FCC12C87}"/>
              </a:ext>
            </a:extLst>
          </p:cNvPr>
          <p:cNvSpPr txBox="1"/>
          <p:nvPr/>
        </p:nvSpPr>
        <p:spPr>
          <a:xfrm>
            <a:off x="8285584" y="1510757"/>
            <a:ext cx="3545631" cy="3661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 channel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Signal decoding – I2C, SPI, etc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Connects to E-blocks port IDC connector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PulseView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software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great alternative way of looking at time-varying signals in microcontroller systems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CF40A2-4573-FDE7-A4BE-DC61CC8AD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2" y="1212178"/>
            <a:ext cx="8050580" cy="45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04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78BE7B-1CD2-71C4-11E1-1A96A420D5A6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Assessment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9B141-42A0-4950-2D5E-E0F402A9AF0E}"/>
              </a:ext>
            </a:extLst>
          </p:cNvPr>
          <p:cNvSpPr txBox="1"/>
          <p:nvPr/>
        </p:nvSpPr>
        <p:spPr>
          <a:xfrm>
            <a:off x="529338" y="1586127"/>
            <a:ext cx="65838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There are 3 Assessments: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Assessment : Potentiometer control: classroom based assessment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Assessment 2: Digital level: classroom and homework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Assessment 3: Touch screen control lighting system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At the end of the module there is also a project which will be assessed.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6" name="intro to microcontrollers.png">
            <a:extLst>
              <a:ext uri="{FF2B5EF4-FFF2-40B4-BE49-F238E27FC236}">
                <a16:creationId xmlns:a16="http://schemas.microsoft.com/office/drawing/2014/main" id="{13E776C9-8897-CB99-D312-E2B3ECC43487}"/>
              </a:ext>
            </a:extLst>
          </p:cNvPr>
          <p:cNvPicPr>
            <a:picLocks noChangeAspect="1"/>
          </p:cNvPicPr>
          <p:nvPr/>
        </p:nvPicPr>
        <p:blipFill>
          <a:blip r:link="rId2"/>
          <a:stretch>
            <a:fillRect/>
          </a:stretch>
        </p:blipFill>
        <p:spPr>
          <a:xfrm>
            <a:off x="8370755" y="1489833"/>
            <a:ext cx="2738502" cy="38783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1820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66795-0552-E04E-165E-C609E5C06AD6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Grading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40232-32C7-790A-A4D7-5A05B98B7529}"/>
              </a:ext>
            </a:extLst>
          </p:cNvPr>
          <p:cNvSpPr txBox="1"/>
          <p:nvPr/>
        </p:nvSpPr>
        <p:spPr>
          <a:xfrm>
            <a:off x="529338" y="1586127"/>
            <a:ext cx="658381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Bronze (Functional &amp; Basic):</a:t>
            </a:r>
            <a:r>
              <a:rPr lang="en-US" dirty="0"/>
              <a:t> The project works but may be brittle, poorly documented, or lack error handling. It meets minimum requirements.</a:t>
            </a:r>
          </a:p>
          <a:p>
            <a:endParaRPr lang="en-US" dirty="0"/>
          </a:p>
          <a:p>
            <a:r>
              <a:rPr lang="en-US" b="1" dirty="0"/>
              <a:t>Silver (Robust &amp; Structured):</a:t>
            </a:r>
            <a:r>
              <a:rPr lang="en-US" dirty="0"/>
              <a:t> The code is clean, well-structured, follows standards, and includes documentation/tests. It is "developer-ready".</a:t>
            </a:r>
          </a:p>
          <a:p>
            <a:endParaRPr lang="en-US" dirty="0"/>
          </a:p>
          <a:p>
            <a:r>
              <a:rPr lang="en-US" b="1" dirty="0"/>
              <a:t>Gold (Polished &amp; Production-Ready):</a:t>
            </a:r>
            <a:r>
              <a:rPr lang="en-US" dirty="0"/>
              <a:t> The project is optimized, highly scalable, and user-ready. It includes comprehensive testing, documentation, and handles edge cases gracefully. It exceeds the design brief and shows real design flair.</a:t>
            </a:r>
          </a:p>
          <a:p>
            <a:endParaRPr lang="en-US" dirty="0"/>
          </a:p>
          <a:p>
            <a:r>
              <a:rPr lang="en-US" dirty="0"/>
              <a:t>For the final project the level of difficulty of the project will also be taken into account.</a:t>
            </a:r>
          </a:p>
          <a:p>
            <a:endParaRPr lang="en-GB" sz="18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950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5944CC-4580-AA0B-6751-AF1B6877F084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Demonstration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BD8865-3D4E-5DB7-0AD1-02C581B60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40" y="1969692"/>
            <a:ext cx="5852160" cy="3291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A2FF9A-0855-DF23-915B-8B57471E1422}"/>
              </a:ext>
            </a:extLst>
          </p:cNvPr>
          <p:cNvSpPr txBox="1"/>
          <p:nvPr/>
        </p:nvSpPr>
        <p:spPr>
          <a:xfrm>
            <a:off x="7803794" y="2089980"/>
            <a:ext cx="411210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Next we will demonstrate the hardware and the software working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There is a video of this on the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YouTube site.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591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1554</Words>
  <Application>Microsoft Office PowerPoint</Application>
  <PresentationFormat>Widescreen</PresentationFormat>
  <Paragraphs>306</Paragraphs>
  <Slides>30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Aptos</vt:lpstr>
      <vt:lpstr>Aptos Narrow</vt:lpstr>
      <vt:lpstr>Arial</vt:lpstr>
      <vt:lpstr>Calibri</vt:lpstr>
      <vt:lpstr>Calibri Light</vt:lpstr>
      <vt:lpstr>Segoe UI</vt:lpstr>
      <vt:lpstr>Symbol</vt:lpstr>
      <vt:lpstr>Office Theme</vt:lpstr>
      <vt:lpstr>file:///C:\Users\JohnD\OneDrive%20-%20MATRIX%20TECHNOLOGY%20SOLUTIONS\Documents\Matrix\Dev\E-blocks%203\products%20and%20prices%2013%2011%2025.xlsx!Products!R3C2:R47C4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Alyce Holt</dc:creator>
  <cp:lastModifiedBy>John Dobson</cp:lastModifiedBy>
  <cp:revision>170</cp:revision>
  <cp:lastPrinted>2024-07-24T17:03:27Z</cp:lastPrinted>
  <dcterms:created xsi:type="dcterms:W3CDTF">2023-10-05T11:55:27Z</dcterms:created>
  <dcterms:modified xsi:type="dcterms:W3CDTF">2026-02-24T11:00:18Z</dcterms:modified>
</cp:coreProperties>
</file>